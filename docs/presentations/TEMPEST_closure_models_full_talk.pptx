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b582d651af41bb" /><Relationship Type="http://schemas.openxmlformats.org/officeDocument/2006/relationships/extended-properties" Target="/docProps/app.xml" Id="R3e96d2d41fc34933" /><Relationship Type="http://schemas.openxmlformats.org/officeDocument/2006/relationships/officeDocument" Target="/ppt/presentation.xml" Id="R24acb2aa88cc4c0d" /></Relationships>
</file>

<file path=ppt/presentation.xml><?xml version="1.0" encoding="utf-8"?>
<p:presentation xmlns:p="http://schemas.openxmlformats.org/presentationml/2006/main">
  <p:sldMasterIdLst>
    <p:sldMasterId xmlns:r="http://schemas.openxmlformats.org/officeDocument/2006/relationships" id="2147483648" r:id="Rccaa7f896a6541e2"/>
  </p:sldMasterIdLst>
  <p:notesMasterIdLst>
    <p:notesMasterId xmlns:r="http://schemas.openxmlformats.org/officeDocument/2006/relationships" r:id="R64bab26411ef4495"/>
  </p:notesMasterIdLst>
  <p:sldIdLst>
    <p:sldId xmlns:r="http://schemas.openxmlformats.org/officeDocument/2006/relationships" id="256" r:id="R462a76e52cf84403"/>
    <p:sldId xmlns:r="http://schemas.openxmlformats.org/officeDocument/2006/relationships" id="257" r:id="Ra30743daa24041ce"/>
    <p:sldId xmlns:r="http://schemas.openxmlformats.org/officeDocument/2006/relationships" id="258" r:id="R817cac9208ab417a"/>
    <p:sldId xmlns:r="http://schemas.openxmlformats.org/officeDocument/2006/relationships" id="259" r:id="R51f7da697f64456b"/>
    <p:sldId xmlns:r="http://schemas.openxmlformats.org/officeDocument/2006/relationships" id="260" r:id="R56a8f940ab8e4b18"/>
    <p:sldId xmlns:r="http://schemas.openxmlformats.org/officeDocument/2006/relationships" id="261" r:id="R37bdb8a5a121488a"/>
    <p:sldId xmlns:r="http://schemas.openxmlformats.org/officeDocument/2006/relationships" id="262" r:id="Rc38b1e38460f40b1"/>
    <p:sldId xmlns:r="http://schemas.openxmlformats.org/officeDocument/2006/relationships" id="263" r:id="Ra71a5ee396814e5d"/>
    <p:sldId xmlns:r="http://schemas.openxmlformats.org/officeDocument/2006/relationships" id="264" r:id="R6170f7d37713499a"/>
    <p:sldId xmlns:r="http://schemas.openxmlformats.org/officeDocument/2006/relationships" id="265" r:id="R89a986f233ee4879"/>
    <p:sldId xmlns:r="http://schemas.openxmlformats.org/officeDocument/2006/relationships" id="266" r:id="R88a48cbdbd314e29"/>
    <p:sldId xmlns:r="http://schemas.openxmlformats.org/officeDocument/2006/relationships" id="267" r:id="R6050dcac3ca94bb0"/>
    <p:sldId xmlns:r="http://schemas.openxmlformats.org/officeDocument/2006/relationships" id="268" r:id="Rc1328fe79a7e4377"/>
    <p:sldId xmlns:r="http://schemas.openxmlformats.org/officeDocument/2006/relationships" id="269" r:id="R35d09884d7404582"/>
    <p:sldId xmlns:r="http://schemas.openxmlformats.org/officeDocument/2006/relationships" id="270" r:id="R8b134d0c2ea745a8"/>
    <p:sldId xmlns:r="http://schemas.openxmlformats.org/officeDocument/2006/relationships" id="271" r:id="R48e2cdb4f3684b42"/>
    <p:sldId xmlns:r="http://schemas.openxmlformats.org/officeDocument/2006/relationships" id="272" r:id="Ra02b8e7e828446b9"/>
    <p:sldId xmlns:r="http://schemas.openxmlformats.org/officeDocument/2006/relationships" id="273" r:id="R7b0b3b983f08460e"/>
    <p:sldId xmlns:r="http://schemas.openxmlformats.org/officeDocument/2006/relationships" id="274" r:id="Rde397f3240494dcd"/>
    <p:sldId xmlns:r="http://schemas.openxmlformats.org/officeDocument/2006/relationships" id="275" r:id="R795a9898709c4b7b"/>
    <p:sldId xmlns:r="http://schemas.openxmlformats.org/officeDocument/2006/relationships" id="276" r:id="R3a1daafc75d546c0"/>
    <p:sldId xmlns:r="http://schemas.openxmlformats.org/officeDocument/2006/relationships" id="277" r:id="R3de0ee46e4304e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f274e6663c4127" /><Relationship Type="http://schemas.openxmlformats.org/officeDocument/2006/relationships/slideMaster" Target="/ppt/slideMasters/slideMaster1.xml" Id="Rccaa7f896a6541e2" /><Relationship Type="http://schemas.openxmlformats.org/officeDocument/2006/relationships/notesMaster" Target="/ppt/notesMasters/notesMaster1.xml" Id="R64bab26411ef4495" /><Relationship Type="http://schemas.openxmlformats.org/officeDocument/2006/relationships/presProps" Target="/ppt/presProps.xml" Id="Rc27e02d16ad64c07" /><Relationship Type="http://schemas.openxmlformats.org/officeDocument/2006/relationships/tableStyles" Target="/ppt/tableStyles.xml" Id="Rbdabc43168e24892" /><Relationship Type="http://schemas.openxmlformats.org/officeDocument/2006/relationships/slide" Target="/ppt/slides/slide1.xml" Id="R462a76e52cf84403" /><Relationship Type="http://schemas.openxmlformats.org/officeDocument/2006/relationships/slide" Target="/ppt/slides/slide2.xml" Id="Ra30743daa24041ce" /><Relationship Type="http://schemas.openxmlformats.org/officeDocument/2006/relationships/slide" Target="/ppt/slides/slide3.xml" Id="R817cac9208ab417a" /><Relationship Type="http://schemas.openxmlformats.org/officeDocument/2006/relationships/slide" Target="/ppt/slides/slide4.xml" Id="R51f7da697f64456b" /><Relationship Type="http://schemas.openxmlformats.org/officeDocument/2006/relationships/slide" Target="/ppt/slides/slide5.xml" Id="R56a8f940ab8e4b18" /><Relationship Type="http://schemas.openxmlformats.org/officeDocument/2006/relationships/slide" Target="/ppt/slides/slide6.xml" Id="R37bdb8a5a121488a" /><Relationship Type="http://schemas.openxmlformats.org/officeDocument/2006/relationships/slide" Target="/ppt/slides/slide7.xml" Id="Rc38b1e38460f40b1" /><Relationship Type="http://schemas.openxmlformats.org/officeDocument/2006/relationships/slide" Target="/ppt/slides/slide8.xml" Id="Ra71a5ee396814e5d" /><Relationship Type="http://schemas.openxmlformats.org/officeDocument/2006/relationships/slide" Target="/ppt/slides/slide9.xml" Id="R6170f7d37713499a" /><Relationship Type="http://schemas.openxmlformats.org/officeDocument/2006/relationships/slide" Target="/ppt/slides/slide10.xml" Id="R89a986f233ee4879" /><Relationship Type="http://schemas.openxmlformats.org/officeDocument/2006/relationships/slide" Target="/ppt/slides/slide11.xml" Id="R88a48cbdbd314e29" /><Relationship Type="http://schemas.openxmlformats.org/officeDocument/2006/relationships/slide" Target="/ppt/slides/slide12.xml" Id="R6050dcac3ca94bb0" /><Relationship Type="http://schemas.openxmlformats.org/officeDocument/2006/relationships/slide" Target="/ppt/slides/slide13.xml" Id="Rc1328fe79a7e4377" /><Relationship Type="http://schemas.openxmlformats.org/officeDocument/2006/relationships/slide" Target="/ppt/slides/slide14.xml" Id="R35d09884d7404582" /><Relationship Type="http://schemas.openxmlformats.org/officeDocument/2006/relationships/slide" Target="/ppt/slides/slide15.xml" Id="R8b134d0c2ea745a8" /><Relationship Type="http://schemas.openxmlformats.org/officeDocument/2006/relationships/slide" Target="/ppt/slides/slide16.xml" Id="R48e2cdb4f3684b42" /><Relationship Type="http://schemas.openxmlformats.org/officeDocument/2006/relationships/slide" Target="/ppt/slides/slide17.xml" Id="Ra02b8e7e828446b9" /><Relationship Type="http://schemas.openxmlformats.org/officeDocument/2006/relationships/slide" Target="/ppt/slides/slide18.xml" Id="R7b0b3b983f08460e" /><Relationship Type="http://schemas.openxmlformats.org/officeDocument/2006/relationships/slide" Target="/ppt/slides/slide19.xml" Id="Rde397f3240494dcd" /><Relationship Type="http://schemas.openxmlformats.org/officeDocument/2006/relationships/slide" Target="/ppt/slides/slide20.xml" Id="R795a9898709c4b7b" /><Relationship Type="http://schemas.openxmlformats.org/officeDocument/2006/relationships/slide" Target="/ppt/slides/slide21.xml" Id="R3a1daafc75d546c0" /><Relationship Type="http://schemas.openxmlformats.org/officeDocument/2006/relationships/slide" Target="/ppt/slides/slide22.xml" Id="R3de0ee46e4304e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c1288724ca4c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1754f49df24224" /><Relationship Type="http://schemas.openxmlformats.org/officeDocument/2006/relationships/notesMaster" Target="/ppt/notesMasters/notesMaster1.xml" Id="R1deede75d31745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326b5a3a004412" /><Relationship Type="http://schemas.openxmlformats.org/officeDocument/2006/relationships/notesMaster" Target="/ppt/notesMasters/notesMaster1.xml" Id="R90333cc6c09640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7cf7d51fef49b7" /><Relationship Type="http://schemas.openxmlformats.org/officeDocument/2006/relationships/notesMaster" Target="/ppt/notesMasters/notesMaster1.xml" Id="R006b7c4355d147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61cd7a242c470c" /><Relationship Type="http://schemas.openxmlformats.org/officeDocument/2006/relationships/notesMaster" Target="/ppt/notesMasters/notesMaster1.xml" Id="R24d21c69645644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ec43cdb44542d9" /><Relationship Type="http://schemas.openxmlformats.org/officeDocument/2006/relationships/notesMaster" Target="/ppt/notesMasters/notesMaster1.xml" Id="R994cd4d4f5794f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f854c0f50747ca" /><Relationship Type="http://schemas.openxmlformats.org/officeDocument/2006/relationships/notesMaster" Target="/ppt/notesMasters/notesMaster1.xml" Id="R47b0f1f178624a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0f5501f8604afa" /><Relationship Type="http://schemas.openxmlformats.org/officeDocument/2006/relationships/notesMaster" Target="/ppt/notesMasters/notesMaster1.xml" Id="Ra96bcbf5991c4e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64a281035b48bc" /><Relationship Type="http://schemas.openxmlformats.org/officeDocument/2006/relationships/notesMaster" Target="/ppt/notesMasters/notesMaster1.xml" Id="Raa99aea66b9046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0b15c9f7cf46c0" /><Relationship Type="http://schemas.openxmlformats.org/officeDocument/2006/relationships/notesMaster" Target="/ppt/notesMasters/notesMaster1.xml" Id="R16c0b786907248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148ecf0e43465b" /><Relationship Type="http://schemas.openxmlformats.org/officeDocument/2006/relationships/notesMaster" Target="/ppt/notesMasters/notesMaster1.xml" Id="R190d1c1b992341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8f26b0a58747a5" /><Relationship Type="http://schemas.openxmlformats.org/officeDocument/2006/relationships/notesMaster" Target="/ppt/notesMasters/notesMaster1.xml" Id="Red4e923910374c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bb946139b241ab" /><Relationship Type="http://schemas.openxmlformats.org/officeDocument/2006/relationships/notesMaster" Target="/ppt/notesMasters/notesMaster1.xml" Id="Rf116feb5458845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bebc75df79489d" /><Relationship Type="http://schemas.openxmlformats.org/officeDocument/2006/relationships/notesMaster" Target="/ppt/notesMasters/notesMaster1.xml" Id="R10146c27efd643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61c226e9704911" /><Relationship Type="http://schemas.openxmlformats.org/officeDocument/2006/relationships/notesMaster" Target="/ppt/notesMasters/notesMaster1.xml" Id="R187871cf2c5d49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c2374e911540da" /><Relationship Type="http://schemas.openxmlformats.org/officeDocument/2006/relationships/notesMaster" Target="/ppt/notesMasters/notesMaster1.xml" Id="Rfa1305bb188e40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2e1a41a9284bb1" /><Relationship Type="http://schemas.openxmlformats.org/officeDocument/2006/relationships/notesMaster" Target="/ppt/notesMasters/notesMaster1.xml" Id="R274394dbaa5d4ac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77452b36734aa7" /><Relationship Type="http://schemas.openxmlformats.org/officeDocument/2006/relationships/notesMaster" Target="/ppt/notesMasters/notesMaster1.xml" Id="R194a82afdec7421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ca82f7a80245ae" /><Relationship Type="http://schemas.openxmlformats.org/officeDocument/2006/relationships/notesMaster" Target="/ppt/notesMasters/notesMaster1.xml" Id="R738f883054b3487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b7ee3b744b478f" /><Relationship Type="http://schemas.openxmlformats.org/officeDocument/2006/relationships/notesMaster" Target="/ppt/notesMasters/notesMaster1.xml" Id="R0e59f7beabe342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74250544eb94e2d" /><Relationship Type="http://schemas.openxmlformats.org/officeDocument/2006/relationships/notesMaster" Target="/ppt/notesMasters/notesMaster1.xml" Id="R170ddeda6e924e6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814b0c580c4a88" /><Relationship Type="http://schemas.openxmlformats.org/officeDocument/2006/relationships/notesMaster" Target="/ppt/notesMasters/notesMaster1.xml" Id="R4ad85b4c4cb843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e2dfaffb5342a8" /><Relationship Type="http://schemas.openxmlformats.org/officeDocument/2006/relationships/notesMaster" Target="/ppt/notesMasters/notesMaster1.xml" Id="Ra3beb820ec354b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research question, not the model list. The central claim is that closure gives TEMPEST a common mathematical language for comparing analytic, learned, and hybrid reduced models. Pacing: about 1 minute.</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bake-off/docs/PROJECT_BRIEF.md</a:t>
            </a:r>
          </a:p>
          <a:p xmlns:a="http://schemas.openxmlformats.org/drawingml/2006/main">
            <a:r>
              <a:t>- /Users/ag245/Library/CloudStorage/GoogleDrive-annacgilbert@gmail.com/My Drive/Research/TEMPEST model bake-off/docs/experimental_pipeline.md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diagram to establish the vocabulary. Projection gives resolved equations, but discarded correlations, fields, moments, and history still influence those equations. A closure supplies that missing influence. Emphasize that the reduction can be exact while the closure is approximate.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bake-off/assets/website/closure-model-diagram.png</a:t>
            </a:r>
          </a:p>
          <a:p xmlns:a="http://schemas.openxmlformats.org/drawingml/2006/main">
            <a:r>
              <a:t>- /Users/ag245/Library/CloudStorage/GoogleDrive-annacgilbert@gmail.com/My Drive/Research/TEMPEST model bake-off/references/closure_pinns_operators_world_models.tex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taxonomy prevents category errors. PINNs and neural operators are not automatically closure models; a network becomes a learned closure when its target is an identified unresolved term or augmented state. World models need genuine sequential actions, not merely parameters.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bake-off/references/closure_pinns_operators_world_models.tex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redesign moves from architecture ranking to information sufficiency. Two methods are directly comparable only if they approximate the same object under a declared information budget. Cross-family conclusions come from separate scorecards, not one scalar. Pacing: about 1.5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bake-off/docs/benchmark_specification.md</a:t>
            </a:r>
          </a:p>
          <a:p xmlns:a="http://schemas.openxmlformats.org/drawingml/2006/main">
            <a:r>
              <a:t>- /Users/ag245/Library/CloudStorage/GoogleDrive-annacgilbert@gmail.com/My Drive/Research/TEMPEST model bake-off/docs/information_budgets.md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Layer A asks whether the numerical workflow reproduces known scale-limit mechanisms. Layer B adapts the same evaluative harness to two TEMPEST applications: the dusty-plasma closure ladder and supernova 3D-to-1D turbulence. The canonical systems validate the diagnostic logic; they are not intended to resemble either application in every physical detail.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bake-off/docs/PROJECT_BRIEF.md</a:t>
            </a:r>
          </a:p>
          <a:p xmlns:a="http://schemas.openxmlformats.org/drawingml/2006/main">
            <a:r>
              <a:t>- /Users/ag245/Library/CloudStorage/GoogleDrive-annacgilbert@gmail.com/My Drive/Research/TEMPEST model bake-off/docs/mathematical_closure_program.md</a:t>
            </a:r>
          </a:p>
          <a:p xmlns:a="http://schemas.openxmlformats.org/drawingml/2006/main">
            <a:r>
              <a:t>- /Users/ag245/Library/CloudStorage/GoogleDrive-annacgilbert@gmail.com/My Drive/Research/TEMPEST model bake-off/docs/supernova_application_profile.md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three Hani-inspired tracks as stress tests for closure diagnostics. The hard-particle and wave papers organize long-time control through cumulants and interaction histories; the hydrodynamic paper completes the chain toward fluid equations. The numerical program tests convergence, breakdown, and measurable remainders. Pacing: about 2.5 minutes.</a:t>
            </a:r>
          </a:p>
          <a:p xmlns:a="http://schemas.openxmlformats.org/drawingml/2006/main">
            <a:r>
              <a:t/>
            </a:r>
          </a:p>
          <a:p xmlns:a="http://schemas.openxmlformats.org/drawingml/2006/main">
            <a:r>
              <a:t>[Sources]</a:t>
            </a:r>
          </a:p>
          <a:p xmlns:a="http://schemas.openxmlformats.org/drawingml/2006/main">
            <a:r>
              <a:t>- https://arxiv.org/abs/2408.07818</a:t>
            </a:r>
          </a:p>
          <a:p xmlns:a="http://schemas.openxmlformats.org/drawingml/2006/main">
            <a:r>
              <a:t>- https://arxiv.org/abs/2503.01800</a:t>
            </a:r>
          </a:p>
          <a:p xmlns:a="http://schemas.openxmlformats.org/drawingml/2006/main">
            <a:r>
              <a:t>- https://arxiv.org/abs/2311.10082</a:t>
            </a:r>
          </a:p>
          <a:p xmlns:a="http://schemas.openxmlformats.org/drawingml/2006/main">
            <a:r>
              <a:t>- /Users/ag245/Library/CloudStorage/GoogleDrive-annacgilbert@gmail.com/My Drive/Research/TEMPEST model bake-off/docs/mathematical_closure_program.md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is essential. Hani's regimes are neither dusty-plasma nor supernova regimes. Their value is that the hierarchy, scaling, and expected limits are explicit, allowing us to validate estimators and failure diagnostics before moving into noncanonical plasma and stellar-turbulence physics.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bake-off/docs/mathematical_closure_program.md</a:t>
            </a:r>
          </a:p>
          <a:p xmlns:a="http://schemas.openxmlformats.org/drawingml/2006/main">
            <a:r>
              <a:t>- /Users/ag245/Library/CloudStorage/GoogleDrive-annacgilbert@gmail.com/My Drive/Research/TEMPEST model bake-off/docs/benchmark_options_memo.md</a:t>
            </a:r>
          </a:p>
          <a:p xmlns:a="http://schemas.openxmlformats.org/drawingml/2006/main">
            <a:r>
              <a:t>- /Users/ag245/Library/CloudStorage/GoogleDrive-annacgilbert@gmail.com/My Drive/Research/TEMPEST model bake-off/references/TEMPEST_proposal.pdf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mathematical contract behind every experiment. The classical operator remains explicit; the learned model supplies only an identified correction unless the run is labeled as a black-box control. This makes classical-limit recovery testable.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bake-off/docs/experimental_pipeline.md</a:t>
            </a:r>
          </a:p>
          <a:p xmlns:a="http://schemas.openxmlformats.org/drawingml/2006/main">
            <a:r>
              <a:t>- /Users/ag245/Library/CloudStorage/GoogleDrive-annacgilbert@gmail.com/My Drive/Research/TEMPEST model bake-off/docs/benchmark_specification.md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numerical translation does not reproduce every proof diagram. It first measures projected cumulants and finite interaction-history summaries, then asks whether they predict closure failure, compress to practical dimension, and saturate at finite memory. Negative answers are scientifically meaningful stop criteria. Pacing: about 2.5 minutes.</a:t>
            </a:r>
          </a:p>
          <a:p xmlns:a="http://schemas.openxmlformats.org/drawingml/2006/main">
            <a:r>
              <a:t/>
            </a:r>
          </a:p>
          <a:p xmlns:a="http://schemas.openxmlformats.org/drawingml/2006/main">
            <a:r>
              <a:t>[Sources]</a:t>
            </a:r>
          </a:p>
          <a:p xmlns:a="http://schemas.openxmlformats.org/drawingml/2006/main">
            <a:r>
              <a:t>- https://arxiv.org/abs/2408.07818</a:t>
            </a:r>
          </a:p>
          <a:p xmlns:a="http://schemas.openxmlformats.org/drawingml/2006/main">
            <a:r>
              <a:t>- https://arxiv.org/abs/2311.10082</a:t>
            </a:r>
          </a:p>
          <a:p xmlns:a="http://schemas.openxmlformats.org/drawingml/2006/main">
            <a:r>
              <a:t>- /Users/ag245/Library/CloudStorage/GoogleDrive-annacgilbert@gmail.com/My Drive/Research/TEMPEST model bake-off/docs/mathematical_closure_program.md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resolves the language issue. Learning a pair law is not automatically a kinetic closure if every particle is retained. In dusty plasma, however, an effective particle force can already be a closure for eliminated ions, electrons, wakes, and fields. Further reduction creates correlation and moment closures.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bake-off/references/classical_many_body_ml.tex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papers make interaction inference mathematically auditable; the third moves into laboratory dusty plasma and uses physics-tailored decomposition with independent validation. This combination is exactly what the bake-off needs at its particle-level entry point. Pacing: about 2.5 minutes.</a:t>
            </a:r>
          </a:p>
          <a:p xmlns:a="http://schemas.openxmlformats.org/drawingml/2006/main">
            <a:r>
              <a:t/>
            </a:r>
          </a:p>
          <a:p xmlns:a="http://schemas.openxmlformats.org/drawingml/2006/main">
            <a:r>
              <a:t>[Sources]</a:t>
            </a:r>
          </a:p>
          <a:p xmlns:a="http://schemas.openxmlformats.org/drawingml/2006/main">
            <a:r>
              <a:t>- https://doi.org/10.1007/s10208-021-09521-z</a:t>
            </a:r>
          </a:p>
          <a:p xmlns:a="http://schemas.openxmlformats.org/drawingml/2006/main">
            <a:r>
              <a:t>- https://proceedings.mlr.press/v139/maggioni21a.html</a:t>
            </a:r>
          </a:p>
          <a:p xmlns:a="http://schemas.openxmlformats.org/drawingml/2006/main">
            <a:r>
              <a:t>- https://doi.org/10.1073/pnas.2505725122</a:t>
            </a:r>
          </a:p>
          <a:p xmlns:a="http://schemas.openxmlformats.org/drawingml/2006/main">
            <a:r>
              <a:t>- /Users/ag245/Library/CloudStorage/GoogleDrive-annacgilbert@gmail.com/My Drive/Research/TEMPEST model bake-off/references/classical_many_body_ml.tex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benchmark design, not a claim that one wake model is universally correct. The key control is the ratio of wake or field relaxation time to particle time, supplemented by density, screening, heterogeneity, and forcing history. These coordinates create regimes where pairwise, contextual, memory, and collective models can be distinguished.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bake-off/docs/experimental_pipeline.md</a:t>
            </a:r>
          </a:p>
          <a:p xmlns:a="http://schemas.openxmlformats.org/drawingml/2006/main">
            <a:r>
              <a:t>- https://doi.org/10.1073/pnas.2505725122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decisive nested comparison. Each rung receives one additional kind of information. The goal is not merely lower error; it is to locate the boundary where pairwise state, many-particle context, or explicit memory first becomes necessary, and to test whether cumulants or history complexity anticipate that boundary.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bake-off/docs/experimental_pipeline.md</a:t>
            </a:r>
          </a:p>
          <a:p xmlns:a="http://schemas.openxmlformats.org/drawingml/2006/main">
            <a:r>
              <a:t>- /Users/ag245/Library/CloudStorage/GoogleDrive-annacgilbert@gmail.com/My Drive/Research/TEMPEST model bake-off/docs/benchmark_specification.md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stages are linked by data and logic, not by an assumption that the same coefficients transfer. Stage 1 produces verified particle ensembles; Stages 2 and 3 reduce them; Stage 4 asks whether validated diagnostics and design rules help in a distinct TEMPEST application.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bake-off/docs/experimental_pipeline.md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Force error alone is insufficient because multiple decompositions can fit observed trajectories. The benchmark therefore includes excitation or coercivity diagnostics, independent physical quantities, nonreciprocity tests, and rollout stability. This follows the strongest features of the three many-body anchor papers. Pacing: about 2 minutes.</a:t>
            </a:r>
          </a:p>
          <a:p xmlns:a="http://schemas.openxmlformats.org/drawingml/2006/main">
            <a:r>
              <a:t/>
            </a:r>
          </a:p>
          <a:p xmlns:a="http://schemas.openxmlformats.org/drawingml/2006/main">
            <a:r>
              <a:t>[Sources]</a:t>
            </a:r>
          </a:p>
          <a:p xmlns:a="http://schemas.openxmlformats.org/drawingml/2006/main">
            <a:r>
              <a:t>- https://doi.org/10.1007/s10208-021-09521-z</a:t>
            </a:r>
          </a:p>
          <a:p xmlns:a="http://schemas.openxmlformats.org/drawingml/2006/main">
            <a:r>
              <a:t>- https://proceedings.mlr.press/v139/maggioni21a.html</a:t>
            </a:r>
          </a:p>
          <a:p xmlns:a="http://schemas.openxmlformats.org/drawingml/2006/main">
            <a:r>
              <a:t>- https://doi.org/10.1073/pnas.2505725122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verified particle data can answer two new closure questions after projection. This gives the many-body program a multiscale purpose: it is not an isolated simulator competition. Each stage receives its own retained state, discarded information, target, and embedded validation.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bake-off/docs/experimental_pipeline.md</a:t>
            </a:r>
          </a:p>
          <a:p xmlns:a="http://schemas.openxmlformats.org/drawingml/2006/main">
            <a:r>
              <a:t>- /Users/ag245/Library/CloudStorage/GoogleDrive-annacgilbert@gmail.com/My Drive/Research/TEMPEST model bake-off/docs/information_budgets.md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identifies a second flagship line of sight: quantify under-resolved turbulence and shock-turbulence interaction in multi-dimensional core-collapse supernova calculations, then augment a scientifically accepted 1D supernova carrier with a volume-averaged 3D turbulence surrogate. The numerical target is the projected closure defect C*SN = ΠΩF3D(X) − F1D(ΠΩX), including Reynolds stress or turbulent pressure, turbulent energy, transport fluxes, production and dissipation, and optional finite memory. The embedded gate tests conservation, realizability, shock-capturing stability, and application observables such as shock-radius history and shock revival. Pacing: about 2.5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bake-off/references/TEMPEST_proposal.pdf</a:t>
            </a:r>
          </a:p>
          <a:p xmlns:a="http://schemas.openxmlformats.org/drawingml/2006/main">
            <a:r>
              <a:t>- /Users/ag245/Library/CloudStorage/GoogleDrive-annacgilbert@gmail.com/My Drive/Research/TEMPEST model bake-off/docs/supernova_application_profile.md</a:t>
            </a:r>
          </a:p>
          <a:p xmlns:a="http://schemas.openxmlformats.org/drawingml/2006/main">
            <a:r>
              <a:t>- /Users/ag245/Library/CloudStorage/GoogleDrive-annacgilbert@gmail.com/My Drive/Research/TEMPEST model bake-off/docs/benchmark_options_memo.md</a:t>
            </a:r>
          </a:p>
          <a:p xmlns:a="http://schemas.openxmlformats.org/drawingml/2006/main">
            <a:r>
              <a:t>- https://arxiv.org/abs/1902.01340</a:t>
            </a:r>
          </a:p>
          <a:p xmlns:a="http://schemas.openxmlformats.org/drawingml/2006/main">
            <a:r>
              <a:t>- https://arxiv.org/abs/1902.04270</a:t>
            </a:r>
          </a:p>
          <a:p xmlns:a="http://schemas.openxmlformats.org/drawingml/2006/main">
            <a:r>
              <a:t>- https://arxiv.org/abs/1605.09015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why there is no undifferentiated leaderboard. PINNs, operators, closures, structured dynamics, and world models answer different questions and consume different information. They can share a harness, but direct ranking requires a common target and matched information.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bake-off/references/closure_pinns_operators_world_models.tex</a:t>
            </a:r>
          </a:p>
          <a:p xmlns:a="http://schemas.openxmlformats.org/drawingml/2006/main">
            <a:r>
              <a:t>- /Users/ag245/Library/CloudStorage/GoogleDrive-annacgilbert@gmail.com/My Drive/Research/TEMPEST model bake-off/docs/information_budgets.md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computational/evaluative harness already described in the project. The harness keeps closure science separate from data handling, integration, scoring, and report generation. It makes fairness and reproducibility properties of the scaffolding rather than after-the-fact promises. Pacing: about 1.5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bake-off/docs/PROJECT_BRIEF.md</a:t>
            </a:r>
          </a:p>
          <a:p xmlns:a="http://schemas.openxmlformats.org/drawingml/2006/main">
            <a:r>
              <a:t>- /Users/ag245/Library/CloudStorage/GoogleDrive-annacgilbert@gmail.com/My Drive/Research/TEMPEST model bake-off/docs/evaluation_protocol.md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scorecards keep unlike tasks separate while allowing program-level conclusions. The key synthesis is not which architecture wins, but which information class becomes necessary, whether it survives solver feedback, and whether its design principle transfers.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bake-off/docs/evaluation_protocol.md</a:t>
            </a:r>
          </a:p>
          <a:p xmlns:a="http://schemas.openxmlformats.org/drawingml/2006/main">
            <a:r>
              <a:t>- /Users/ag245/Library/CloudStorage/GoogleDrive-annacgilbert@gmail.com/My Drive/Research/TEMPEST model bake-off/docs/information_budgets.md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requested outcome is a gated pilot, not permission for a full model sweep. The first review should establish common definitions and owners. Large learning experiments begin only after reference, estimator, and classical-limit gates pass. Pacing: about 2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bake-off/docs/first_concrete_deliverables.md</a:t>
            </a:r>
          </a:p>
          <a:p xmlns:a="http://schemas.openxmlformats.org/drawingml/2006/main">
            <a:r>
              <a:t>- /Users/ag245/Library/CloudStorage/GoogleDrive-annacgilbert@gmail.com/My Drive/Research/TEMPEST model bake-off/docs/benchmark_options_memo.md</a:t>
            </a:r>
          </a:p>
          <a:p xmlns:a="http://schemas.openxmlformats.org/drawingml/2006/main">
            <a:r>
              <a:t>- /Users/ag245/Library/CloudStorage/GoogleDrive-annacgilbert@gmail.com/My Drive/Research/TEMPEST model bake-off/docs/DECISIONS.md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feature is the separation between a theorem-faithful diagnostic layer and two application profiles. The central supernova risk is not simply model error: angle averaging, radial filtering, shock alignment, and imperfect 1D carriers can dominate the apparent target. We therefore report projection/filter uncertainty separately from closure error and retain dusty-plasma validation as an independent application test. Pacing: about 3 minutes.</a:t>
            </a:r>
          </a:p>
          <a:p xmlns:a="http://schemas.openxmlformats.org/drawingml/2006/main">
            <a:r>
              <a:t/>
            </a:r>
          </a:p>
          <a:p xmlns:a="http://schemas.openxmlformats.org/drawingml/2006/main">
            <a:r>
              <a:t>[Sources]</a:t>
            </a:r>
          </a:p>
          <a:p xmlns:a="http://schemas.openxmlformats.org/drawingml/2006/main">
            <a:r>
              <a:t>- /Users/ag245/Library/CloudStorage/GoogleDrive-annacgilbert@gmail.com/My Drive/Research/TEMPEST model bake-off/docs/benchmark_specification.md</a:t>
            </a:r>
          </a:p>
          <a:p xmlns:a="http://schemas.openxmlformats.org/drawingml/2006/main">
            <a:r>
              <a:t>- /Users/ag245/Library/CloudStorage/GoogleDrive-annacgilbert@gmail.com/My Drive/Research/TEMPEST model bake-off/docs/evaluation_protocol.md</a:t>
            </a:r>
          </a:p>
          <a:p xmlns:a="http://schemas.openxmlformats.org/drawingml/2006/main">
            <a:r>
              <a:t>- /Users/ag245/Library/CloudStorage/GoogleDrive-annacgilbert@gmail.com/My Drive/Research/TEMPEST model bake-off/docs/supernova_application_profile.md</a:t>
            </a:r>
          </a:p>
          <a:p xmlns:a="http://schemas.openxmlformats.org/drawingml/2006/main">
            <a:r>
              <a:t>- /Users/ag245/Library/CloudStorage/GoogleDrive-annacgilbert@gmail.com/My Drive/Research/TEMPEST model bake-off/references/TEMPEST_proposal.pdf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a4a330352b44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bb126aa8bd4d24" /><Relationship Type="http://schemas.openxmlformats.org/officeDocument/2006/relationships/slideLayout" Target="/ppt/slideLayouts/slideLayout1.xml" Id="R7b244a4197dc49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244a4197dc49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b6359c95d24f36" /><Relationship Type="http://schemas.openxmlformats.org/officeDocument/2006/relationships/notesSlide" Target="/ppt/notesSlides/notesSlide1.xml" Id="R9249b980e54047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515fbc92e04ec6" /><Relationship Type="http://schemas.openxmlformats.org/officeDocument/2006/relationships/image" Target="/ppt/media/image.png" Id="Rb5ddfda6b6ea42a1" /><Relationship Type="http://schemas.openxmlformats.org/officeDocument/2006/relationships/notesSlide" Target="/ppt/notesSlides/notesSlide2.xml" Id="R11aa5e89048a4e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c4bc6c640447a4" /><Relationship Type="http://schemas.openxmlformats.org/officeDocument/2006/relationships/notesSlide" Target="/ppt/notesSlides/notesSlide3.xml" Id="R8c4bae67cc4646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feb65e81f94eed" /><Relationship Type="http://schemas.openxmlformats.org/officeDocument/2006/relationships/notesSlide" Target="/ppt/notesSlides/notesSlide4.xml" Id="R2a48d62023e74f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6324e265fb416e" /><Relationship Type="http://schemas.openxmlformats.org/officeDocument/2006/relationships/notesSlide" Target="/ppt/notesSlides/notesSlide5.xml" Id="Rc6e3e8a729944b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783448c45a940e9" /><Relationship Type="http://schemas.openxmlformats.org/officeDocument/2006/relationships/notesSlide" Target="/ppt/notesSlides/notesSlide6.xml" Id="R33b4bd50144b4d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4764a57c10423d" /><Relationship Type="http://schemas.openxmlformats.org/officeDocument/2006/relationships/notesSlide" Target="/ppt/notesSlides/notesSlide7.xml" Id="R40b38e7fa4cf42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ed9885853b4a16" /><Relationship Type="http://schemas.openxmlformats.org/officeDocument/2006/relationships/notesSlide" Target="/ppt/notesSlides/notesSlide8.xml" Id="Rc8082fa90bf841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ccc45b89cb14c4a" /><Relationship Type="http://schemas.openxmlformats.org/officeDocument/2006/relationships/notesSlide" Target="/ppt/notesSlides/notesSlide9.xml" Id="R0fe99a3f87284f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d794d3979440d9" /><Relationship Type="http://schemas.openxmlformats.org/officeDocument/2006/relationships/notesSlide" Target="/ppt/notesSlides/notesSlide10.xml" Id="R3ce6e5a8bd8049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ba0907ef364c88" /><Relationship Type="http://schemas.openxmlformats.org/officeDocument/2006/relationships/notesSlide" Target="/ppt/notesSlides/notesSlide11.xml" Id="Rbcedb4baef5c43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b9c5c23090e41aa" /><Relationship Type="http://schemas.openxmlformats.org/officeDocument/2006/relationships/notesSlide" Target="/ppt/notesSlides/notesSlide12.xml" Id="R16e07a381e044b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525d21eb964a21" /><Relationship Type="http://schemas.openxmlformats.org/officeDocument/2006/relationships/notesSlide" Target="/ppt/notesSlides/notesSlide13.xml" Id="R43c8e1d539b44c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ef8dff23854f82" /><Relationship Type="http://schemas.openxmlformats.org/officeDocument/2006/relationships/notesSlide" Target="/ppt/notesSlides/notesSlide14.xml" Id="R3735b37c42b042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9702b6d6674bb5" /><Relationship Type="http://schemas.openxmlformats.org/officeDocument/2006/relationships/notesSlide" Target="/ppt/notesSlides/notesSlide15.xml" Id="R6dba2fd939e348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1e386e78ae04fd4" /><Relationship Type="http://schemas.openxmlformats.org/officeDocument/2006/relationships/notesSlide" Target="/ppt/notesSlides/notesSlide16.xml" Id="Rd431cd83eb5a4c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eb11559be1a4c31" /><Relationship Type="http://schemas.openxmlformats.org/officeDocument/2006/relationships/notesSlide" Target="/ppt/notesSlides/notesSlide17.xml" Id="R058912bbbaaa49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0f7d6427d134eff" /><Relationship Type="http://schemas.openxmlformats.org/officeDocument/2006/relationships/notesSlide" Target="/ppt/notesSlides/notesSlide18.xml" Id="R045a45b27da841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dc94df02ace4b6a" /><Relationship Type="http://schemas.openxmlformats.org/officeDocument/2006/relationships/notesSlide" Target="/ppt/notesSlides/notesSlide19.xml" Id="R3c19a5504bfe47d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79012c6d48d4748" /><Relationship Type="http://schemas.openxmlformats.org/officeDocument/2006/relationships/notesSlide" Target="/ppt/notesSlides/notesSlide20.xml" Id="R0d568cea6809406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31f59108fba4b65" /><Relationship Type="http://schemas.openxmlformats.org/officeDocument/2006/relationships/notesSlide" Target="/ppt/notesSlides/notesSlide21.xml" Id="R70621abdd839447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5fa695341324f8e" /><Relationship Type="http://schemas.openxmlformats.org/officeDocument/2006/relationships/notesSlide" Target="/ppt/notesSlides/notesSlide22.xml" Id="R3816a1ba180f484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531673-A1F1-4909-A7DC-202719C3C0BA}"/>
              </a:ext>
            </a:extLst>
          </p:cNvPr>
          <p:cNvSpPr>
            <a:spLocks xmlns:a="http://schemas.openxmlformats.org/drawingml/2006/main" noGrp="1"/>
          </p:cNvSpPr>
          <p:nvPr/>
        </p:nvSpPr>
        <p:spPr>
          <a:xfrm xmlns:a="http://schemas.openxmlformats.org/drawingml/2006/main">
            <a:off x="400050" y="40005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1" i="0">
                <a:solidFill>
                  <a:srgbClr val="143A72"/>
                </a:solidFill>
                <a:latin typeface="Helvetica Neue"/>
                <a:ea typeface="Helvetica Neue"/>
                <a:cs typeface="Helvetica Neue"/>
              </a:defRPr>
            </a:pPr>
            <a:r>
              <a:rPr sz="1800" b="1" i="0">
                <a:solidFill>
                  <a:srgbClr val="143A72"/>
                </a:solidFill>
                <a:latin typeface="Helvetica Neue"/>
                <a:ea typeface="Helvetica Neue"/>
                <a:cs typeface="Helvetica Neue"/>
              </a:rPr>
              <a:t>TEMPEST DESIGN MEETING</a:t>
            </a:r>
          </a:p>
        </p:txBody>
      </p:sp>
      <p:sp>
        <p:nvSpPr>
          <p:cNvPr id="2" name="">
            <a:extLst xmlns:a="http://schemas.openxmlformats.org/drawingml/2006/main">
              <a:ext uri="{FF2B5EF4-FFF2-40B4-BE49-F238E27FC236}">
                <a16:creationId xmlns:a16="http://schemas.microsoft.com/office/drawing/2014/main" id="{5352E567-FEA1-42A9-BADF-70504819FAC5}"/>
              </a:ext>
            </a:extLst>
          </p:cNvPr>
          <p:cNvSpPr>
            <a:spLocks xmlns:a="http://schemas.openxmlformats.org/drawingml/2006/main" noGrp="1"/>
          </p:cNvSpPr>
          <p:nvPr/>
        </p:nvSpPr>
        <p:spPr>
          <a:xfrm xmlns:a="http://schemas.openxmlformats.org/drawingml/2006/main">
            <a:off x="400050" y="1619250"/>
            <a:ext cx="10287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5400" b="1" i="0">
                <a:solidFill>
                  <a:srgbClr val="000000"/>
                </a:solidFill>
                <a:latin typeface="Helvetica Neue"/>
                <a:ea typeface="Helvetica Neue"/>
                <a:cs typeface="Helvetica Neue"/>
              </a:defRPr>
            </a:pPr>
            <a:r>
              <a:rPr sz="5400" b="1" i="0">
                <a:solidFill>
                  <a:srgbClr val="000000"/>
                </a:solidFill>
                <a:latin typeface="Helvetica Neue"/>
                <a:ea typeface="Helvetica Neue"/>
                <a:cs typeface="Helvetica Neue"/>
              </a:rPr>
              <a:t>From closure theory to a</a:t>
            </a:r>
          </a:p>
          <a:p xmlns:a="http://schemas.openxmlformats.org/drawingml/2006/main">
            <a:pPr algn="l">
              <a:buNone/>
              <a:defRPr sz="5400" b="1" i="0">
                <a:solidFill>
                  <a:srgbClr val="000000"/>
                </a:solidFill>
                <a:latin typeface="Helvetica Neue"/>
                <a:ea typeface="Helvetica Neue"/>
                <a:cs typeface="Helvetica Neue"/>
              </a:defRPr>
            </a:pPr>
            <a:r>
              <a:rPr sz="5400" b="1" i="0">
                <a:solidFill>
                  <a:srgbClr val="000000"/>
                </a:solidFill>
                <a:latin typeface="Helvetica Neue"/>
                <a:ea typeface="Helvetica Neue"/>
                <a:cs typeface="Helvetica Neue"/>
              </a:rPr>
              <a:t>TEMPEST AI/ML benchmark</a:t>
            </a:r>
          </a:p>
        </p:txBody>
      </p:sp>
      <p:sp>
        <p:nvSpPr>
          <p:cNvPr id="3" name="">
            <a:extLst xmlns:a="http://schemas.openxmlformats.org/drawingml/2006/main">
              <a:ext uri="{FF2B5EF4-FFF2-40B4-BE49-F238E27FC236}">
                <a16:creationId xmlns:a16="http://schemas.microsoft.com/office/drawing/2014/main" id="{0F45DAFC-54B8-4254-9C90-05729C687AFE}"/>
              </a:ext>
            </a:extLst>
          </p:cNvPr>
          <p:cNvSpPr>
            <a:spLocks xmlns:a="http://schemas.openxmlformats.org/drawingml/2006/main" noGrp="1"/>
          </p:cNvSpPr>
          <p:nvPr/>
        </p:nvSpPr>
        <p:spPr>
          <a:xfrm xmlns:a="http://schemas.openxmlformats.org/drawingml/2006/main">
            <a:off x="400050" y="47625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0" i="0">
                <a:solidFill>
                  <a:srgbClr val="5B6472"/>
                </a:solidFill>
                <a:latin typeface="Helvetica Neue"/>
                <a:ea typeface="Helvetica Neue"/>
                <a:cs typeface="Helvetica Neue"/>
              </a:defRPr>
            </a:pPr>
            <a:r>
              <a:rPr sz="2025" b="0" i="0">
                <a:solidFill>
                  <a:srgbClr val="5B6472"/>
                </a:solidFill>
                <a:latin typeface="Helvetica Neue"/>
                <a:ea typeface="Helvetica Neue"/>
                <a:cs typeface="Helvetica Neue"/>
              </a:rPr>
              <a:t>A linked experimental program from particles to kinetics, moments, and 3D-to-1D supernova turbulence</a:t>
            </a:r>
          </a:p>
        </p:txBody>
      </p:sp>
      <p:sp>
        <p:nvSpPr>
          <p:cNvPr id="4" name="">
            <a:extLst xmlns:a="http://schemas.openxmlformats.org/drawingml/2006/main">
              <a:ext uri="{FF2B5EF4-FFF2-40B4-BE49-F238E27FC236}">
                <a16:creationId xmlns:a16="http://schemas.microsoft.com/office/drawing/2014/main" id="{57C38450-28FA-45D2-8874-04F2F5EC4596}"/>
              </a:ext>
            </a:extLst>
          </p:cNvPr>
          <p:cNvSpPr>
            <a:spLocks xmlns:a="http://schemas.openxmlformats.org/drawingml/2006/main" noGrp="1"/>
          </p:cNvSpPr>
          <p:nvPr/>
        </p:nvSpPr>
        <p:spPr>
          <a:xfrm xmlns:a="http://schemas.openxmlformats.org/drawingml/2006/main">
            <a:off x="400050" y="61055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350" b="0" i="0">
                <a:solidFill>
                  <a:srgbClr val="5B6472"/>
                </a:solidFill>
                <a:latin typeface="Helvetica Neue"/>
                <a:ea typeface="Helvetica Neue"/>
                <a:cs typeface="Helvetica Neue"/>
              </a:defRPr>
            </a:pPr>
            <a:r>
              <a:rPr sz="1350" b="0" i="0">
                <a:solidFill>
                  <a:srgbClr val="5B6472"/>
                </a:solidFill>
                <a:latin typeface="Helvetica Neue"/>
                <a:ea typeface="Helvetica Neue"/>
                <a:cs typeface="Helvetica Neue"/>
              </a:rPr>
              <a:t>August 2026</a:t>
            </a:r>
          </a:p>
        </p:txBody>
      </p:sp>
    </p:spTree>
    <p:extLst>
      <p:ext uri="{BB962C8B-B14F-4D97-AF65-F5344CB8AC3E}">
        <p14:creationId xmlns:p14="http://schemas.microsoft.com/office/powerpoint/2010/main" val="13983692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2E1163-9ED4-4F0C-9210-AF3C7C2E4C66}"/>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97B70B68-9506-482C-A039-9FB3B8A8DD4F}"/>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Closure is the influence of what we discarded</a:t>
            </a:r>
          </a:p>
        </p:txBody>
      </p:sp>
      <p:cxnSp>
        <p:nvCxnSpPr>
          <p:cNvPr id="16"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75CD1AA9-9356-471F-AB89-37034CEB5EC2}"/>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2</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5ddfda6b6ea42a1"/>
          <a:stretch xmlns:a="http://schemas.openxmlformats.org/drawingml/2006/main"/>
        </p:blipFill>
        <p:spPr>
          <a:xfrm xmlns:a="http://schemas.openxmlformats.org/drawingml/2006/main">
            <a:off x="1526429" y="1266825"/>
            <a:ext cx="9139141" cy="5143500"/>
          </a:xfrm>
          <a:prstGeom xmlns:a="http://schemas.openxmlformats.org/drawingml/2006/main" prst="rect">
            <a:avLst/>
          </a:prstGeom>
        </p:spPr>
      </p:pic>
    </p:spTree>
    <p:extLst>
      <p:ext uri="{BB962C8B-B14F-4D97-AF65-F5344CB8AC3E}">
        <p14:creationId xmlns:p14="http://schemas.microsoft.com/office/powerpoint/2010/main" val="105341844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7DF9A1A-E892-4B87-998E-79372A8611DA}"/>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56A19793-FDE1-4634-8BF3-060C5D84677E}"/>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What does the network actually learn?</a:t>
            </a:r>
          </a:p>
        </p:txBody>
      </p:sp>
      <p:cxnSp>
        <p:nvCxnSpPr>
          <p:cNvPr id="90"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505E1A22-C746-495A-9EB2-F0B32325C8D7}"/>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3</a:t>
            </a:r>
          </a:p>
        </p:txBody>
      </p:sp>
      <p:sp>
        <p:nvSpPr>
          <p:cNvPr id="5" name="">
            <a:extLst xmlns:a="http://schemas.openxmlformats.org/drawingml/2006/main">
              <a:ext uri="{FF2B5EF4-FFF2-40B4-BE49-F238E27FC236}">
                <a16:creationId xmlns:a16="http://schemas.microsoft.com/office/drawing/2014/main" id="{3BF95B1E-B95E-4E44-9EF5-661BC11D8A43}"/>
              </a:ext>
            </a:extLst>
          </p:cNvPr>
          <p:cNvSpPr>
            <a:spLocks xmlns:a="http://schemas.openxmlformats.org/drawingml/2006/main" noGrp="1"/>
          </p:cNvSpPr>
          <p:nvPr/>
        </p:nvSpPr>
        <p:spPr>
          <a:xfrm xmlns:a="http://schemas.openxmlformats.org/drawingml/2006/main">
            <a:off x="400050" y="14287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i="0">
                <a:solidFill>
                  <a:srgbClr val="5B6472"/>
                </a:solidFill>
                <a:latin typeface="Helvetica Neue"/>
                <a:ea typeface="Helvetica Neue"/>
                <a:cs typeface="Helvetica Neue"/>
              </a:defRPr>
            </a:pPr>
            <a:r>
              <a:rPr sz="1200" b="1" i="0">
                <a:solidFill>
                  <a:srgbClr val="5B6472"/>
                </a:solidFill>
                <a:latin typeface="Helvetica Neue"/>
                <a:ea typeface="Helvetica Neue"/>
                <a:cs typeface="Helvetica Neue"/>
              </a:rPr>
              <a:t>MATHEMATICAL OBJECT</a:t>
            </a:r>
          </a:p>
        </p:txBody>
      </p:sp>
      <p:sp>
        <p:nvSpPr>
          <p:cNvPr id="6" name="">
            <a:extLst xmlns:a="http://schemas.openxmlformats.org/drawingml/2006/main">
              <a:ext uri="{FF2B5EF4-FFF2-40B4-BE49-F238E27FC236}">
                <a16:creationId xmlns:a16="http://schemas.microsoft.com/office/drawing/2014/main" id="{0C55A92E-511B-4988-BABB-9848951DAC23}"/>
              </a:ext>
            </a:extLst>
          </p:cNvPr>
          <p:cNvSpPr>
            <a:spLocks xmlns:a="http://schemas.openxmlformats.org/drawingml/2006/main" noGrp="1"/>
          </p:cNvSpPr>
          <p:nvPr/>
        </p:nvSpPr>
        <p:spPr>
          <a:xfrm xmlns:a="http://schemas.openxmlformats.org/drawingml/2006/main">
            <a:off x="4210050" y="1428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i="0">
                <a:solidFill>
                  <a:srgbClr val="5B6472"/>
                </a:solidFill>
                <a:latin typeface="Helvetica Neue"/>
                <a:ea typeface="Helvetica Neue"/>
                <a:cs typeface="Helvetica Neue"/>
              </a:defRPr>
            </a:pPr>
            <a:r>
              <a:rPr sz="1200" b="1" i="0">
                <a:solidFill>
                  <a:srgbClr val="5B6472"/>
                </a:solidFill>
                <a:latin typeface="Helvetica Neue"/>
                <a:ea typeface="Helvetica Neue"/>
                <a:cs typeface="Helvetica Neue"/>
              </a:rPr>
              <a:t>TYPICAL METHOD</a:t>
            </a:r>
          </a:p>
        </p:txBody>
      </p:sp>
      <p:sp>
        <p:nvSpPr>
          <p:cNvPr id="7" name="">
            <a:extLst xmlns:a="http://schemas.openxmlformats.org/drawingml/2006/main">
              <a:ext uri="{FF2B5EF4-FFF2-40B4-BE49-F238E27FC236}">
                <a16:creationId xmlns:a16="http://schemas.microsoft.com/office/drawing/2014/main" id="{F6BA100E-5EEE-421F-8D2B-072DB8DCC45F}"/>
              </a:ext>
            </a:extLst>
          </p:cNvPr>
          <p:cNvSpPr>
            <a:spLocks xmlns:a="http://schemas.openxmlformats.org/drawingml/2006/main" noGrp="1"/>
          </p:cNvSpPr>
          <p:nvPr/>
        </p:nvSpPr>
        <p:spPr>
          <a:xfrm xmlns:a="http://schemas.openxmlformats.org/drawingml/2006/main">
            <a:off x="7524750" y="1428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i="0">
                <a:solidFill>
                  <a:srgbClr val="5B6472"/>
                </a:solidFill>
                <a:latin typeface="Helvetica Neue"/>
                <a:ea typeface="Helvetica Neue"/>
                <a:cs typeface="Helvetica Neue"/>
              </a:defRPr>
            </a:pPr>
            <a:r>
              <a:rPr sz="1200" b="1" i="0">
                <a:solidFill>
                  <a:srgbClr val="5B6472"/>
                </a:solidFill>
                <a:latin typeface="Helvetica Neue"/>
                <a:ea typeface="Helvetica Neue"/>
                <a:cs typeface="Helvetica Neue"/>
              </a:rPr>
              <a:t>DEPLOYMENT CLAIM</a:t>
            </a:r>
          </a:p>
        </p:txBody>
      </p:sp>
      <p:cxnSp>
        <p:nvCxnSpPr>
          <p:cNvPr id="95" name=""/>
          <p:cNvCxnSpPr/>
          <p:nvPr/>
        </p:nvCxnSpPr>
        <p:spPr>
          <a:xfrm xmlns:a="http://schemas.openxmlformats.org/drawingml/2006/main">
            <a:off x="400050" y="1743075"/>
            <a:ext cx="11391900" cy="953"/>
          </a:xfrm>
          <a:prstGeom xmlns:a="http://schemas.openxmlformats.org/drawingml/2006/main" prst="straightConnector1">
            <a:avLst/>
          </a:prstGeom>
          <a:ln xmlns:a="http://schemas.openxmlformats.org/drawingml/2006/main" w="14288">
            <a:solidFill>
              <a:srgbClr val="000000"/>
            </a:solidFill>
            <a:prstDash val="solid"/>
          </a:ln>
        </p:spPr>
      </p:cxnSp>
      <p:sp>
        <p:nvSpPr>
          <p:cNvPr id="9" name="">
            <a:extLst xmlns:a="http://schemas.openxmlformats.org/drawingml/2006/main">
              <a:ext uri="{FF2B5EF4-FFF2-40B4-BE49-F238E27FC236}">
                <a16:creationId xmlns:a16="http://schemas.microsoft.com/office/drawing/2014/main" id="{307BCCC4-7C2C-4FDF-89B4-2D0F0E535AF2}"/>
              </a:ext>
            </a:extLst>
          </p:cNvPr>
          <p:cNvSpPr>
            <a:spLocks xmlns:a="http://schemas.openxmlformats.org/drawingml/2006/main" noGrp="1"/>
          </p:cNvSpPr>
          <p:nvPr/>
        </p:nvSpPr>
        <p:spPr>
          <a:xfrm xmlns:a="http://schemas.openxmlformats.org/drawingml/2006/main">
            <a:off x="400050" y="19240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000000"/>
                </a:solidFill>
                <a:latin typeface="Helvetica Neue"/>
                <a:ea typeface="Helvetica Neue"/>
                <a:cs typeface="Helvetica Neue"/>
              </a:defRPr>
            </a:pPr>
            <a:r>
              <a:rPr sz="1725" b="0" i="0">
                <a:solidFill>
                  <a:srgbClr val="000000"/>
                </a:solidFill>
                <a:latin typeface="Helvetica Neue"/>
                <a:ea typeface="Helvetica Neue"/>
                <a:cs typeface="Helvetica Neue"/>
              </a:rPr>
              <a:t>Particular solution</a:t>
            </a:r>
          </a:p>
        </p:txBody>
      </p:sp>
      <p:sp>
        <p:nvSpPr>
          <p:cNvPr id="10" name="">
            <a:extLst xmlns:a="http://schemas.openxmlformats.org/drawingml/2006/main">
              <a:ext uri="{FF2B5EF4-FFF2-40B4-BE49-F238E27FC236}">
                <a16:creationId xmlns:a16="http://schemas.microsoft.com/office/drawing/2014/main" id="{56655A3B-EFA5-49DE-B698-9E4194510CB0}"/>
              </a:ext>
            </a:extLst>
          </p:cNvPr>
          <p:cNvSpPr>
            <a:spLocks xmlns:a="http://schemas.openxmlformats.org/drawingml/2006/main" noGrp="1"/>
          </p:cNvSpPr>
          <p:nvPr/>
        </p:nvSpPr>
        <p:spPr>
          <a:xfrm xmlns:a="http://schemas.openxmlformats.org/drawingml/2006/main">
            <a:off x="4210050" y="19240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PINN</a:t>
            </a:r>
          </a:p>
        </p:txBody>
      </p:sp>
      <p:sp>
        <p:nvSpPr>
          <p:cNvPr id="11" name="">
            <a:extLst xmlns:a="http://schemas.openxmlformats.org/drawingml/2006/main">
              <a:ext uri="{FF2B5EF4-FFF2-40B4-BE49-F238E27FC236}">
                <a16:creationId xmlns:a16="http://schemas.microsoft.com/office/drawing/2014/main" id="{E8A8C822-F4AC-4818-B69E-E3EF925C927C}"/>
              </a:ext>
            </a:extLst>
          </p:cNvPr>
          <p:cNvSpPr>
            <a:spLocks xmlns:a="http://schemas.openxmlformats.org/drawingml/2006/main" noGrp="1"/>
          </p:cNvSpPr>
          <p:nvPr/>
        </p:nvSpPr>
        <p:spPr>
          <a:xfrm xmlns:a="http://schemas.openxmlformats.org/drawingml/2006/main">
            <a:off x="7524750" y="19240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One forward or inverse instance</a:t>
            </a:r>
          </a:p>
        </p:txBody>
      </p:sp>
      <p:cxnSp>
        <p:nvCxnSpPr>
          <p:cNvPr id="99" name=""/>
          <p:cNvCxnSpPr/>
          <p:nvPr/>
        </p:nvCxnSpPr>
        <p:spPr>
          <a:xfrm xmlns:a="http://schemas.openxmlformats.org/drawingml/2006/main">
            <a:off x="400050" y="25050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143E0C1B-E17F-4C72-A05E-0ABC20C6562A}"/>
              </a:ext>
            </a:extLst>
          </p:cNvPr>
          <p:cNvSpPr>
            <a:spLocks xmlns:a="http://schemas.openxmlformats.org/drawingml/2006/main" noGrp="1"/>
          </p:cNvSpPr>
          <p:nvPr/>
        </p:nvSpPr>
        <p:spPr>
          <a:xfrm xmlns:a="http://schemas.openxmlformats.org/drawingml/2006/main">
            <a:off x="400050" y="2762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000000"/>
                </a:solidFill>
                <a:latin typeface="Helvetica Neue"/>
                <a:ea typeface="Helvetica Neue"/>
                <a:cs typeface="Helvetica Neue"/>
              </a:defRPr>
            </a:pPr>
            <a:r>
              <a:rPr sz="1725" b="0" i="0">
                <a:solidFill>
                  <a:srgbClr val="000000"/>
                </a:solidFill>
                <a:latin typeface="Helvetica Neue"/>
                <a:ea typeface="Helvetica Neue"/>
                <a:cs typeface="Helvetica Neue"/>
              </a:rPr>
              <a:t>Solution operator</a:t>
            </a:r>
          </a:p>
        </p:txBody>
      </p:sp>
      <p:sp>
        <p:nvSpPr>
          <p:cNvPr id="14" name="">
            <a:extLst xmlns:a="http://schemas.openxmlformats.org/drawingml/2006/main">
              <a:ext uri="{FF2B5EF4-FFF2-40B4-BE49-F238E27FC236}">
                <a16:creationId xmlns:a16="http://schemas.microsoft.com/office/drawing/2014/main" id="{370C3CCC-E9FC-4155-9893-33201C802C40}"/>
              </a:ext>
            </a:extLst>
          </p:cNvPr>
          <p:cNvSpPr>
            <a:spLocks xmlns:a="http://schemas.openxmlformats.org/drawingml/2006/main" noGrp="1"/>
          </p:cNvSpPr>
          <p:nvPr/>
        </p:nvSpPr>
        <p:spPr>
          <a:xfrm xmlns:a="http://schemas.openxmlformats.org/drawingml/2006/main">
            <a:off x="4210050" y="27622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Neural operator / PINO</a:t>
            </a:r>
          </a:p>
        </p:txBody>
      </p:sp>
      <p:sp>
        <p:nvSpPr>
          <p:cNvPr id="15" name="">
            <a:extLst xmlns:a="http://schemas.openxmlformats.org/drawingml/2006/main">
              <a:ext uri="{FF2B5EF4-FFF2-40B4-BE49-F238E27FC236}">
                <a16:creationId xmlns:a16="http://schemas.microsoft.com/office/drawing/2014/main" id="{8A3951B3-968F-46B4-B894-D2CB5A733736}"/>
              </a:ext>
            </a:extLst>
          </p:cNvPr>
          <p:cNvSpPr>
            <a:spLocks xmlns:a="http://schemas.openxmlformats.org/drawingml/2006/main" noGrp="1"/>
          </p:cNvSpPr>
          <p:nvPr/>
        </p:nvSpPr>
        <p:spPr>
          <a:xfrm xmlns:a="http://schemas.openxmlformats.org/drawingml/2006/main">
            <a:off x="7524750" y="27622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A family of inputs and solutions</a:t>
            </a:r>
          </a:p>
        </p:txBody>
      </p:sp>
      <p:cxnSp>
        <p:nvCxnSpPr>
          <p:cNvPr id="103" name=""/>
          <p:cNvCxnSpPr/>
          <p:nvPr/>
        </p:nvCxnSpPr>
        <p:spPr>
          <a:xfrm xmlns:a="http://schemas.openxmlformats.org/drawingml/2006/main">
            <a:off x="400050" y="33432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94D4AD7A-7C7B-4517-9C06-B811E81C2BC5}"/>
              </a:ext>
            </a:extLst>
          </p:cNvPr>
          <p:cNvSpPr>
            <a:spLocks xmlns:a="http://schemas.openxmlformats.org/drawingml/2006/main" noGrp="1"/>
          </p:cNvSpPr>
          <p:nvPr/>
        </p:nvSpPr>
        <p:spPr>
          <a:xfrm xmlns:a="http://schemas.openxmlformats.org/drawingml/2006/main">
            <a:off x="333375" y="3514725"/>
            <a:ext cx="11458575" cy="695325"/>
          </a:xfrm>
          <a:prstGeom xmlns:a="http://schemas.openxmlformats.org/drawingml/2006/main" prst="rect">
            <a:avLst/>
          </a:prstGeom>
          <a:solidFill xmlns:a="http://schemas.openxmlformats.org/drawingml/2006/main">
            <a:srgbClr val="D0EDFA"/>
          </a:solidFill>
          <a:ln xmlns:a="http://schemas.openxmlformats.org/drawingml/2006/main" w="0">
            <a:solidFill>
              <a:srgbClr val="D0EDFA"/>
            </a:solidFill>
            <a:prstDash val="solid"/>
          </a:ln>
        </p:spPr>
      </p:sp>
      <p:sp>
        <p:nvSpPr>
          <p:cNvPr id="18" name="">
            <a:extLst xmlns:a="http://schemas.openxmlformats.org/drawingml/2006/main">
              <a:ext uri="{FF2B5EF4-FFF2-40B4-BE49-F238E27FC236}">
                <a16:creationId xmlns:a16="http://schemas.microsoft.com/office/drawing/2014/main" id="{6F700FC5-61DB-44DD-96F3-ADD243EFC2C5}"/>
              </a:ext>
            </a:extLst>
          </p:cNvPr>
          <p:cNvSpPr>
            <a:spLocks xmlns:a="http://schemas.openxmlformats.org/drawingml/2006/main" noGrp="1"/>
          </p:cNvSpPr>
          <p:nvPr/>
        </p:nvSpPr>
        <p:spPr>
          <a:xfrm xmlns:a="http://schemas.openxmlformats.org/drawingml/2006/main">
            <a:off x="400050" y="36004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Closure residual</a:t>
            </a:r>
          </a:p>
        </p:txBody>
      </p:sp>
      <p:sp>
        <p:nvSpPr>
          <p:cNvPr id="19" name="">
            <a:extLst xmlns:a="http://schemas.openxmlformats.org/drawingml/2006/main">
              <a:ext uri="{FF2B5EF4-FFF2-40B4-BE49-F238E27FC236}">
                <a16:creationId xmlns:a16="http://schemas.microsoft.com/office/drawing/2014/main" id="{D15C75A2-E79B-4DF0-90DB-3A7E45013481}"/>
              </a:ext>
            </a:extLst>
          </p:cNvPr>
          <p:cNvSpPr>
            <a:spLocks xmlns:a="http://schemas.openxmlformats.org/drawingml/2006/main" noGrp="1"/>
          </p:cNvSpPr>
          <p:nvPr/>
        </p:nvSpPr>
        <p:spPr>
          <a:xfrm xmlns:a="http://schemas.openxmlformats.org/drawingml/2006/main">
            <a:off x="4210050" y="36004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Learned closure</a:t>
            </a:r>
          </a:p>
        </p:txBody>
      </p:sp>
      <p:sp>
        <p:nvSpPr>
          <p:cNvPr id="20" name="">
            <a:extLst xmlns:a="http://schemas.openxmlformats.org/drawingml/2006/main">
              <a:ext uri="{FF2B5EF4-FFF2-40B4-BE49-F238E27FC236}">
                <a16:creationId xmlns:a16="http://schemas.microsoft.com/office/drawing/2014/main" id="{B3A13F5D-33A8-430B-9418-F11B6DB5E031}"/>
              </a:ext>
            </a:extLst>
          </p:cNvPr>
          <p:cNvSpPr>
            <a:spLocks xmlns:a="http://schemas.openxmlformats.org/drawingml/2006/main" noGrp="1"/>
          </p:cNvSpPr>
          <p:nvPr/>
        </p:nvSpPr>
        <p:spPr>
          <a:xfrm xmlns:a="http://schemas.openxmlformats.org/drawingml/2006/main">
            <a:off x="7524750" y="36004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A missing term inside a retained solver</a:t>
            </a:r>
          </a:p>
        </p:txBody>
      </p:sp>
      <p:cxnSp>
        <p:nvCxnSpPr>
          <p:cNvPr id="108" name=""/>
          <p:cNvCxnSpPr/>
          <p:nvPr/>
        </p:nvCxnSpPr>
        <p:spPr>
          <a:xfrm xmlns:a="http://schemas.openxmlformats.org/drawingml/2006/main">
            <a:off x="400050" y="41814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22" name="">
            <a:extLst xmlns:a="http://schemas.openxmlformats.org/drawingml/2006/main">
              <a:ext uri="{FF2B5EF4-FFF2-40B4-BE49-F238E27FC236}">
                <a16:creationId xmlns:a16="http://schemas.microsoft.com/office/drawing/2014/main" id="{159DA806-3CBC-44FE-AE24-B1EED7EE127B}"/>
              </a:ext>
            </a:extLst>
          </p:cNvPr>
          <p:cNvSpPr>
            <a:spLocks xmlns:a="http://schemas.openxmlformats.org/drawingml/2006/main" noGrp="1"/>
          </p:cNvSpPr>
          <p:nvPr/>
        </p:nvSpPr>
        <p:spPr>
          <a:xfrm xmlns:a="http://schemas.openxmlformats.org/drawingml/2006/main">
            <a:off x="400050" y="44386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000000"/>
                </a:solidFill>
                <a:latin typeface="Helvetica Neue"/>
                <a:ea typeface="Helvetica Neue"/>
                <a:cs typeface="Helvetica Neue"/>
              </a:defRPr>
            </a:pPr>
            <a:r>
              <a:rPr sz="1725" b="0" i="0">
                <a:solidFill>
                  <a:srgbClr val="000000"/>
                </a:solidFill>
                <a:latin typeface="Helvetica Neue"/>
                <a:ea typeface="Helvetica Neue"/>
                <a:cs typeface="Helvetica Neue"/>
              </a:rPr>
              <a:t>Vector field or flow map</a:t>
            </a:r>
          </a:p>
        </p:txBody>
      </p:sp>
      <p:sp>
        <p:nvSpPr>
          <p:cNvPr id="23" name="">
            <a:extLst xmlns:a="http://schemas.openxmlformats.org/drawingml/2006/main">
              <a:ext uri="{FF2B5EF4-FFF2-40B4-BE49-F238E27FC236}">
                <a16:creationId xmlns:a16="http://schemas.microsoft.com/office/drawing/2014/main" id="{1964C056-9650-4918-BA4C-E7D5B48618D8}"/>
              </a:ext>
            </a:extLst>
          </p:cNvPr>
          <p:cNvSpPr>
            <a:spLocks xmlns:a="http://schemas.openxmlformats.org/drawingml/2006/main" noGrp="1"/>
          </p:cNvSpPr>
          <p:nvPr/>
        </p:nvSpPr>
        <p:spPr>
          <a:xfrm xmlns:a="http://schemas.openxmlformats.org/drawingml/2006/main">
            <a:off x="4210050" y="44386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Structured dynamics</a:t>
            </a:r>
          </a:p>
        </p:txBody>
      </p:sp>
      <p:sp>
        <p:nvSpPr>
          <p:cNvPr id="24" name="">
            <a:extLst xmlns:a="http://schemas.openxmlformats.org/drawingml/2006/main">
              <a:ext uri="{FF2B5EF4-FFF2-40B4-BE49-F238E27FC236}">
                <a16:creationId xmlns:a16="http://schemas.microsoft.com/office/drawing/2014/main" id="{48C13D1C-8F52-4527-B003-7230B57006ED}"/>
              </a:ext>
            </a:extLst>
          </p:cNvPr>
          <p:cNvSpPr>
            <a:spLocks xmlns:a="http://schemas.openxmlformats.org/drawingml/2006/main" noGrp="1"/>
          </p:cNvSpPr>
          <p:nvPr/>
        </p:nvSpPr>
        <p:spPr>
          <a:xfrm xmlns:a="http://schemas.openxmlformats.org/drawingml/2006/main">
            <a:off x="7524750" y="44386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Recursive state evolution</a:t>
            </a:r>
          </a:p>
        </p:txBody>
      </p:sp>
      <p:cxnSp>
        <p:nvCxnSpPr>
          <p:cNvPr id="112" name=""/>
          <p:cNvCxnSpPr/>
          <p:nvPr/>
        </p:nvCxnSpPr>
        <p:spPr>
          <a:xfrm xmlns:a="http://schemas.openxmlformats.org/drawingml/2006/main">
            <a:off x="400050" y="5019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26" name="">
            <a:extLst xmlns:a="http://schemas.openxmlformats.org/drawingml/2006/main">
              <a:ext uri="{FF2B5EF4-FFF2-40B4-BE49-F238E27FC236}">
                <a16:creationId xmlns:a16="http://schemas.microsoft.com/office/drawing/2014/main" id="{E670867F-9F81-4DCF-8530-2B795F549C9B}"/>
              </a:ext>
            </a:extLst>
          </p:cNvPr>
          <p:cNvSpPr>
            <a:spLocks xmlns:a="http://schemas.openxmlformats.org/drawingml/2006/main" noGrp="1"/>
          </p:cNvSpPr>
          <p:nvPr/>
        </p:nvSpPr>
        <p:spPr>
          <a:xfrm xmlns:a="http://schemas.openxmlformats.org/drawingml/2006/main">
            <a:off x="400050" y="52768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000000"/>
                </a:solidFill>
                <a:latin typeface="Helvetica Neue"/>
                <a:ea typeface="Helvetica Neue"/>
                <a:cs typeface="Helvetica Neue"/>
              </a:defRPr>
            </a:pPr>
            <a:r>
              <a:rPr sz="1725" b="0" i="0">
                <a:solidFill>
                  <a:srgbClr val="000000"/>
                </a:solidFill>
                <a:latin typeface="Helvetica Neue"/>
                <a:ea typeface="Helvetica Neue"/>
                <a:cs typeface="Helvetica Neue"/>
              </a:rPr>
              <a:t>Action-conditioned transition</a:t>
            </a:r>
          </a:p>
        </p:txBody>
      </p:sp>
      <p:sp>
        <p:nvSpPr>
          <p:cNvPr id="27" name="">
            <a:extLst xmlns:a="http://schemas.openxmlformats.org/drawingml/2006/main">
              <a:ext uri="{FF2B5EF4-FFF2-40B4-BE49-F238E27FC236}">
                <a16:creationId xmlns:a16="http://schemas.microsoft.com/office/drawing/2014/main" id="{A7F7767F-90B6-445A-8B81-D9125BA422C0}"/>
              </a:ext>
            </a:extLst>
          </p:cNvPr>
          <p:cNvSpPr>
            <a:spLocks xmlns:a="http://schemas.openxmlformats.org/drawingml/2006/main" noGrp="1"/>
          </p:cNvSpPr>
          <p:nvPr/>
        </p:nvSpPr>
        <p:spPr>
          <a:xfrm xmlns:a="http://schemas.openxmlformats.org/drawingml/2006/main">
            <a:off x="4210050" y="52768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World model</a:t>
            </a:r>
          </a:p>
        </p:txBody>
      </p:sp>
      <p:sp>
        <p:nvSpPr>
          <p:cNvPr id="28" name="">
            <a:extLst xmlns:a="http://schemas.openxmlformats.org/drawingml/2006/main">
              <a:ext uri="{FF2B5EF4-FFF2-40B4-BE49-F238E27FC236}">
                <a16:creationId xmlns:a16="http://schemas.microsoft.com/office/drawing/2014/main" id="{DBC91CA4-2D9E-487D-AD66-5E0BF614A2FE}"/>
              </a:ext>
            </a:extLst>
          </p:cNvPr>
          <p:cNvSpPr>
            <a:spLocks xmlns:a="http://schemas.openxmlformats.org/drawingml/2006/main" noGrp="1"/>
          </p:cNvSpPr>
          <p:nvPr/>
        </p:nvSpPr>
        <p:spPr>
          <a:xfrm xmlns:a="http://schemas.openxmlformats.org/drawingml/2006/main">
            <a:off x="7524750" y="52768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Counterfactual controlled rollouts</a:t>
            </a:r>
          </a:p>
        </p:txBody>
      </p:sp>
      <p:cxnSp>
        <p:nvCxnSpPr>
          <p:cNvPr id="116" name=""/>
          <p:cNvCxnSpPr/>
          <p:nvPr/>
        </p:nvCxnSpPr>
        <p:spPr>
          <a:xfrm xmlns:a="http://schemas.openxmlformats.org/drawingml/2006/main">
            <a:off x="400050" y="5857875"/>
            <a:ext cx="11391900" cy="953"/>
          </a:xfrm>
          <a:prstGeom xmlns:a="http://schemas.openxmlformats.org/drawingml/2006/main" prst="straightConnector1">
            <a:avLst/>
          </a:prstGeom>
          <a:ln xmlns:a="http://schemas.openxmlformats.org/drawingml/2006/main" w="9525">
            <a:solidFill>
              <a:srgbClr val="B8BCC4"/>
            </a:solidFill>
            <a:prstDash val="solid"/>
          </a:ln>
        </p:spPr>
      </p:cxnSp>
    </p:spTree>
    <p:extLst>
      <p:ext uri="{BB962C8B-B14F-4D97-AF65-F5344CB8AC3E}">
        <p14:creationId xmlns:p14="http://schemas.microsoft.com/office/powerpoint/2010/main" val="173653429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70D65B5-4C2E-4595-8F11-ED551E8DEAB5}"/>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98BD36AD-6F37-4ADC-93A5-68FB37BE6A0C}"/>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A flat leaderboard answers the wrong question</a:t>
            </a:r>
          </a:p>
        </p:txBody>
      </p:sp>
      <p:cxnSp>
        <p:nvCxnSpPr>
          <p:cNvPr id="51"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C5A40709-662D-4264-8A3F-E3B6290C68C2}"/>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4</a:t>
            </a:r>
          </a:p>
        </p:txBody>
      </p:sp>
      <p:sp>
        <p:nvSpPr>
          <p:cNvPr id="5" name="">
            <a:extLst xmlns:a="http://schemas.openxmlformats.org/drawingml/2006/main">
              <a:ext uri="{FF2B5EF4-FFF2-40B4-BE49-F238E27FC236}">
                <a16:creationId xmlns:a16="http://schemas.microsoft.com/office/drawing/2014/main" id="{B1429E0D-BFEE-4745-813C-E57F3957AE09}"/>
              </a:ext>
            </a:extLst>
          </p:cNvPr>
          <p:cNvSpPr>
            <a:spLocks xmlns:a="http://schemas.openxmlformats.org/drawingml/2006/main" noGrp="1"/>
          </p:cNvSpPr>
          <p:nvPr/>
        </p:nvSpPr>
        <p:spPr>
          <a:xfrm xmlns:a="http://schemas.openxmlformats.org/drawingml/2006/main">
            <a:off x="400050" y="1466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i="0">
                <a:solidFill>
                  <a:srgbClr val="B83A3A"/>
                </a:solidFill>
                <a:latin typeface="Helvetica Neue"/>
                <a:ea typeface="Helvetica Neue"/>
                <a:cs typeface="Helvetica Neue"/>
              </a:defRPr>
            </a:pPr>
            <a:r>
              <a:rPr sz="1350" b="1" i="0">
                <a:solidFill>
                  <a:srgbClr val="B83A3A"/>
                </a:solidFill>
                <a:latin typeface="Helvetica Neue"/>
                <a:ea typeface="Helvetica Neue"/>
                <a:cs typeface="Helvetica Neue"/>
              </a:rPr>
              <a:t>FLAT MODEL RACE</a:t>
            </a:r>
          </a:p>
        </p:txBody>
      </p:sp>
      <p:sp>
        <p:nvSpPr>
          <p:cNvPr id="6" name="">
            <a:extLst xmlns:a="http://schemas.openxmlformats.org/drawingml/2006/main">
              <a:ext uri="{FF2B5EF4-FFF2-40B4-BE49-F238E27FC236}">
                <a16:creationId xmlns:a16="http://schemas.microsoft.com/office/drawing/2014/main" id="{6373EC02-7EF3-49F8-A819-912ACA5AF1D8}"/>
              </a:ext>
            </a:extLst>
          </p:cNvPr>
          <p:cNvSpPr>
            <a:spLocks xmlns:a="http://schemas.openxmlformats.org/drawingml/2006/main" noGrp="1"/>
          </p:cNvSpPr>
          <p:nvPr/>
        </p:nvSpPr>
        <p:spPr>
          <a:xfrm xmlns:a="http://schemas.openxmlformats.org/drawingml/2006/main">
            <a:off x="400050" y="18764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One state-error metric</a:t>
            </a:r>
          </a:p>
          <a:p xmlns:a="http://schemas.openxmlformats.org/drawingml/2006/main">
            <a:pPr algn="l">
              <a:buNone/>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for unlike learned objects</a:t>
            </a:r>
          </a:p>
        </p:txBody>
      </p:sp>
      <p:sp>
        <p:nvSpPr>
          <p:cNvPr id="7" name="">
            <a:extLst xmlns:a="http://schemas.openxmlformats.org/drawingml/2006/main">
              <a:ext uri="{FF2B5EF4-FFF2-40B4-BE49-F238E27FC236}">
                <a16:creationId xmlns:a16="http://schemas.microsoft.com/office/drawing/2014/main" id="{4339C8AA-4A98-4572-95A7-5A697455D316}"/>
              </a:ext>
            </a:extLst>
          </p:cNvPr>
          <p:cNvSpPr>
            <a:spLocks xmlns:a="http://schemas.openxmlformats.org/drawingml/2006/main" noGrp="1"/>
          </p:cNvSpPr>
          <p:nvPr/>
        </p:nvSpPr>
        <p:spPr>
          <a:xfrm xmlns:a="http://schemas.openxmlformats.org/drawingml/2006/main">
            <a:off x="400050" y="30480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B83A3A"/>
                </a:solidFill>
                <a:latin typeface="Helvetica Neue"/>
                <a:ea typeface="Helvetica Neue"/>
                <a:cs typeface="Helvetica Neue"/>
              </a:defRPr>
            </a:pPr>
            <a:r>
              <a:rPr sz="1575" b="1" i="0">
                <a:solidFill>
                  <a:srgbClr val="B83A3A"/>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75E0A837-46C0-406C-90CD-9675065AB284}"/>
              </a:ext>
            </a:extLst>
          </p:cNvPr>
          <p:cNvSpPr>
            <a:spLocks xmlns:a="http://schemas.openxmlformats.org/drawingml/2006/main" noGrp="1"/>
          </p:cNvSpPr>
          <p:nvPr/>
        </p:nvSpPr>
        <p:spPr>
          <a:xfrm xmlns:a="http://schemas.openxmlformats.org/drawingml/2006/main">
            <a:off x="685800" y="30480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Hides equation and simulator access</a:t>
            </a:r>
          </a:p>
        </p:txBody>
      </p:sp>
      <p:sp>
        <p:nvSpPr>
          <p:cNvPr id="9" name="">
            <a:extLst xmlns:a="http://schemas.openxmlformats.org/drawingml/2006/main">
              <a:ext uri="{FF2B5EF4-FFF2-40B4-BE49-F238E27FC236}">
                <a16:creationId xmlns:a16="http://schemas.microsoft.com/office/drawing/2014/main" id="{9B42EBE4-FC9B-4E73-BAD2-837DA9953603}"/>
              </a:ext>
            </a:extLst>
          </p:cNvPr>
          <p:cNvSpPr>
            <a:spLocks xmlns:a="http://schemas.openxmlformats.org/drawingml/2006/main" noGrp="1"/>
          </p:cNvSpPr>
          <p:nvPr/>
        </p:nvSpPr>
        <p:spPr>
          <a:xfrm xmlns:a="http://schemas.openxmlformats.org/drawingml/2006/main">
            <a:off x="400050" y="36004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B83A3A"/>
                </a:solidFill>
                <a:latin typeface="Helvetica Neue"/>
                <a:ea typeface="Helvetica Neue"/>
                <a:cs typeface="Helvetica Neue"/>
              </a:defRPr>
            </a:pPr>
            <a:r>
              <a:rPr sz="1575" b="1" i="0">
                <a:solidFill>
                  <a:srgbClr val="B83A3A"/>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D569FEDC-D6E8-49B6-A2B4-2E20F03BF100}"/>
              </a:ext>
            </a:extLst>
          </p:cNvPr>
          <p:cNvSpPr>
            <a:spLocks xmlns:a="http://schemas.openxmlformats.org/drawingml/2006/main" noGrp="1"/>
          </p:cNvSpPr>
          <p:nvPr/>
        </p:nvSpPr>
        <p:spPr>
          <a:xfrm xmlns:a="http://schemas.openxmlformats.org/drawingml/2006/main">
            <a:off x="685800" y="36004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Rewards privileged data</a:t>
            </a:r>
          </a:p>
        </p:txBody>
      </p:sp>
      <p:sp>
        <p:nvSpPr>
          <p:cNvPr id="11" name="">
            <a:extLst xmlns:a="http://schemas.openxmlformats.org/drawingml/2006/main">
              <a:ext uri="{FF2B5EF4-FFF2-40B4-BE49-F238E27FC236}">
                <a16:creationId xmlns:a16="http://schemas.microsoft.com/office/drawing/2014/main" id="{C84EA030-253F-423E-AED6-872B6EA266C4}"/>
              </a:ext>
            </a:extLst>
          </p:cNvPr>
          <p:cNvSpPr>
            <a:spLocks xmlns:a="http://schemas.openxmlformats.org/drawingml/2006/main" noGrp="1"/>
          </p:cNvSpPr>
          <p:nvPr/>
        </p:nvSpPr>
        <p:spPr>
          <a:xfrm xmlns:a="http://schemas.openxmlformats.org/drawingml/2006/main">
            <a:off x="400050" y="41529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B83A3A"/>
                </a:solidFill>
                <a:latin typeface="Helvetica Neue"/>
                <a:ea typeface="Helvetica Neue"/>
                <a:cs typeface="Helvetica Neue"/>
              </a:defRPr>
            </a:pPr>
            <a:r>
              <a:rPr sz="1575" b="1" i="0">
                <a:solidFill>
                  <a:srgbClr val="B83A3A"/>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FED4B916-E500-45D6-A192-35D529E9BE25}"/>
              </a:ext>
            </a:extLst>
          </p:cNvPr>
          <p:cNvSpPr>
            <a:spLocks xmlns:a="http://schemas.openxmlformats.org/drawingml/2006/main" noGrp="1"/>
          </p:cNvSpPr>
          <p:nvPr/>
        </p:nvSpPr>
        <p:spPr>
          <a:xfrm xmlns:a="http://schemas.openxmlformats.org/drawingml/2006/main">
            <a:off x="685800" y="41529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Ignores solver feedback and failure</a:t>
            </a:r>
          </a:p>
        </p:txBody>
      </p:sp>
      <p:cxnSp>
        <p:nvCxnSpPr>
          <p:cNvPr id="61" name=""/>
          <p:cNvCxnSpPr/>
          <p:nvPr/>
        </p:nvCxnSpPr>
        <p:spPr>
          <a:xfrm xmlns:a="http://schemas.openxmlformats.org/drawingml/2006/main">
            <a:off x="5953125" y="1428750"/>
            <a:ext cx="953" cy="953"/>
          </a:xfrm>
          <a:prstGeom xmlns:a="http://schemas.openxmlformats.org/drawingml/2006/main" prst="straightConnector1">
            <a:avLst/>
          </a:prstGeom>
          <a:ln xmlns:a="http://schemas.openxmlformats.org/drawingml/2006/main" w="9525">
            <a:solidFill>
              <a:srgbClr val="B8BCC4"/>
            </a:solidFill>
            <a:prstDash val="solid"/>
          </a:ln>
        </p:spPr>
      </p:cxnSp>
      <p:sp>
        <p:nvSpPr>
          <p:cNvPr id="14" name="">
            <a:extLst xmlns:a="http://schemas.openxmlformats.org/drawingml/2006/main">
              <a:ext uri="{FF2B5EF4-FFF2-40B4-BE49-F238E27FC236}">
                <a16:creationId xmlns:a16="http://schemas.microsoft.com/office/drawing/2014/main" id="{8A75295B-A54B-4C1F-93C7-7F4AD5DADC03}"/>
              </a:ext>
            </a:extLst>
          </p:cNvPr>
          <p:cNvSpPr>
            <a:spLocks xmlns:a="http://schemas.openxmlformats.org/drawingml/2006/main" noGrp="1"/>
          </p:cNvSpPr>
          <p:nvPr/>
        </p:nvSpPr>
        <p:spPr>
          <a:xfrm xmlns:a="http://schemas.openxmlformats.org/drawingml/2006/main">
            <a:off x="5953125" y="1428750"/>
            <a:ext cx="9525" cy="43815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3FD9BBAC-0AED-4F45-A825-E8229C5F5308}"/>
              </a:ext>
            </a:extLst>
          </p:cNvPr>
          <p:cNvSpPr>
            <a:spLocks xmlns:a="http://schemas.openxmlformats.org/drawingml/2006/main" noGrp="1"/>
          </p:cNvSpPr>
          <p:nvPr/>
        </p:nvSpPr>
        <p:spPr>
          <a:xfrm xmlns:a="http://schemas.openxmlformats.org/drawingml/2006/main">
            <a:off x="6534150" y="14668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i="0">
                <a:solidFill>
                  <a:srgbClr val="247A55"/>
                </a:solidFill>
                <a:latin typeface="Helvetica Neue"/>
                <a:ea typeface="Helvetica Neue"/>
                <a:cs typeface="Helvetica Neue"/>
              </a:defRPr>
            </a:pPr>
            <a:r>
              <a:rPr sz="1350" b="1" i="0">
                <a:solidFill>
                  <a:srgbClr val="247A55"/>
                </a:solidFill>
                <a:latin typeface="Helvetica Neue"/>
                <a:ea typeface="Helvetica Neue"/>
                <a:cs typeface="Helvetica Neue"/>
              </a:rPr>
              <a:t>LINKED CLOSURE PROGRAM</a:t>
            </a:r>
          </a:p>
        </p:txBody>
      </p:sp>
      <p:sp>
        <p:nvSpPr>
          <p:cNvPr id="16" name="">
            <a:extLst xmlns:a="http://schemas.openxmlformats.org/drawingml/2006/main">
              <a:ext uri="{FF2B5EF4-FFF2-40B4-BE49-F238E27FC236}">
                <a16:creationId xmlns:a16="http://schemas.microsoft.com/office/drawing/2014/main" id="{1BF8EF2D-2BB0-488D-9551-E77A3606E6C0}"/>
              </a:ext>
            </a:extLst>
          </p:cNvPr>
          <p:cNvSpPr>
            <a:spLocks xmlns:a="http://schemas.openxmlformats.org/drawingml/2006/main" noGrp="1"/>
          </p:cNvSpPr>
          <p:nvPr/>
        </p:nvSpPr>
        <p:spPr>
          <a:xfrm xmlns:a="http://schemas.openxmlformats.org/drawingml/2006/main">
            <a:off x="6534150" y="1876425"/>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Ask when each additional</a:t>
            </a:r>
          </a:p>
          <a:p xmlns:a="http://schemas.openxmlformats.org/drawingml/2006/main">
            <a:pPr algn="l">
              <a:buNone/>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kind of information is necessary</a:t>
            </a:r>
          </a:p>
        </p:txBody>
      </p:sp>
      <p:sp>
        <p:nvSpPr>
          <p:cNvPr id="17" name="">
            <a:extLst xmlns:a="http://schemas.openxmlformats.org/drawingml/2006/main">
              <a:ext uri="{FF2B5EF4-FFF2-40B4-BE49-F238E27FC236}">
                <a16:creationId xmlns:a16="http://schemas.microsoft.com/office/drawing/2014/main" id="{93F223C6-F8E3-42BF-9FEA-C89C269290D6}"/>
              </a:ext>
            </a:extLst>
          </p:cNvPr>
          <p:cNvSpPr>
            <a:spLocks xmlns:a="http://schemas.openxmlformats.org/drawingml/2006/main" noGrp="1"/>
          </p:cNvSpPr>
          <p:nvPr/>
        </p:nvSpPr>
        <p:spPr>
          <a:xfrm xmlns:a="http://schemas.openxmlformats.org/drawingml/2006/main">
            <a:off x="6534150" y="30480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247A55"/>
                </a:solidFill>
                <a:latin typeface="Helvetica Neue"/>
                <a:ea typeface="Helvetica Neue"/>
                <a:cs typeface="Helvetica Neue"/>
              </a:defRPr>
            </a:pPr>
            <a:r>
              <a:rPr sz="1575" b="1" i="0">
                <a:solidFill>
                  <a:srgbClr val="247A55"/>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CB24F662-6AF0-4ACF-A66E-423537501A96}"/>
              </a:ext>
            </a:extLst>
          </p:cNvPr>
          <p:cNvSpPr>
            <a:spLocks xmlns:a="http://schemas.openxmlformats.org/drawingml/2006/main" noGrp="1"/>
          </p:cNvSpPr>
          <p:nvPr/>
        </p:nvSpPr>
        <p:spPr>
          <a:xfrm xmlns:a="http://schemas.openxmlformats.org/drawingml/2006/main">
            <a:off x="6819900" y="3048000"/>
            <a:ext cx="466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Declare retained and discarded physics</a:t>
            </a:r>
          </a:p>
        </p:txBody>
      </p:sp>
      <p:sp>
        <p:nvSpPr>
          <p:cNvPr id="19" name="">
            <a:extLst xmlns:a="http://schemas.openxmlformats.org/drawingml/2006/main">
              <a:ext uri="{FF2B5EF4-FFF2-40B4-BE49-F238E27FC236}">
                <a16:creationId xmlns:a16="http://schemas.microsoft.com/office/drawing/2014/main" id="{8DD88F2D-7069-4389-AA89-68A6D8A93521}"/>
              </a:ext>
            </a:extLst>
          </p:cNvPr>
          <p:cNvSpPr>
            <a:spLocks xmlns:a="http://schemas.openxmlformats.org/drawingml/2006/main" noGrp="1"/>
          </p:cNvSpPr>
          <p:nvPr/>
        </p:nvSpPr>
        <p:spPr>
          <a:xfrm xmlns:a="http://schemas.openxmlformats.org/drawingml/2006/main">
            <a:off x="6534150" y="36004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247A55"/>
                </a:solidFill>
                <a:latin typeface="Helvetica Neue"/>
                <a:ea typeface="Helvetica Neue"/>
                <a:cs typeface="Helvetica Neue"/>
              </a:defRPr>
            </a:pPr>
            <a:r>
              <a:rPr sz="1575" b="1" i="0">
                <a:solidFill>
                  <a:srgbClr val="247A55"/>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3D27BC41-F3BD-4B24-90FE-67C9407E855F}"/>
              </a:ext>
            </a:extLst>
          </p:cNvPr>
          <p:cNvSpPr>
            <a:spLocks xmlns:a="http://schemas.openxmlformats.org/drawingml/2006/main" noGrp="1"/>
          </p:cNvSpPr>
          <p:nvPr/>
        </p:nvSpPr>
        <p:spPr>
          <a:xfrm xmlns:a="http://schemas.openxmlformats.org/drawingml/2006/main">
            <a:off x="6819900" y="3600450"/>
            <a:ext cx="466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Estimate the closure defect</a:t>
            </a:r>
          </a:p>
        </p:txBody>
      </p:sp>
      <p:sp>
        <p:nvSpPr>
          <p:cNvPr id="21" name="">
            <a:extLst xmlns:a="http://schemas.openxmlformats.org/drawingml/2006/main">
              <a:ext uri="{FF2B5EF4-FFF2-40B4-BE49-F238E27FC236}">
                <a16:creationId xmlns:a16="http://schemas.microsoft.com/office/drawing/2014/main" id="{682D1A58-6B54-4AB4-909F-9C8E30A11BA2}"/>
              </a:ext>
            </a:extLst>
          </p:cNvPr>
          <p:cNvSpPr>
            <a:spLocks xmlns:a="http://schemas.openxmlformats.org/drawingml/2006/main" noGrp="1"/>
          </p:cNvSpPr>
          <p:nvPr/>
        </p:nvSpPr>
        <p:spPr>
          <a:xfrm xmlns:a="http://schemas.openxmlformats.org/drawingml/2006/main">
            <a:off x="6534150" y="41529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247A55"/>
                </a:solidFill>
                <a:latin typeface="Helvetica Neue"/>
                <a:ea typeface="Helvetica Neue"/>
                <a:cs typeface="Helvetica Neue"/>
              </a:defRPr>
            </a:pPr>
            <a:r>
              <a:rPr sz="1575" b="1" i="0">
                <a:solidFill>
                  <a:srgbClr val="247A55"/>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82979969-0BE2-4ED0-A388-91120FF17865}"/>
              </a:ext>
            </a:extLst>
          </p:cNvPr>
          <p:cNvSpPr>
            <a:spLocks xmlns:a="http://schemas.openxmlformats.org/drawingml/2006/main" noGrp="1"/>
          </p:cNvSpPr>
          <p:nvPr/>
        </p:nvSpPr>
        <p:spPr>
          <a:xfrm xmlns:a="http://schemas.openxmlformats.org/drawingml/2006/main">
            <a:off x="6819900" y="4152900"/>
            <a:ext cx="466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Test targets and embedded rollouts</a:t>
            </a:r>
          </a:p>
        </p:txBody>
      </p:sp>
    </p:spTree>
    <p:extLst>
      <p:ext uri="{BB962C8B-B14F-4D97-AF65-F5344CB8AC3E}">
        <p14:creationId xmlns:p14="http://schemas.microsoft.com/office/powerpoint/2010/main" val="36674549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0EEE303-6819-4C10-96A6-5EE8AE11B6E1}"/>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2DC6E102-82E7-4538-A215-BB69F8C0FBCD}"/>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Two layers balance rigor and relevance</a:t>
            </a:r>
          </a:p>
        </p:txBody>
      </p:sp>
      <p:cxnSp>
        <p:nvCxnSpPr>
          <p:cNvPr id="33"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3ECC06BA-86AD-4EE0-BF67-0528BC83E794}"/>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5</a:t>
            </a:r>
          </a:p>
        </p:txBody>
      </p:sp>
      <p:sp>
        <p:nvSpPr>
          <p:cNvPr id="5" name="">
            <a:extLst xmlns:a="http://schemas.openxmlformats.org/drawingml/2006/main">
              <a:ext uri="{FF2B5EF4-FFF2-40B4-BE49-F238E27FC236}">
                <a16:creationId xmlns:a16="http://schemas.microsoft.com/office/drawing/2014/main" id="{10162309-DD28-4019-B1D8-AD8F5F542FC1}"/>
              </a:ext>
            </a:extLst>
          </p:cNvPr>
          <p:cNvSpPr>
            <a:spLocks xmlns:a="http://schemas.openxmlformats.org/drawingml/2006/main" noGrp="1"/>
          </p:cNvSpPr>
          <p:nvPr/>
        </p:nvSpPr>
        <p:spPr>
          <a:xfrm xmlns:a="http://schemas.openxmlformats.org/drawingml/2006/main">
            <a:off x="400050" y="1495425"/>
            <a:ext cx="5067300" cy="36671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83E4FC37-2FCB-4D6D-BB42-D9B377000082}"/>
              </a:ext>
            </a:extLst>
          </p:cNvPr>
          <p:cNvSpPr>
            <a:spLocks xmlns:a="http://schemas.openxmlformats.org/drawingml/2006/main" noGrp="1"/>
          </p:cNvSpPr>
          <p:nvPr/>
        </p:nvSpPr>
        <p:spPr>
          <a:xfrm xmlns:a="http://schemas.openxmlformats.org/drawingml/2006/main">
            <a:off x="66675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43A72"/>
                </a:solidFill>
                <a:latin typeface="Helvetica Neue"/>
                <a:ea typeface="Helvetica Neue"/>
                <a:cs typeface="Helvetica Neue"/>
              </a:defRPr>
            </a:pPr>
            <a:r>
              <a:rPr sz="1350" b="1" i="0">
                <a:solidFill>
                  <a:srgbClr val="143A72"/>
                </a:solidFill>
                <a:latin typeface="Helvetica Neue"/>
                <a:ea typeface="Helvetica Neue"/>
                <a:cs typeface="Helvetica Neue"/>
              </a:rPr>
              <a:t>LAYER A</a:t>
            </a:r>
          </a:p>
        </p:txBody>
      </p:sp>
      <p:sp>
        <p:nvSpPr>
          <p:cNvPr id="7" name="">
            <a:extLst xmlns:a="http://schemas.openxmlformats.org/drawingml/2006/main">
              <a:ext uri="{FF2B5EF4-FFF2-40B4-BE49-F238E27FC236}">
                <a16:creationId xmlns:a16="http://schemas.microsoft.com/office/drawing/2014/main" id="{AF9A28C6-B90E-4A1B-8448-F119260FB181}"/>
              </a:ext>
            </a:extLst>
          </p:cNvPr>
          <p:cNvSpPr>
            <a:spLocks xmlns:a="http://schemas.openxmlformats.org/drawingml/2006/main" noGrp="1"/>
          </p:cNvSpPr>
          <p:nvPr/>
        </p:nvSpPr>
        <p:spPr>
          <a:xfrm xmlns:a="http://schemas.openxmlformats.org/drawingml/2006/main">
            <a:off x="666750" y="2133600"/>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Canonical validation</a:t>
            </a:r>
          </a:p>
        </p:txBody>
      </p:sp>
      <p:sp>
        <p:nvSpPr>
          <p:cNvPr id="8" name="">
            <a:extLst xmlns:a="http://schemas.openxmlformats.org/drawingml/2006/main">
              <a:ext uri="{FF2B5EF4-FFF2-40B4-BE49-F238E27FC236}">
                <a16:creationId xmlns:a16="http://schemas.microsoft.com/office/drawing/2014/main" id="{81598A0D-0BBD-48D1-BC2A-08087D8B1301}"/>
              </a:ext>
            </a:extLst>
          </p:cNvPr>
          <p:cNvSpPr>
            <a:spLocks xmlns:a="http://schemas.openxmlformats.org/drawingml/2006/main" noGrp="1"/>
          </p:cNvSpPr>
          <p:nvPr/>
        </p:nvSpPr>
        <p:spPr>
          <a:xfrm xmlns:a="http://schemas.openxmlformats.org/drawingml/2006/main">
            <a:off x="666750" y="29051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2DFD98BF-8466-41DA-AA54-D8990D12A008}"/>
              </a:ext>
            </a:extLst>
          </p:cNvPr>
          <p:cNvSpPr>
            <a:spLocks xmlns:a="http://schemas.openxmlformats.org/drawingml/2006/main" noGrp="1"/>
          </p:cNvSpPr>
          <p:nvPr/>
        </p:nvSpPr>
        <p:spPr>
          <a:xfrm xmlns:a="http://schemas.openxmlformats.org/drawingml/2006/main">
            <a:off x="952500" y="2905125"/>
            <a:ext cx="3952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Hard particles → Boltzmann</a:t>
            </a:r>
          </a:p>
        </p:txBody>
      </p:sp>
      <p:sp>
        <p:nvSpPr>
          <p:cNvPr id="10" name="">
            <a:extLst xmlns:a="http://schemas.openxmlformats.org/drawingml/2006/main">
              <a:ext uri="{FF2B5EF4-FFF2-40B4-BE49-F238E27FC236}">
                <a16:creationId xmlns:a16="http://schemas.microsoft.com/office/drawing/2014/main" id="{4D872B06-66A2-461B-BD74-2D90D2A9036F}"/>
              </a:ext>
            </a:extLst>
          </p:cNvPr>
          <p:cNvSpPr>
            <a:spLocks xmlns:a="http://schemas.openxmlformats.org/drawingml/2006/main" noGrp="1"/>
          </p:cNvSpPr>
          <p:nvPr/>
        </p:nvSpPr>
        <p:spPr>
          <a:xfrm xmlns:a="http://schemas.openxmlformats.org/drawingml/2006/main">
            <a:off x="666750" y="34575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97CEA37F-8B55-434F-BED4-E6FDE4B65008}"/>
              </a:ext>
            </a:extLst>
          </p:cNvPr>
          <p:cNvSpPr>
            <a:spLocks xmlns:a="http://schemas.openxmlformats.org/drawingml/2006/main" noGrp="1"/>
          </p:cNvSpPr>
          <p:nvPr/>
        </p:nvSpPr>
        <p:spPr>
          <a:xfrm xmlns:a="http://schemas.openxmlformats.org/drawingml/2006/main">
            <a:off x="952500" y="3457575"/>
            <a:ext cx="3952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Nonlinear waves → wave kinetics</a:t>
            </a:r>
          </a:p>
        </p:txBody>
      </p:sp>
      <p:sp>
        <p:nvSpPr>
          <p:cNvPr id="12" name="">
            <a:extLst xmlns:a="http://schemas.openxmlformats.org/drawingml/2006/main">
              <a:ext uri="{FF2B5EF4-FFF2-40B4-BE49-F238E27FC236}">
                <a16:creationId xmlns:a16="http://schemas.microsoft.com/office/drawing/2014/main" id="{198AF1FD-7D33-4575-956E-28057031ED4F}"/>
              </a:ext>
            </a:extLst>
          </p:cNvPr>
          <p:cNvSpPr>
            <a:spLocks xmlns:a="http://schemas.openxmlformats.org/drawingml/2006/main" noGrp="1"/>
          </p:cNvSpPr>
          <p:nvPr/>
        </p:nvSpPr>
        <p:spPr>
          <a:xfrm xmlns:a="http://schemas.openxmlformats.org/drawingml/2006/main">
            <a:off x="666750" y="40100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41066BD3-1B87-4EB0-9D3F-E65EA8023C13}"/>
              </a:ext>
            </a:extLst>
          </p:cNvPr>
          <p:cNvSpPr>
            <a:spLocks xmlns:a="http://schemas.openxmlformats.org/drawingml/2006/main" noGrp="1"/>
          </p:cNvSpPr>
          <p:nvPr/>
        </p:nvSpPr>
        <p:spPr>
          <a:xfrm xmlns:a="http://schemas.openxmlformats.org/drawingml/2006/main">
            <a:off x="952500" y="4010025"/>
            <a:ext cx="3952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Boltzmann → Euler / NSF</a:t>
            </a:r>
          </a:p>
        </p:txBody>
      </p:sp>
      <p:sp>
        <p:nvSpPr>
          <p:cNvPr id="14" name="">
            <a:extLst xmlns:a="http://schemas.openxmlformats.org/drawingml/2006/main">
              <a:ext uri="{FF2B5EF4-FFF2-40B4-BE49-F238E27FC236}">
                <a16:creationId xmlns:a16="http://schemas.microsoft.com/office/drawing/2014/main" id="{699A5D65-3BCC-4356-A6DF-5F5240736543}"/>
              </a:ext>
            </a:extLst>
          </p:cNvPr>
          <p:cNvSpPr>
            <a:spLocks xmlns:a="http://schemas.openxmlformats.org/drawingml/2006/main" noGrp="1"/>
          </p:cNvSpPr>
          <p:nvPr/>
        </p:nvSpPr>
        <p:spPr>
          <a:xfrm xmlns:a="http://schemas.openxmlformats.org/drawingml/2006/main">
            <a:off x="6324600" y="1495425"/>
            <a:ext cx="5467350" cy="3667125"/>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BAE27C9C-3D28-431A-8A8D-18910EEBF7A0}"/>
              </a:ext>
            </a:extLst>
          </p:cNvPr>
          <p:cNvSpPr>
            <a:spLocks xmlns:a="http://schemas.openxmlformats.org/drawingml/2006/main" noGrp="1"/>
          </p:cNvSpPr>
          <p:nvPr/>
        </p:nvSpPr>
        <p:spPr>
          <a:xfrm xmlns:a="http://schemas.openxmlformats.org/drawingml/2006/main">
            <a:off x="6591300" y="17526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43A72"/>
                </a:solidFill>
                <a:latin typeface="Helvetica Neue"/>
                <a:ea typeface="Helvetica Neue"/>
                <a:cs typeface="Helvetica Neue"/>
              </a:defRPr>
            </a:pPr>
            <a:r>
              <a:rPr sz="1350" b="1" i="0">
                <a:solidFill>
                  <a:srgbClr val="143A72"/>
                </a:solidFill>
                <a:latin typeface="Helvetica Neue"/>
                <a:ea typeface="Helvetica Neue"/>
                <a:cs typeface="Helvetica Neue"/>
              </a:rPr>
              <a:t>LAYER B</a:t>
            </a:r>
          </a:p>
        </p:txBody>
      </p:sp>
      <p:sp>
        <p:nvSpPr>
          <p:cNvPr id="16" name="">
            <a:extLst xmlns:a="http://schemas.openxmlformats.org/drawingml/2006/main">
              <a:ext uri="{FF2B5EF4-FFF2-40B4-BE49-F238E27FC236}">
                <a16:creationId xmlns:a16="http://schemas.microsoft.com/office/drawing/2014/main" id="{85E2195C-904E-477D-A620-92A017D2C89A}"/>
              </a:ext>
            </a:extLst>
          </p:cNvPr>
          <p:cNvSpPr>
            <a:spLocks xmlns:a="http://schemas.openxmlformats.org/drawingml/2006/main" noGrp="1"/>
          </p:cNvSpPr>
          <p:nvPr/>
        </p:nvSpPr>
        <p:spPr>
          <a:xfrm xmlns:a="http://schemas.openxmlformats.org/drawingml/2006/main">
            <a:off x="6591300" y="213360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TEMPEST applications</a:t>
            </a:r>
          </a:p>
        </p:txBody>
      </p:sp>
      <p:sp>
        <p:nvSpPr>
          <p:cNvPr id="17" name="">
            <a:extLst xmlns:a="http://schemas.openxmlformats.org/drawingml/2006/main">
              <a:ext uri="{FF2B5EF4-FFF2-40B4-BE49-F238E27FC236}">
                <a16:creationId xmlns:a16="http://schemas.microsoft.com/office/drawing/2014/main" id="{9F5FF7E1-3607-4585-8080-AC5E6D15797D}"/>
              </a:ext>
            </a:extLst>
          </p:cNvPr>
          <p:cNvSpPr>
            <a:spLocks xmlns:a="http://schemas.openxmlformats.org/drawingml/2006/main" noGrp="1"/>
          </p:cNvSpPr>
          <p:nvPr/>
        </p:nvSpPr>
        <p:spPr>
          <a:xfrm xmlns:a="http://schemas.openxmlformats.org/drawingml/2006/main">
            <a:off x="6591300" y="29051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8AEB5"/>
                </a:solidFill>
                <a:latin typeface="Helvetica Neue"/>
                <a:ea typeface="Helvetica Neue"/>
                <a:cs typeface="Helvetica Neue"/>
              </a:defRPr>
            </a:pPr>
            <a:r>
              <a:rPr sz="1575" b="1" i="0">
                <a:solidFill>
                  <a:srgbClr val="18AEB5"/>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03602C2B-E87B-473E-A654-D493935902D7}"/>
              </a:ext>
            </a:extLst>
          </p:cNvPr>
          <p:cNvSpPr>
            <a:spLocks xmlns:a="http://schemas.openxmlformats.org/drawingml/2006/main" noGrp="1"/>
          </p:cNvSpPr>
          <p:nvPr/>
        </p:nvSpPr>
        <p:spPr>
          <a:xfrm xmlns:a="http://schemas.openxmlformats.org/drawingml/2006/main">
            <a:off x="6877050" y="290512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B1: dusty-plasma closure ladder</a:t>
            </a:r>
          </a:p>
        </p:txBody>
      </p:sp>
      <p:sp>
        <p:nvSpPr>
          <p:cNvPr id="19" name="">
            <a:extLst xmlns:a="http://schemas.openxmlformats.org/drawingml/2006/main">
              <a:ext uri="{FF2B5EF4-FFF2-40B4-BE49-F238E27FC236}">
                <a16:creationId xmlns:a16="http://schemas.microsoft.com/office/drawing/2014/main" id="{873AF96C-5F1A-498D-82F8-E8440A003258}"/>
              </a:ext>
            </a:extLst>
          </p:cNvPr>
          <p:cNvSpPr>
            <a:spLocks xmlns:a="http://schemas.openxmlformats.org/drawingml/2006/main" noGrp="1"/>
          </p:cNvSpPr>
          <p:nvPr/>
        </p:nvSpPr>
        <p:spPr>
          <a:xfrm xmlns:a="http://schemas.openxmlformats.org/drawingml/2006/main">
            <a:off x="6591300" y="34575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8AEB5"/>
                </a:solidFill>
                <a:latin typeface="Helvetica Neue"/>
                <a:ea typeface="Helvetica Neue"/>
                <a:cs typeface="Helvetica Neue"/>
              </a:defRPr>
            </a:pPr>
            <a:r>
              <a:rPr sz="1575" b="1" i="0">
                <a:solidFill>
                  <a:srgbClr val="18AEB5"/>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1A87E654-10B9-44A6-A8EC-1A3AB1656A51}"/>
              </a:ext>
            </a:extLst>
          </p:cNvPr>
          <p:cNvSpPr>
            <a:spLocks xmlns:a="http://schemas.openxmlformats.org/drawingml/2006/main" noGrp="1"/>
          </p:cNvSpPr>
          <p:nvPr/>
        </p:nvSpPr>
        <p:spPr>
          <a:xfrm xmlns:a="http://schemas.openxmlformats.org/drawingml/2006/main">
            <a:off x="6877050" y="345757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B2: supernova 3D→1D turbulence</a:t>
            </a:r>
          </a:p>
        </p:txBody>
      </p:sp>
      <p:sp>
        <p:nvSpPr>
          <p:cNvPr id="21" name="">
            <a:extLst xmlns:a="http://schemas.openxmlformats.org/drawingml/2006/main">
              <a:ext uri="{FF2B5EF4-FFF2-40B4-BE49-F238E27FC236}">
                <a16:creationId xmlns:a16="http://schemas.microsoft.com/office/drawing/2014/main" id="{71CB41DA-7200-4805-B2B7-AEAB0A6DF785}"/>
              </a:ext>
            </a:extLst>
          </p:cNvPr>
          <p:cNvSpPr>
            <a:spLocks xmlns:a="http://schemas.openxmlformats.org/drawingml/2006/main" noGrp="1"/>
          </p:cNvSpPr>
          <p:nvPr/>
        </p:nvSpPr>
        <p:spPr>
          <a:xfrm xmlns:a="http://schemas.openxmlformats.org/drawingml/2006/main">
            <a:off x="6591300" y="40100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8AEB5"/>
                </a:solidFill>
                <a:latin typeface="Helvetica Neue"/>
                <a:ea typeface="Helvetica Neue"/>
                <a:cs typeface="Helvetica Neue"/>
              </a:defRPr>
            </a:pPr>
            <a:r>
              <a:rPr sz="1575" b="1" i="0">
                <a:solidFill>
                  <a:srgbClr val="18AEB5"/>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2518AF66-0495-4A87-92B9-6CB60C98C34F}"/>
              </a:ext>
            </a:extLst>
          </p:cNvPr>
          <p:cNvSpPr>
            <a:spLocks xmlns:a="http://schemas.openxmlformats.org/drawingml/2006/main" noGrp="1"/>
          </p:cNvSpPr>
          <p:nvPr/>
        </p:nvSpPr>
        <p:spPr>
          <a:xfrm xmlns:a="http://schemas.openxmlformats.org/drawingml/2006/main">
            <a:off x="6877050" y="4010025"/>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Profile-specific projections and constraints</a:t>
            </a:r>
          </a:p>
        </p:txBody>
      </p:sp>
      <p:sp>
        <p:nvSpPr>
          <p:cNvPr id="23" name="">
            <a:extLst xmlns:a="http://schemas.openxmlformats.org/drawingml/2006/main">
              <a:ext uri="{FF2B5EF4-FFF2-40B4-BE49-F238E27FC236}">
                <a16:creationId xmlns:a16="http://schemas.microsoft.com/office/drawing/2014/main" id="{10FD410C-CDCF-4014-A18E-CB0E4981E92B}"/>
              </a:ext>
            </a:extLst>
          </p:cNvPr>
          <p:cNvSpPr>
            <a:spLocks xmlns:a="http://schemas.openxmlformats.org/drawingml/2006/main" noGrp="1"/>
          </p:cNvSpPr>
          <p:nvPr/>
        </p:nvSpPr>
        <p:spPr>
          <a:xfrm xmlns:a="http://schemas.openxmlformats.org/drawingml/2006/main">
            <a:off x="1695450" y="5410200"/>
            <a:ext cx="8829675"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143A72"/>
            </a:solidFill>
            <a:prstDash val="solid"/>
          </a:ln>
        </p:spPr>
      </p:sp>
      <p:sp>
        <p:nvSpPr>
          <p:cNvPr id="24" name="">
            <a:extLst xmlns:a="http://schemas.openxmlformats.org/drawingml/2006/main">
              <a:ext uri="{FF2B5EF4-FFF2-40B4-BE49-F238E27FC236}">
                <a16:creationId xmlns:a16="http://schemas.microsoft.com/office/drawing/2014/main" id="{1550E895-BE3B-4C3C-AA07-B5FB4AC8E643}"/>
              </a:ext>
            </a:extLst>
          </p:cNvPr>
          <p:cNvSpPr>
            <a:spLocks xmlns:a="http://schemas.openxmlformats.org/drawingml/2006/main" noGrp="1"/>
          </p:cNvSpPr>
          <p:nvPr/>
        </p:nvSpPr>
        <p:spPr>
          <a:xfrm xmlns:a="http://schemas.openxmlformats.org/drawingml/2006/main">
            <a:off x="1943100" y="5581650"/>
            <a:ext cx="836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24"/>
          </a:bodyPr>
          <a:lstStyle xmlns:a="http://schemas.openxmlformats.org/drawingml/2006/main"/>
          <a:p xmlns:a="http://schemas.openxmlformats.org/drawingml/2006/main">
            <a:pPr algn="ctr">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Transfer diagnostics and design rules — not coefficients, weights, or theorem assumptions.</a:t>
            </a:r>
          </a:p>
        </p:txBody>
      </p:sp>
    </p:spTree>
    <p:extLst>
      <p:ext uri="{BB962C8B-B14F-4D97-AF65-F5344CB8AC3E}">
        <p14:creationId xmlns:p14="http://schemas.microsoft.com/office/powerpoint/2010/main" val="5115030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2A71E00-069A-4649-B586-4545AD0356C5}"/>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5D94F8E6-C9F9-446C-B817-DF2A0C822804}"/>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Three canonical tests make failure auditable</a:t>
            </a:r>
          </a:p>
        </p:txBody>
      </p:sp>
      <p:cxnSp>
        <p:nvCxnSpPr>
          <p:cNvPr id="31"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913C14BA-9092-4D79-B44D-0B2CA539FDB8}"/>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6</a:t>
            </a:r>
          </a:p>
        </p:txBody>
      </p:sp>
      <p:cxnSp>
        <p:nvCxnSpPr>
          <p:cNvPr id="33" name=""/>
          <p:cNvCxnSpPr/>
          <p:nvPr/>
        </p:nvCxnSpPr>
        <p:spPr>
          <a:xfrm xmlns:a="http://schemas.openxmlformats.org/drawingml/2006/main">
            <a:off x="400050" y="3209925"/>
            <a:ext cx="11391900" cy="953"/>
          </a:xfrm>
          <a:prstGeom xmlns:a="http://schemas.openxmlformats.org/drawingml/2006/main" prst="straightConnector1">
            <a:avLst/>
          </a:prstGeom>
          <a:ln xmlns:a="http://schemas.openxmlformats.org/drawingml/2006/main" w="19050">
            <a:solidFill>
              <a:srgbClr val="000000"/>
            </a:solidFill>
            <a:prstDash val="solid"/>
          </a:ln>
        </p:spPr>
      </p:cxnSp>
      <p:sp>
        <p:nvSpPr>
          <p:cNvPr id="6" name="">
            <a:extLst xmlns:a="http://schemas.openxmlformats.org/drawingml/2006/main">
              <a:ext uri="{FF2B5EF4-FFF2-40B4-BE49-F238E27FC236}">
                <a16:creationId xmlns:a16="http://schemas.microsoft.com/office/drawing/2014/main" id="{E75361DA-8F1A-473A-8BBC-F0F6D5FB41CA}"/>
              </a:ext>
            </a:extLst>
          </p:cNvPr>
          <p:cNvSpPr>
            <a:spLocks xmlns:a="http://schemas.openxmlformats.org/drawingml/2006/main" noGrp="1"/>
          </p:cNvSpPr>
          <p:nvPr/>
        </p:nvSpPr>
        <p:spPr>
          <a:xfrm xmlns:a="http://schemas.openxmlformats.org/drawingml/2006/main">
            <a:off x="590550" y="3143250"/>
            <a:ext cx="142875" cy="142875"/>
          </a:xfrm>
          <a:prstGeom xmlns:a="http://schemas.openxmlformats.org/drawingml/2006/main" prst="ellipse">
            <a:avLst/>
          </a:prstGeom>
          <a:solidFill xmlns:a="http://schemas.openxmlformats.org/drawingml/2006/main">
            <a:srgbClr val="F06A3C"/>
          </a:solidFill>
          <a:ln xmlns:a="http://schemas.openxmlformats.org/drawingml/2006/main" w="4763">
            <a:solidFill>
              <a:srgbClr val="000000"/>
            </a:solidFill>
            <a:prstDash val="solid"/>
          </a:ln>
        </p:spPr>
      </p:sp>
      <p:sp>
        <p:nvSpPr>
          <p:cNvPr id="7" name="">
            <a:extLst xmlns:a="http://schemas.openxmlformats.org/drawingml/2006/main">
              <a:ext uri="{FF2B5EF4-FFF2-40B4-BE49-F238E27FC236}">
                <a16:creationId xmlns:a16="http://schemas.microsoft.com/office/drawing/2014/main" id="{AAE90B73-A180-405E-AC27-45C625AAF6B4}"/>
              </a:ext>
            </a:extLst>
          </p:cNvPr>
          <p:cNvSpPr>
            <a:spLocks xmlns:a="http://schemas.openxmlformats.org/drawingml/2006/main" noGrp="1"/>
          </p:cNvSpPr>
          <p:nvPr/>
        </p:nvSpPr>
        <p:spPr>
          <a:xfrm xmlns:a="http://schemas.openxmlformats.org/drawingml/2006/main">
            <a:off x="590550" y="25717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A1 · CORRELATIONS</a:t>
            </a:r>
          </a:p>
        </p:txBody>
      </p:sp>
      <p:sp>
        <p:nvSpPr>
          <p:cNvPr id="8" name="">
            <a:extLst xmlns:a="http://schemas.openxmlformats.org/drawingml/2006/main">
              <a:ext uri="{FF2B5EF4-FFF2-40B4-BE49-F238E27FC236}">
                <a16:creationId xmlns:a16="http://schemas.microsoft.com/office/drawing/2014/main" id="{97C2DE20-1C17-4939-8FAA-5E8F4AF4903F}"/>
              </a:ext>
            </a:extLst>
          </p:cNvPr>
          <p:cNvSpPr>
            <a:spLocks xmlns:a="http://schemas.openxmlformats.org/drawingml/2006/main" noGrp="1"/>
          </p:cNvSpPr>
          <p:nvPr/>
        </p:nvSpPr>
        <p:spPr>
          <a:xfrm xmlns:a="http://schemas.openxmlformats.org/drawingml/2006/main">
            <a:off x="590550" y="36576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Particles → Boltzmann</a:t>
            </a:r>
          </a:p>
        </p:txBody>
      </p:sp>
      <p:sp>
        <p:nvSpPr>
          <p:cNvPr id="9" name="">
            <a:extLst xmlns:a="http://schemas.openxmlformats.org/drawingml/2006/main">
              <a:ext uri="{FF2B5EF4-FFF2-40B4-BE49-F238E27FC236}">
                <a16:creationId xmlns:a16="http://schemas.microsoft.com/office/drawing/2014/main" id="{05B18DE4-B477-4751-89A5-594DFADB5173}"/>
              </a:ext>
            </a:extLst>
          </p:cNvPr>
          <p:cNvSpPr>
            <a:spLocks xmlns:a="http://schemas.openxmlformats.org/drawingml/2006/main" noGrp="1"/>
          </p:cNvSpPr>
          <p:nvPr/>
        </p:nvSpPr>
        <p:spPr>
          <a:xfrm xmlns:a="http://schemas.openxmlformats.org/drawingml/2006/main">
            <a:off x="590550" y="42481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Factorization, particle cumulants, recollisions, collision ancestry</a:t>
            </a:r>
          </a:p>
        </p:txBody>
      </p:sp>
      <p:sp>
        <p:nvSpPr>
          <p:cNvPr id="10" name="">
            <a:extLst xmlns:a="http://schemas.openxmlformats.org/drawingml/2006/main">
              <a:ext uri="{FF2B5EF4-FFF2-40B4-BE49-F238E27FC236}">
                <a16:creationId xmlns:a16="http://schemas.microsoft.com/office/drawing/2014/main" id="{A16D1F51-6A06-4AAB-8C1C-2667FF7ECD3B}"/>
              </a:ext>
            </a:extLst>
          </p:cNvPr>
          <p:cNvSpPr>
            <a:spLocks xmlns:a="http://schemas.openxmlformats.org/drawingml/2006/main" noGrp="1"/>
          </p:cNvSpPr>
          <p:nvPr/>
        </p:nvSpPr>
        <p:spPr>
          <a:xfrm xmlns:a="http://schemas.openxmlformats.org/drawingml/2006/main">
            <a:off x="4362450" y="3143250"/>
            <a:ext cx="142875" cy="142875"/>
          </a:xfrm>
          <a:prstGeom xmlns:a="http://schemas.openxmlformats.org/drawingml/2006/main" prst="ellipse">
            <a:avLst/>
          </a:prstGeom>
          <a:solidFill xmlns:a="http://schemas.openxmlformats.org/drawingml/2006/main">
            <a:srgbClr val="3D8DFF"/>
          </a:solidFill>
          <a:ln xmlns:a="http://schemas.openxmlformats.org/drawingml/2006/main" w="4763">
            <a:solidFill>
              <a:srgbClr val="000000"/>
            </a:solidFill>
            <a:prstDash val="solid"/>
          </a:ln>
        </p:spPr>
      </p:sp>
      <p:sp>
        <p:nvSpPr>
          <p:cNvPr id="11" name="">
            <a:extLst xmlns:a="http://schemas.openxmlformats.org/drawingml/2006/main">
              <a:ext uri="{FF2B5EF4-FFF2-40B4-BE49-F238E27FC236}">
                <a16:creationId xmlns:a16="http://schemas.microsoft.com/office/drawing/2014/main" id="{222D8A54-EE8F-41F6-BC89-9308547C0357}"/>
              </a:ext>
            </a:extLst>
          </p:cNvPr>
          <p:cNvSpPr>
            <a:spLocks xmlns:a="http://schemas.openxmlformats.org/drawingml/2006/main" noGrp="1"/>
          </p:cNvSpPr>
          <p:nvPr/>
        </p:nvSpPr>
        <p:spPr>
          <a:xfrm xmlns:a="http://schemas.openxmlformats.org/drawingml/2006/main">
            <a:off x="4362450" y="25717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A2 · RESONANCES</a:t>
            </a:r>
          </a:p>
        </p:txBody>
      </p:sp>
      <p:sp>
        <p:nvSpPr>
          <p:cNvPr id="12" name="">
            <a:extLst xmlns:a="http://schemas.openxmlformats.org/drawingml/2006/main">
              <a:ext uri="{FF2B5EF4-FFF2-40B4-BE49-F238E27FC236}">
                <a16:creationId xmlns:a16="http://schemas.microsoft.com/office/drawing/2014/main" id="{F17A3E10-6184-438F-8659-DE19E6FC9958}"/>
              </a:ext>
            </a:extLst>
          </p:cNvPr>
          <p:cNvSpPr>
            <a:spLocks xmlns:a="http://schemas.openxmlformats.org/drawingml/2006/main" noGrp="1"/>
          </p:cNvSpPr>
          <p:nvPr/>
        </p:nvSpPr>
        <p:spPr>
          <a:xfrm xmlns:a="http://schemas.openxmlformats.org/drawingml/2006/main">
            <a:off x="4362450" y="36576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NLS → wave kinetics</a:t>
            </a:r>
          </a:p>
        </p:txBody>
      </p:sp>
      <p:sp>
        <p:nvSpPr>
          <p:cNvPr id="13" name="">
            <a:extLst xmlns:a="http://schemas.openxmlformats.org/drawingml/2006/main">
              <a:ext uri="{FF2B5EF4-FFF2-40B4-BE49-F238E27FC236}">
                <a16:creationId xmlns:a16="http://schemas.microsoft.com/office/drawing/2014/main" id="{92D5B8C1-3A2F-4EA8-A156-8CF51AC797BC}"/>
              </a:ext>
            </a:extLst>
          </p:cNvPr>
          <p:cNvSpPr>
            <a:spLocks xmlns:a="http://schemas.openxmlformats.org/drawingml/2006/main" noGrp="1"/>
          </p:cNvSpPr>
          <p:nvPr/>
        </p:nvSpPr>
        <p:spPr>
          <a:xfrm xmlns:a="http://schemas.openxmlformats.org/drawingml/2006/main">
            <a:off x="4362450" y="42481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Spectral cumulants, resonant histories, random-phase breakdown</a:t>
            </a:r>
          </a:p>
        </p:txBody>
      </p:sp>
      <p:sp>
        <p:nvSpPr>
          <p:cNvPr id="14" name="">
            <a:extLst xmlns:a="http://schemas.openxmlformats.org/drawingml/2006/main">
              <a:ext uri="{FF2B5EF4-FFF2-40B4-BE49-F238E27FC236}">
                <a16:creationId xmlns:a16="http://schemas.microsoft.com/office/drawing/2014/main" id="{9E9FCB94-EE01-4CE0-89BF-0D44B67EE9EB}"/>
              </a:ext>
            </a:extLst>
          </p:cNvPr>
          <p:cNvSpPr>
            <a:spLocks xmlns:a="http://schemas.openxmlformats.org/drawingml/2006/main" noGrp="1"/>
          </p:cNvSpPr>
          <p:nvPr/>
        </p:nvSpPr>
        <p:spPr>
          <a:xfrm xmlns:a="http://schemas.openxmlformats.org/drawingml/2006/main">
            <a:off x="8172450" y="3143250"/>
            <a:ext cx="142875" cy="142875"/>
          </a:xfrm>
          <a:prstGeom xmlns:a="http://schemas.openxmlformats.org/drawingml/2006/main" prst="ellipse">
            <a:avLst/>
          </a:prstGeom>
          <a:solidFill xmlns:a="http://schemas.openxmlformats.org/drawingml/2006/main">
            <a:srgbClr val="18AEB5"/>
          </a:solidFill>
          <a:ln xmlns:a="http://schemas.openxmlformats.org/drawingml/2006/main" w="4763">
            <a:solidFill>
              <a:srgbClr val="000000"/>
            </a:solidFill>
            <a:prstDash val="solid"/>
          </a:ln>
        </p:spPr>
      </p:sp>
      <p:sp>
        <p:nvSpPr>
          <p:cNvPr id="15" name="">
            <a:extLst xmlns:a="http://schemas.openxmlformats.org/drawingml/2006/main">
              <a:ext uri="{FF2B5EF4-FFF2-40B4-BE49-F238E27FC236}">
                <a16:creationId xmlns:a16="http://schemas.microsoft.com/office/drawing/2014/main" id="{2830A33B-5F5B-4FD7-B843-56D39ECB69B8}"/>
              </a:ext>
            </a:extLst>
          </p:cNvPr>
          <p:cNvSpPr>
            <a:spLocks xmlns:a="http://schemas.openxmlformats.org/drawingml/2006/main" noGrp="1"/>
          </p:cNvSpPr>
          <p:nvPr/>
        </p:nvSpPr>
        <p:spPr>
          <a:xfrm xmlns:a="http://schemas.openxmlformats.org/drawingml/2006/main">
            <a:off x="8172450" y="25717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A3 · NON-EQUILIBRIUM</a:t>
            </a:r>
          </a:p>
        </p:txBody>
      </p:sp>
      <p:sp>
        <p:nvSpPr>
          <p:cNvPr id="16" name="">
            <a:extLst xmlns:a="http://schemas.openxmlformats.org/drawingml/2006/main">
              <a:ext uri="{FF2B5EF4-FFF2-40B4-BE49-F238E27FC236}">
                <a16:creationId xmlns:a16="http://schemas.microsoft.com/office/drawing/2014/main" id="{F7CFD4B0-8654-4CB8-9E98-C8243E22286B}"/>
              </a:ext>
            </a:extLst>
          </p:cNvPr>
          <p:cNvSpPr>
            <a:spLocks xmlns:a="http://schemas.openxmlformats.org/drawingml/2006/main" noGrp="1"/>
          </p:cNvSpPr>
          <p:nvPr/>
        </p:nvSpPr>
        <p:spPr>
          <a:xfrm xmlns:a="http://schemas.openxmlformats.org/drawingml/2006/main">
            <a:off x="8172450" y="36576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Boltzmann → fluid</a:t>
            </a:r>
          </a:p>
        </p:txBody>
      </p:sp>
      <p:sp>
        <p:nvSpPr>
          <p:cNvPr id="17" name="">
            <a:extLst xmlns:a="http://schemas.openxmlformats.org/drawingml/2006/main">
              <a:ext uri="{FF2B5EF4-FFF2-40B4-BE49-F238E27FC236}">
                <a16:creationId xmlns:a16="http://schemas.microsoft.com/office/drawing/2014/main" id="{D25E6C22-68D0-4D6C-9D0A-842615CF151A}"/>
              </a:ext>
            </a:extLst>
          </p:cNvPr>
          <p:cNvSpPr>
            <a:spLocks xmlns:a="http://schemas.openxmlformats.org/drawingml/2006/main" noGrp="1"/>
          </p:cNvSpPr>
          <p:nvPr/>
        </p:nvSpPr>
        <p:spPr>
          <a:xfrm xmlns:a="http://schemas.openxmlformats.org/drawingml/2006/main">
            <a:off x="8172450" y="42481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Non-Maxwellian moments, constitutive fluxes, Knudsen-limit failure</a:t>
            </a:r>
          </a:p>
        </p:txBody>
      </p:sp>
      <p:sp>
        <p:nvSpPr>
          <p:cNvPr id="18" name="">
            <a:extLst xmlns:a="http://schemas.openxmlformats.org/drawingml/2006/main">
              <a:ext uri="{FF2B5EF4-FFF2-40B4-BE49-F238E27FC236}">
                <a16:creationId xmlns:a16="http://schemas.microsoft.com/office/drawing/2014/main" id="{44D97766-82A9-4C2E-AFAF-AA5D00CED059}"/>
              </a:ext>
            </a:extLst>
          </p:cNvPr>
          <p:cNvSpPr>
            <a:spLocks xmlns:a="http://schemas.openxmlformats.org/drawingml/2006/main" noGrp="1"/>
          </p:cNvSpPr>
          <p:nvPr/>
        </p:nvSpPr>
        <p:spPr>
          <a:xfrm xmlns:a="http://schemas.openxmlformats.org/drawingml/2006/main">
            <a:off x="400050" y="56959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i="0">
                <a:solidFill>
                  <a:srgbClr val="143A72"/>
                </a:solidFill>
                <a:latin typeface="Helvetica Neue"/>
                <a:ea typeface="Helvetica Neue"/>
                <a:cs typeface="Helvetica Neue"/>
              </a:defRPr>
            </a:pPr>
            <a:r>
              <a:rPr sz="1725" b="1" i="0">
                <a:solidFill>
                  <a:srgbClr val="143A72"/>
                </a:solidFill>
                <a:latin typeface="Helvetica Neue"/>
                <a:ea typeface="Helvetica Neue"/>
                <a:cs typeface="Helvetica Neue"/>
              </a:rPr>
              <a:t>Each track contains a trusted asymptotic regime and a deliberately invalid counter-regime.</a:t>
            </a:r>
          </a:p>
        </p:txBody>
      </p:sp>
    </p:spTree>
    <p:extLst>
      <p:ext uri="{BB962C8B-B14F-4D97-AF65-F5344CB8AC3E}">
        <p14:creationId xmlns:p14="http://schemas.microsoft.com/office/powerpoint/2010/main" val="210499095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75DB21-D44B-44C6-98CD-003949CBF72D}"/>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6DB797FD-BDD7-4BCD-827C-9FD968B06A99}"/>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Canonical and TEMPEST regimes differ by design</a:t>
            </a:r>
          </a:p>
        </p:txBody>
      </p:sp>
      <p:cxnSp>
        <p:nvCxnSpPr>
          <p:cNvPr id="17"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C61F7ECF-D0A7-4DE8-8B8E-2CDF6A66C6E3}"/>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7</a:t>
            </a:r>
          </a:p>
        </p:txBody>
      </p:sp>
      <p:sp>
        <p:nvSpPr>
          <p:cNvPr id="5" name="">
            <a:extLst xmlns:a="http://schemas.openxmlformats.org/drawingml/2006/main">
              <a:ext uri="{FF2B5EF4-FFF2-40B4-BE49-F238E27FC236}">
                <a16:creationId xmlns:a16="http://schemas.microsoft.com/office/drawing/2014/main" id="{A5775446-22CF-44F0-8488-7BFE5163A626}"/>
              </a:ext>
            </a:extLst>
          </p:cNvPr>
          <p:cNvSpPr>
            <a:spLocks xmlns:a="http://schemas.openxmlformats.org/drawingml/2006/main" noGrp="1"/>
          </p:cNvSpPr>
          <p:nvPr/>
        </p:nvSpPr>
        <p:spPr>
          <a:xfrm xmlns:a="http://schemas.openxmlformats.org/drawingml/2006/main">
            <a:off x="400050" y="1343025"/>
            <a:ext cx="1095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5B6472"/>
                </a:solidFill>
                <a:latin typeface="Helvetica Neue"/>
                <a:ea typeface="Helvetica Neue"/>
                <a:cs typeface="Helvetica Neue"/>
              </a:defRPr>
            </a:pPr>
            <a:r>
              <a:rPr sz="1650" b="0" i="0">
                <a:solidFill>
                  <a:srgbClr val="5B6472"/>
                </a:solidFill>
                <a:latin typeface="Helvetica Neue"/>
                <a:ea typeface="Helvetica Neue"/>
                <a:cs typeface="Helvetica Neue"/>
              </a:rPr>
              <a:t>Track A validates mechanisms; Track B replaces the equations, states, coefficients, and constraints.</a:t>
            </a:r>
          </a:p>
        </p:txBody>
      </p:sp>
      <p:graphicFrame>
        <p:nvGraphicFramePr>
          <p:cNvPr id="20" name=""/>
          <p:cNvGraphicFramePr/>
          <p:nvPr/>
        </p:nvGraphicFramePr>
        <p:xfrm>
          <a:off xmlns:a="http://schemas.openxmlformats.org/drawingml/2006/main" x="400050" y="2009775"/>
          <a:ext xmlns:a="http://schemas.openxmlformats.org/drawingml/2006/main" cx="11391900" cy="3943350"/>
        </p:xfrm>
        <a:graphic xmlns:a="http://schemas.openxmlformats.org/drawingml/2006/main">
          <a:graphicData uri="http://schemas.openxmlformats.org/drawingml/2006/table">
            <a:tbl>
              <a:tblPr firstRow="1" bandRow="0"/>
              <a:tblGrid>
                <a:gridCol w="2190750"/>
                <a:gridCol w="4333875"/>
                <a:gridCol w="4867275"/>
              </a:tblGrid>
              <a:tr h="657225">
                <a:tc>
                  <a:txBody>
                    <a:bodyPr/>
                    <a:lstStyle/>
                    <a:p>
                      <a:r>
                        <a:rPr sz="1275" b="1">
                          <a:solidFill>
                            <a:srgbClr val="FFFFFF"/>
                          </a:solidFill>
                        </a:rPr>
                        <a:t>Dimension</a:t>
                      </a:r>
                    </a:p>
                  </a:txBody>
                  <a:tcPr marL="91440" marR="91440" marT="45720" marB="45720">
                    <a:solidFill>
                      <a:srgbClr val="143A72"/>
                    </a:solidFill>
                  </a:tcPr>
                </a:tc>
                <a:tc>
                  <a:txBody>
                    <a:bodyPr/>
                    <a:lstStyle/>
                    <a:p>
                      <a:r>
                        <a:rPr sz="1275" b="1">
                          <a:solidFill>
                            <a:srgbClr val="FFFFFF"/>
                          </a:solidFill>
                        </a:rPr>
                        <a:t>Canonical scale-limit tracks</a:t>
                      </a:r>
                    </a:p>
                  </a:txBody>
                  <a:tcPr marL="91440" marR="91440" marT="45720" marB="45720">
                    <a:solidFill>
                      <a:srgbClr val="143A72"/>
                    </a:solidFill>
                  </a:tcPr>
                </a:tc>
                <a:tc>
                  <a:txBody>
                    <a:bodyPr/>
                    <a:lstStyle/>
                    <a:p>
                      <a:r>
                        <a:rPr sz="1275" b="1">
                          <a:solidFill>
                            <a:srgbClr val="FFFFFF"/>
                          </a:solidFill>
                        </a:rPr>
                        <a:t>TEMPEST application profiles</a:t>
                      </a:r>
                    </a:p>
                  </a:txBody>
                  <a:tcPr marL="91440" marR="91440" marT="45720" marB="45720">
                    <a:solidFill>
                      <a:srgbClr val="143A72"/>
                    </a:solidFill>
                  </a:tcPr>
                </a:tc>
              </a:tr>
              <a:tr h="657225">
                <a:tc>
                  <a:txBody>
                    <a:bodyPr/>
                    <a:lstStyle/>
                    <a:p>
                      <a:r>
                        <a:rPr sz="1275">
                          <a:solidFill>
                            <a:srgbClr val="000000"/>
                          </a:solidFill>
                        </a:rPr>
                        <a:t>Interactions</a:t>
                      </a:r>
                    </a:p>
                  </a:txBody>
                  <a:tcPr marL="91440" marR="91440" marT="45720" marB="45720"/>
                </a:tc>
                <a:tc>
                  <a:txBody>
                    <a:bodyPr/>
                    <a:lstStyle/>
                    <a:p>
                      <a:r>
                        <a:rPr sz="1275">
                          <a:solidFill>
                            <a:srgbClr val="000000"/>
                          </a:solidFill>
                        </a:rPr>
                        <a:t>Hard collisions or weak resonances</a:t>
                      </a:r>
                    </a:p>
                  </a:txBody>
                  <a:tcPr marL="91440" marR="91440" marT="45720" marB="45720"/>
                </a:tc>
                <a:tc>
                  <a:txBody>
                    <a:bodyPr/>
                    <a:lstStyle/>
                    <a:p>
                      <a:r>
                        <a:rPr sz="1275">
                          <a:solidFill>
                            <a:srgbClr val="000000"/>
                          </a:solidFill>
                        </a:rPr>
                        <a:t>Plasma-mediated forces; shock–turbulence coupling</a:t>
                      </a:r>
                    </a:p>
                  </a:txBody>
                  <a:tcPr marL="91440" marR="91440" marT="45720" marB="45720"/>
                </a:tc>
              </a:tr>
              <a:tr h="657225">
                <a:tc>
                  <a:txBody>
                    <a:bodyPr/>
                    <a:lstStyle/>
                    <a:p>
                      <a:r>
                        <a:rPr sz="1275">
                          <a:solidFill>
                            <a:srgbClr val="000000"/>
                          </a:solidFill>
                        </a:rPr>
                        <a:t>Statistics</a:t>
                      </a:r>
                    </a:p>
                  </a:txBody>
                  <a:tcPr marL="91440" marR="91440" marT="45720" marB="45720">
                    <a:solidFill>
                      <a:srgbClr val="F6F7F8"/>
                    </a:solidFill>
                  </a:tcPr>
                </a:tc>
                <a:tc>
                  <a:txBody>
                    <a:bodyPr/>
                    <a:lstStyle/>
                    <a:p>
                      <a:r>
                        <a:rPr sz="1275">
                          <a:solidFill>
                            <a:srgbClr val="000000"/>
                          </a:solidFill>
                        </a:rPr>
                        <a:t>Dilute / weakly nonlinear / prepared</a:t>
                      </a:r>
                    </a:p>
                  </a:txBody>
                  <a:tcPr marL="91440" marR="91440" marT="45720" marB="45720">
                    <a:solidFill>
                      <a:srgbClr val="F6F7F8"/>
                    </a:solidFill>
                  </a:tcPr>
                </a:tc>
                <a:tc>
                  <a:txBody>
                    <a:bodyPr/>
                    <a:lstStyle/>
                    <a:p>
                      <a:r>
                        <a:rPr sz="1275">
                          <a:solidFill>
                            <a:srgbClr val="000000"/>
                          </a:solidFill>
                        </a:rPr>
                        <a:t>Driven, correlated, heterogeneous, intermittent</a:t>
                      </a:r>
                    </a:p>
                  </a:txBody>
                  <a:tcPr marL="91440" marR="91440" marT="45720" marB="45720">
                    <a:solidFill>
                      <a:srgbClr val="F6F7F8"/>
                    </a:solidFill>
                  </a:tcPr>
                </a:tc>
              </a:tr>
              <a:tr h="657225">
                <a:tc>
                  <a:txBody>
                    <a:bodyPr/>
                    <a:lstStyle/>
                    <a:p>
                      <a:r>
                        <a:rPr sz="1275">
                          <a:solidFill>
                            <a:srgbClr val="000000"/>
                          </a:solidFill>
                        </a:rPr>
                        <a:t>Fields</a:t>
                      </a:r>
                    </a:p>
                  </a:txBody>
                  <a:tcPr marL="91440" marR="91440" marT="45720" marB="45720"/>
                </a:tc>
                <a:tc>
                  <a:txBody>
                    <a:bodyPr/>
                    <a:lstStyle/>
                    <a:p>
                      <a:r>
                        <a:rPr sz="1275">
                          <a:solidFill>
                            <a:srgbClr val="000000"/>
                          </a:solidFill>
                        </a:rPr>
                        <a:t>Idealized or prescribed</a:t>
                      </a:r>
                    </a:p>
                  </a:txBody>
                  <a:tcPr marL="91440" marR="91440" marT="45720" marB="45720"/>
                </a:tc>
                <a:tc>
                  <a:txBody>
                    <a:bodyPr/>
                    <a:lstStyle/>
                    <a:p>
                      <a:r>
                        <a:rPr sz="1275">
                          <a:solidFill>
                            <a:srgbClr val="000000"/>
                          </a:solidFill>
                        </a:rPr>
                        <a:t>Self-consistent fields, shocks, neutrino/radiation</a:t>
                      </a:r>
                    </a:p>
                  </a:txBody>
                  <a:tcPr marL="91440" marR="91440" marT="45720" marB="45720"/>
                </a:tc>
              </a:tr>
              <a:tr h="657225">
                <a:tc>
                  <a:txBody>
                    <a:bodyPr/>
                    <a:lstStyle/>
                    <a:p>
                      <a:r>
                        <a:rPr sz="1275">
                          <a:solidFill>
                            <a:srgbClr val="000000"/>
                          </a:solidFill>
                        </a:rPr>
                        <a:t>Trusted limit</a:t>
                      </a:r>
                    </a:p>
                  </a:txBody>
                  <a:tcPr marL="91440" marR="91440" marT="45720" marB="45720">
                    <a:solidFill>
                      <a:srgbClr val="F6F7F8"/>
                    </a:solidFill>
                  </a:tcPr>
                </a:tc>
                <a:tc>
                  <a:txBody>
                    <a:bodyPr/>
                    <a:lstStyle/>
                    <a:p>
                      <a:r>
                        <a:rPr sz="1275">
                          <a:solidFill>
                            <a:srgbClr val="000000"/>
                          </a:solidFill>
                        </a:rPr>
                        <a:t>Boltzmann, WKE, Euler / NSF</a:t>
                      </a:r>
                    </a:p>
                  </a:txBody>
                  <a:tcPr marL="91440" marR="91440" marT="45720" marB="45720">
                    <a:solidFill>
                      <a:srgbClr val="F6F7F8"/>
                    </a:solidFill>
                  </a:tcPr>
                </a:tc>
                <a:tc>
                  <a:txBody>
                    <a:bodyPr/>
                    <a:lstStyle/>
                    <a:p>
                      <a:r>
                        <a:rPr sz="1275">
                          <a:solidFill>
                            <a:srgbClr val="000000"/>
                          </a:solidFill>
                        </a:rPr>
                        <a:t>Declared dusty and 1D turbulence baselines</a:t>
                      </a:r>
                    </a:p>
                  </a:txBody>
                  <a:tcPr marL="91440" marR="91440" marT="45720" marB="45720">
                    <a:solidFill>
                      <a:srgbClr val="F6F7F8"/>
                    </a:solidFill>
                  </a:tcPr>
                </a:tc>
              </a:tr>
              <a:tr h="657225">
                <a:tc>
                  <a:txBody>
                    <a:bodyPr/>
                    <a:lstStyle/>
                    <a:p>
                      <a:r>
                        <a:rPr sz="1275">
                          <a:solidFill>
                            <a:srgbClr val="000000"/>
                          </a:solidFill>
                        </a:rPr>
                        <a:t>Scientific role</a:t>
                      </a:r>
                    </a:p>
                  </a:txBody>
                  <a:tcPr marL="91440" marR="91440" marT="45720" marB="45720"/>
                </a:tc>
                <a:tc>
                  <a:txBody>
                    <a:bodyPr/>
                    <a:lstStyle/>
                    <a:p>
                      <a:r>
                        <a:rPr sz="1275">
                          <a:solidFill>
                            <a:srgbClr val="000000"/>
                          </a:solidFill>
                        </a:rPr>
                        <a:t>Test scale-limit and failure diagnostics</a:t>
                      </a:r>
                    </a:p>
                  </a:txBody>
                  <a:tcPr marL="91440" marR="91440" marT="45720" marB="45720"/>
                </a:tc>
                <a:tc>
                  <a:txBody>
                    <a:bodyPr/>
                    <a:lstStyle/>
                    <a:p>
                      <a:r>
                        <a:rPr sz="1275">
                          <a:solidFill>
                            <a:srgbClr val="000000"/>
                          </a:solidFill>
                        </a:rPr>
                        <a:t>Correct closure inside an application carrier</a:t>
                      </a:r>
                    </a:p>
                  </a:txBody>
                  <a:tcPr marL="91440" marR="91440" marT="45720" marB="45720"/>
                </a:tc>
              </a:tr>
            </a:tbl>
          </a:graphicData>
        </a:graphic>
      </p:graphicFrame>
    </p:spTree>
    <p:extLst>
      <p:ext uri="{BB962C8B-B14F-4D97-AF65-F5344CB8AC3E}">
        <p14:creationId xmlns:p14="http://schemas.microsoft.com/office/powerpoint/2010/main" val="45202405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FC7F6DE-C86C-471E-802D-03FBCCAE4D56}"/>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4B98694A-7B10-4086-B8ED-721F14686968}"/>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The target is the closure defect</a:t>
            </a:r>
          </a:p>
        </p:txBody>
      </p:sp>
      <p:cxnSp>
        <p:nvCxnSpPr>
          <p:cNvPr id="32"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7E95169F-8F81-43CD-AB6E-931C96E4200B}"/>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8</a:t>
            </a:r>
          </a:p>
        </p:txBody>
      </p:sp>
      <p:sp>
        <p:nvSpPr>
          <p:cNvPr id="5" name="">
            <a:extLst xmlns:a="http://schemas.openxmlformats.org/drawingml/2006/main">
              <a:ext uri="{FF2B5EF4-FFF2-40B4-BE49-F238E27FC236}">
                <a16:creationId xmlns:a16="http://schemas.microsoft.com/office/drawing/2014/main" id="{BC6A77AA-3CD1-4474-8D40-A52236328E5F}"/>
              </a:ext>
            </a:extLst>
          </p:cNvPr>
          <p:cNvSpPr>
            <a:spLocks xmlns:a="http://schemas.openxmlformats.org/drawingml/2006/main" noGrp="1"/>
          </p:cNvSpPr>
          <p:nvPr/>
        </p:nvSpPr>
        <p:spPr>
          <a:xfrm xmlns:a="http://schemas.openxmlformats.org/drawingml/2006/main">
            <a:off x="1666875" y="1600200"/>
            <a:ext cx="8858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3375" b="1" i="0">
                <a:solidFill>
                  <a:srgbClr val="143A72"/>
                </a:solidFill>
                <a:latin typeface="Helvetica Neue"/>
                <a:ea typeface="Helvetica Neue"/>
                <a:cs typeface="Helvetica Neue"/>
              </a:defRPr>
            </a:pPr>
            <a:r>
              <a:rPr sz="3375" b="1" i="0">
                <a:solidFill>
                  <a:srgbClr val="143A72"/>
                </a:solidFill>
                <a:latin typeface="Helvetica Neue"/>
                <a:ea typeface="Helvetica Neue"/>
                <a:cs typeface="Helvetica Neue"/>
              </a:rPr>
              <a:t>C⋆[X]  =  ΠF(X)  −  F₀(ΠX)</a:t>
            </a:r>
          </a:p>
        </p:txBody>
      </p:sp>
      <p:cxnSp>
        <p:nvCxnSpPr>
          <p:cNvPr id="35" name=""/>
          <p:cNvCxnSpPr/>
          <p:nvPr/>
        </p:nvCxnSpPr>
        <p:spPr>
          <a:xfrm xmlns:a="http://schemas.openxmlformats.org/drawingml/2006/main">
            <a:off x="1905000" y="2543175"/>
            <a:ext cx="8382000" cy="953"/>
          </a:xfrm>
          <a:prstGeom xmlns:a="http://schemas.openxmlformats.org/drawingml/2006/main" prst="straightConnector1">
            <a:avLst/>
          </a:prstGeom>
          <a:ln xmlns:a="http://schemas.openxmlformats.org/drawingml/2006/main" w="28575">
            <a:solidFill>
              <a:srgbClr val="3D8DFF"/>
            </a:solidFill>
            <a:prstDash val="solid"/>
          </a:ln>
        </p:spPr>
      </p:cxnSp>
      <p:sp>
        <p:nvSpPr>
          <p:cNvPr id="7" name="">
            <a:extLst xmlns:a="http://schemas.openxmlformats.org/drawingml/2006/main">
              <a:ext uri="{FF2B5EF4-FFF2-40B4-BE49-F238E27FC236}">
                <a16:creationId xmlns:a16="http://schemas.microsoft.com/office/drawing/2014/main" id="{966C37D4-8CAC-428A-9DEE-2A23F922C1EC}"/>
              </a:ext>
            </a:extLst>
          </p:cNvPr>
          <p:cNvSpPr>
            <a:spLocks xmlns:a="http://schemas.openxmlformats.org/drawingml/2006/main" noGrp="1"/>
          </p:cNvSpPr>
          <p:nvPr/>
        </p:nvSpPr>
        <p:spPr>
          <a:xfrm xmlns:a="http://schemas.openxmlformats.org/drawingml/2006/main">
            <a:off x="666750" y="29718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i="0">
                <a:solidFill>
                  <a:srgbClr val="143A72"/>
                </a:solidFill>
                <a:latin typeface="Helvetica Neue"/>
                <a:ea typeface="Helvetica Neue"/>
                <a:cs typeface="Helvetica Neue"/>
              </a:defRPr>
            </a:pPr>
            <a:r>
              <a:rPr sz="1275" b="1" i="0">
                <a:solidFill>
                  <a:srgbClr val="143A72"/>
                </a:solidFill>
                <a:latin typeface="Helvetica Neue"/>
                <a:ea typeface="Helvetica Neue"/>
                <a:cs typeface="Helvetica Neue"/>
              </a:rPr>
              <a:t>RETAIN</a:t>
            </a:r>
          </a:p>
        </p:txBody>
      </p:sp>
      <p:sp>
        <p:nvSpPr>
          <p:cNvPr id="8" name="">
            <a:extLst xmlns:a="http://schemas.openxmlformats.org/drawingml/2006/main">
              <a:ext uri="{FF2B5EF4-FFF2-40B4-BE49-F238E27FC236}">
                <a16:creationId xmlns:a16="http://schemas.microsoft.com/office/drawing/2014/main" id="{FBC199A4-A55F-48A5-AE65-24AD3D61FECD}"/>
              </a:ext>
            </a:extLst>
          </p:cNvPr>
          <p:cNvSpPr>
            <a:spLocks xmlns:a="http://schemas.openxmlformats.org/drawingml/2006/main" noGrp="1"/>
          </p:cNvSpPr>
          <p:nvPr/>
        </p:nvSpPr>
        <p:spPr>
          <a:xfrm xmlns:a="http://schemas.openxmlformats.org/drawingml/2006/main">
            <a:off x="666750" y="3343275"/>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550" b="1" i="0">
                <a:solidFill>
                  <a:srgbClr val="000000"/>
                </a:solidFill>
                <a:latin typeface="Helvetica Neue"/>
                <a:ea typeface="Helvetica Neue"/>
                <a:cs typeface="Helvetica Neue"/>
              </a:defRPr>
            </a:pPr>
            <a:r>
              <a:rPr sz="2550" b="1" i="0">
                <a:solidFill>
                  <a:srgbClr val="000000"/>
                </a:solidFill>
                <a:latin typeface="Helvetica Neue"/>
                <a:ea typeface="Helvetica Neue"/>
                <a:cs typeface="Helvetica Neue"/>
              </a:rPr>
              <a:t>u = ΠX</a:t>
            </a:r>
          </a:p>
        </p:txBody>
      </p:sp>
      <p:sp>
        <p:nvSpPr>
          <p:cNvPr id="9" name="">
            <a:extLst xmlns:a="http://schemas.openxmlformats.org/drawingml/2006/main">
              <a:ext uri="{FF2B5EF4-FFF2-40B4-BE49-F238E27FC236}">
                <a16:creationId xmlns:a16="http://schemas.microsoft.com/office/drawing/2014/main" id="{5C6F3572-F027-4414-9191-ED2D4854A243}"/>
              </a:ext>
            </a:extLst>
          </p:cNvPr>
          <p:cNvSpPr>
            <a:spLocks xmlns:a="http://schemas.openxmlformats.org/drawingml/2006/main" noGrp="1"/>
          </p:cNvSpPr>
          <p:nvPr/>
        </p:nvSpPr>
        <p:spPr>
          <a:xfrm xmlns:a="http://schemas.openxmlformats.org/drawingml/2006/main">
            <a:off x="666750" y="4029075"/>
            <a:ext cx="276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5B6472"/>
                </a:solidFill>
                <a:latin typeface="Helvetica Neue"/>
                <a:ea typeface="Helvetica Neue"/>
                <a:cs typeface="Helvetica Neue"/>
              </a:defRPr>
            </a:pPr>
            <a:r>
              <a:rPr sz="1575" b="0" i="0">
                <a:solidFill>
                  <a:srgbClr val="5B6472"/>
                </a:solidFill>
                <a:latin typeface="Helvetica Neue"/>
                <a:ea typeface="Helvetica Neue"/>
                <a:cs typeface="Helvetica Neue"/>
              </a:rPr>
              <a:t>Resolved variables and trusted operator F₀</a:t>
            </a:r>
          </a:p>
        </p:txBody>
      </p:sp>
      <p:sp>
        <p:nvSpPr>
          <p:cNvPr id="10" name="">
            <a:extLst xmlns:a="http://schemas.openxmlformats.org/drawingml/2006/main">
              <a:ext uri="{FF2B5EF4-FFF2-40B4-BE49-F238E27FC236}">
                <a16:creationId xmlns:a16="http://schemas.microsoft.com/office/drawing/2014/main" id="{39121DB0-1CD6-4D66-B65B-C62A9E143B9C}"/>
              </a:ext>
            </a:extLst>
          </p:cNvPr>
          <p:cNvSpPr>
            <a:spLocks xmlns:a="http://schemas.openxmlformats.org/drawingml/2006/main" noGrp="1"/>
          </p:cNvSpPr>
          <p:nvPr/>
        </p:nvSpPr>
        <p:spPr>
          <a:xfrm xmlns:a="http://schemas.openxmlformats.org/drawingml/2006/main">
            <a:off x="4705350" y="29718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i="0">
                <a:solidFill>
                  <a:srgbClr val="F06A3C"/>
                </a:solidFill>
                <a:latin typeface="Helvetica Neue"/>
                <a:ea typeface="Helvetica Neue"/>
                <a:cs typeface="Helvetica Neue"/>
              </a:defRPr>
            </a:pPr>
            <a:r>
              <a:rPr sz="1275" b="1" i="0">
                <a:solidFill>
                  <a:srgbClr val="F06A3C"/>
                </a:solidFill>
                <a:latin typeface="Helvetica Neue"/>
                <a:ea typeface="Helvetica Neue"/>
                <a:cs typeface="Helvetica Neue"/>
              </a:rPr>
              <a:t>DISCARD</a:t>
            </a:r>
          </a:p>
        </p:txBody>
      </p:sp>
      <p:sp>
        <p:nvSpPr>
          <p:cNvPr id="11" name="">
            <a:extLst xmlns:a="http://schemas.openxmlformats.org/drawingml/2006/main">
              <a:ext uri="{FF2B5EF4-FFF2-40B4-BE49-F238E27FC236}">
                <a16:creationId xmlns:a16="http://schemas.microsoft.com/office/drawing/2014/main" id="{72FB8306-09DB-40AB-B2E3-25C92929BC43}"/>
              </a:ext>
            </a:extLst>
          </p:cNvPr>
          <p:cNvSpPr>
            <a:spLocks xmlns:a="http://schemas.openxmlformats.org/drawingml/2006/main" noGrp="1"/>
          </p:cNvSpPr>
          <p:nvPr/>
        </p:nvSpPr>
        <p:spPr>
          <a:xfrm xmlns:a="http://schemas.openxmlformats.org/drawingml/2006/main">
            <a:off x="4705350" y="3343275"/>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fields · correlations</a:t>
            </a:r>
          </a:p>
          <a:p xmlns:a="http://schemas.openxmlformats.org/drawingml/2006/main">
            <a:pPr algn="l">
              <a:buNone/>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moments · histories</a:t>
            </a:r>
          </a:p>
        </p:txBody>
      </p:sp>
      <p:sp>
        <p:nvSpPr>
          <p:cNvPr id="12" name="">
            <a:extLst xmlns:a="http://schemas.openxmlformats.org/drawingml/2006/main">
              <a:ext uri="{FF2B5EF4-FFF2-40B4-BE49-F238E27FC236}">
                <a16:creationId xmlns:a16="http://schemas.microsoft.com/office/drawing/2014/main" id="{C8CF5DC6-B352-4AC0-9317-B7F11F953F16}"/>
              </a:ext>
            </a:extLst>
          </p:cNvPr>
          <p:cNvSpPr>
            <a:spLocks xmlns:a="http://schemas.openxmlformats.org/drawingml/2006/main" noGrp="1"/>
          </p:cNvSpPr>
          <p:nvPr/>
        </p:nvSpPr>
        <p:spPr>
          <a:xfrm xmlns:a="http://schemas.openxmlformats.org/drawingml/2006/main">
            <a:off x="4705350" y="42862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5B6472"/>
                </a:solidFill>
                <a:latin typeface="Helvetica Neue"/>
                <a:ea typeface="Helvetica Neue"/>
                <a:cs typeface="Helvetica Neue"/>
              </a:defRPr>
            </a:pPr>
            <a:r>
              <a:rPr sz="1575" b="0" i="0">
                <a:solidFill>
                  <a:srgbClr val="5B6472"/>
                </a:solidFill>
                <a:latin typeface="Helvetica Neue"/>
                <a:ea typeface="Helvetica Neue"/>
                <a:cs typeface="Helvetica Neue"/>
              </a:rPr>
              <a:t>Their effect remains in C⋆</a:t>
            </a:r>
          </a:p>
        </p:txBody>
      </p:sp>
      <p:sp>
        <p:nvSpPr>
          <p:cNvPr id="13" name="">
            <a:extLst xmlns:a="http://schemas.openxmlformats.org/drawingml/2006/main">
              <a:ext uri="{FF2B5EF4-FFF2-40B4-BE49-F238E27FC236}">
                <a16:creationId xmlns:a16="http://schemas.microsoft.com/office/drawing/2014/main" id="{C0ABE841-0C74-472D-AB80-BDBAB1008AED}"/>
              </a:ext>
            </a:extLst>
          </p:cNvPr>
          <p:cNvSpPr>
            <a:spLocks xmlns:a="http://schemas.openxmlformats.org/drawingml/2006/main" noGrp="1"/>
          </p:cNvSpPr>
          <p:nvPr/>
        </p:nvSpPr>
        <p:spPr>
          <a:xfrm xmlns:a="http://schemas.openxmlformats.org/drawingml/2006/main">
            <a:off x="8610600" y="29718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i="0">
                <a:solidFill>
                  <a:srgbClr val="18AEB5"/>
                </a:solidFill>
                <a:latin typeface="Helvetica Neue"/>
                <a:ea typeface="Helvetica Neue"/>
                <a:cs typeface="Helvetica Neue"/>
              </a:defRPr>
            </a:pPr>
            <a:r>
              <a:rPr sz="1275" b="1" i="0">
                <a:solidFill>
                  <a:srgbClr val="18AEB5"/>
                </a:solidFill>
                <a:latin typeface="Helvetica Neue"/>
                <a:ea typeface="Helvetica Neue"/>
                <a:cs typeface="Helvetica Neue"/>
              </a:rPr>
              <a:t>LEARN</a:t>
            </a:r>
          </a:p>
        </p:txBody>
      </p:sp>
      <p:sp>
        <p:nvSpPr>
          <p:cNvPr id="14" name="">
            <a:extLst xmlns:a="http://schemas.openxmlformats.org/drawingml/2006/main">
              <a:ext uri="{FF2B5EF4-FFF2-40B4-BE49-F238E27FC236}">
                <a16:creationId xmlns:a16="http://schemas.microsoft.com/office/drawing/2014/main" id="{025AE39D-EE80-418B-85CE-580DB254843A}"/>
              </a:ext>
            </a:extLst>
          </p:cNvPr>
          <p:cNvSpPr>
            <a:spLocks xmlns:a="http://schemas.openxmlformats.org/drawingml/2006/main" noGrp="1"/>
          </p:cNvSpPr>
          <p:nvPr/>
        </p:nvSpPr>
        <p:spPr>
          <a:xfrm xmlns:a="http://schemas.openxmlformats.org/drawingml/2006/main">
            <a:off x="8610600" y="3343275"/>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0000"/>
                </a:solidFill>
                <a:latin typeface="Helvetica Neue"/>
                <a:ea typeface="Helvetica Neue"/>
                <a:cs typeface="Helvetica Neue"/>
              </a:defRPr>
            </a:pPr>
            <a:r>
              <a:rPr sz="2100" b="1" i="0">
                <a:solidFill>
                  <a:srgbClr val="000000"/>
                </a:solidFill>
                <a:latin typeface="Helvetica Neue"/>
                <a:ea typeface="Helvetica Neue"/>
                <a:cs typeface="Helvetica Neue"/>
              </a:rPr>
              <a:t>∂ₜu = F₀(u) + Cθ(I[u])</a:t>
            </a:r>
          </a:p>
        </p:txBody>
      </p:sp>
      <p:sp>
        <p:nvSpPr>
          <p:cNvPr id="15" name="">
            <a:extLst xmlns:a="http://schemas.openxmlformats.org/drawingml/2006/main">
              <a:ext uri="{FF2B5EF4-FFF2-40B4-BE49-F238E27FC236}">
                <a16:creationId xmlns:a16="http://schemas.microsoft.com/office/drawing/2014/main" id="{6816A099-1CD6-49B2-A7CB-D8D265FDAC2E}"/>
              </a:ext>
            </a:extLst>
          </p:cNvPr>
          <p:cNvSpPr>
            <a:spLocks xmlns:a="http://schemas.openxmlformats.org/drawingml/2006/main" noGrp="1"/>
          </p:cNvSpPr>
          <p:nvPr/>
        </p:nvSpPr>
        <p:spPr>
          <a:xfrm xmlns:a="http://schemas.openxmlformats.org/drawingml/2006/main">
            <a:off x="8610600" y="428625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5B6472"/>
                </a:solidFill>
                <a:latin typeface="Helvetica Neue"/>
                <a:ea typeface="Helvetica Neue"/>
                <a:cs typeface="Helvetica Neue"/>
              </a:defRPr>
            </a:pPr>
            <a:r>
              <a:rPr sz="1575" b="0" i="0">
                <a:solidFill>
                  <a:srgbClr val="5B6472"/>
                </a:solidFill>
                <a:latin typeface="Helvetica Neue"/>
                <a:ea typeface="Helvetica Neue"/>
                <a:cs typeface="Helvetica Neue"/>
              </a:rPr>
              <a:t>Correct the identified residual when possible</a:t>
            </a:r>
          </a:p>
        </p:txBody>
      </p:sp>
      <p:sp>
        <p:nvSpPr>
          <p:cNvPr id="16" name="">
            <a:extLst xmlns:a="http://schemas.openxmlformats.org/drawingml/2006/main">
              <a:ext uri="{FF2B5EF4-FFF2-40B4-BE49-F238E27FC236}">
                <a16:creationId xmlns:a16="http://schemas.microsoft.com/office/drawing/2014/main" id="{022133C0-5435-4426-8613-A17865512513}"/>
              </a:ext>
            </a:extLst>
          </p:cNvPr>
          <p:cNvSpPr>
            <a:spLocks xmlns:a="http://schemas.openxmlformats.org/drawingml/2006/main" noGrp="1"/>
          </p:cNvSpPr>
          <p:nvPr/>
        </p:nvSpPr>
        <p:spPr>
          <a:xfrm xmlns:a="http://schemas.openxmlformats.org/drawingml/2006/main">
            <a:off x="2076450" y="5362575"/>
            <a:ext cx="8039100" cy="666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04D35D32-9AA0-43D8-B390-4D4FE1788E4B}"/>
              </a:ext>
            </a:extLst>
          </p:cNvPr>
          <p:cNvSpPr>
            <a:spLocks xmlns:a="http://schemas.openxmlformats.org/drawingml/2006/main" noGrp="1"/>
          </p:cNvSpPr>
          <p:nvPr/>
        </p:nvSpPr>
        <p:spPr>
          <a:xfrm xmlns:a="http://schemas.openxmlformats.org/drawingml/2006/main">
            <a:off x="2324100" y="5534025"/>
            <a:ext cx="7543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37"/>
          </a:bodyPr>
          <a:lstStyle xmlns:a="http://schemas.openxmlformats.org/drawingml/2006/main"/>
          <a:p xmlns:a="http://schemas.openxmlformats.org/drawingml/2006/main">
            <a:pPr algn="ctr">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The model interface must state X, Π, F₀, C⋆, and the information set I[u].</a:t>
            </a:r>
          </a:p>
        </p:txBody>
      </p:sp>
    </p:spTree>
    <p:extLst>
      <p:ext uri="{BB962C8B-B14F-4D97-AF65-F5344CB8AC3E}">
        <p14:creationId xmlns:p14="http://schemas.microsoft.com/office/powerpoint/2010/main" val="984885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20127FC-BA1F-48B3-8C33-A5205D11FD23}"/>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EC152A11-621F-4B0B-A814-83C08E39DB2C}"/>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Cumulants and histories may be the missing state</a:t>
            </a:r>
          </a:p>
        </p:txBody>
      </p:sp>
      <p:cxnSp>
        <p:nvCxnSpPr>
          <p:cNvPr id="30"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FAAEF144-2FB0-4245-B96C-4E7E66B68909}"/>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9</a:t>
            </a:r>
          </a:p>
        </p:txBody>
      </p:sp>
      <p:sp>
        <p:nvSpPr>
          <p:cNvPr id="5" name="">
            <a:extLst xmlns:a="http://schemas.openxmlformats.org/drawingml/2006/main">
              <a:ext uri="{FF2B5EF4-FFF2-40B4-BE49-F238E27FC236}">
                <a16:creationId xmlns:a16="http://schemas.microsoft.com/office/drawing/2014/main" id="{BCC9BF1A-3A4E-4583-843F-0228FA6DF9BB}"/>
              </a:ext>
            </a:extLst>
          </p:cNvPr>
          <p:cNvSpPr>
            <a:spLocks xmlns:a="http://schemas.openxmlformats.org/drawingml/2006/main" noGrp="1"/>
          </p:cNvSpPr>
          <p:nvPr/>
        </p:nvSpPr>
        <p:spPr>
          <a:xfrm xmlns:a="http://schemas.openxmlformats.org/drawingml/2006/main">
            <a:off x="400050" y="1466850"/>
            <a:ext cx="3238500" cy="3914775"/>
          </a:xfrm>
          <a:prstGeom xmlns:a="http://schemas.openxmlformats.org/drawingml/2006/main" prst="rect">
            <a:avLst/>
          </a:prstGeom>
          <a:solidFill xmlns:a="http://schemas.openxmlformats.org/drawingml/2006/main">
            <a:srgbClr val="FCE6DE"/>
          </a:solidFill>
          <a:ln xmlns:a="http://schemas.openxmlformats.org/drawingml/2006/main" w="9525">
            <a:solidFill>
              <a:srgbClr val="F06A3C"/>
            </a:solidFill>
            <a:prstDash val="solid"/>
          </a:ln>
        </p:spPr>
      </p:sp>
      <p:sp>
        <p:nvSpPr>
          <p:cNvPr id="6" name="">
            <a:extLst xmlns:a="http://schemas.openxmlformats.org/drawingml/2006/main">
              <a:ext uri="{FF2B5EF4-FFF2-40B4-BE49-F238E27FC236}">
                <a16:creationId xmlns:a16="http://schemas.microsoft.com/office/drawing/2014/main" id="{F4D2FC3C-F9EB-458D-A02F-B3ACD295F723}"/>
              </a:ext>
            </a:extLst>
          </p:cNvPr>
          <p:cNvSpPr>
            <a:spLocks xmlns:a="http://schemas.openxmlformats.org/drawingml/2006/main" noGrp="1"/>
          </p:cNvSpPr>
          <p:nvPr/>
        </p:nvSpPr>
        <p:spPr>
          <a:xfrm xmlns:a="http://schemas.openxmlformats.org/drawingml/2006/main">
            <a:off x="666750" y="1752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F06A3C"/>
                </a:solidFill>
                <a:latin typeface="Helvetica Neue"/>
                <a:ea typeface="Helvetica Neue"/>
                <a:cs typeface="Helvetica Neue"/>
              </a:defRPr>
            </a:pPr>
            <a:r>
              <a:rPr sz="1275" b="1" i="0">
                <a:solidFill>
                  <a:srgbClr val="F06A3C"/>
                </a:solidFill>
                <a:latin typeface="Helvetica Neue"/>
                <a:ea typeface="Helvetica Neue"/>
                <a:cs typeface="Helvetica Neue"/>
              </a:rPr>
              <a:t>CORRELATION</a:t>
            </a:r>
          </a:p>
        </p:txBody>
      </p:sp>
      <p:sp>
        <p:nvSpPr>
          <p:cNvPr id="7" name="">
            <a:extLst xmlns:a="http://schemas.openxmlformats.org/drawingml/2006/main">
              <a:ext uri="{FF2B5EF4-FFF2-40B4-BE49-F238E27FC236}">
                <a16:creationId xmlns:a16="http://schemas.microsoft.com/office/drawing/2014/main" id="{88273AB4-FB70-435A-BDA8-6077EFC5C1EC}"/>
              </a:ext>
            </a:extLst>
          </p:cNvPr>
          <p:cNvSpPr>
            <a:spLocks xmlns:a="http://schemas.openxmlformats.org/drawingml/2006/main" noGrp="1"/>
          </p:cNvSpPr>
          <p:nvPr/>
        </p:nvSpPr>
        <p:spPr>
          <a:xfrm xmlns:a="http://schemas.openxmlformats.org/drawingml/2006/main">
            <a:off x="666750" y="22669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400" b="1" i="0">
                <a:solidFill>
                  <a:srgbClr val="000000"/>
                </a:solidFill>
                <a:latin typeface="Helvetica Neue"/>
                <a:ea typeface="Helvetica Neue"/>
                <a:cs typeface="Helvetica Neue"/>
              </a:defRPr>
            </a:pPr>
            <a:r>
              <a:rPr sz="2400" b="1" i="0">
                <a:solidFill>
                  <a:srgbClr val="000000"/>
                </a:solidFill>
                <a:latin typeface="Helvetica Neue"/>
                <a:ea typeface="Helvetica Neue"/>
                <a:cs typeface="Helvetica Neue"/>
              </a:rPr>
              <a:t>f₂ = f₁ f₁ + g₂</a:t>
            </a:r>
          </a:p>
        </p:txBody>
      </p:sp>
      <p:sp>
        <p:nvSpPr>
          <p:cNvPr id="8" name="">
            <a:extLst xmlns:a="http://schemas.openxmlformats.org/drawingml/2006/main">
              <a:ext uri="{FF2B5EF4-FFF2-40B4-BE49-F238E27FC236}">
                <a16:creationId xmlns:a16="http://schemas.microsoft.com/office/drawing/2014/main" id="{A2DEA11B-8E10-4352-A3DB-D0B91507817A}"/>
              </a:ext>
            </a:extLst>
          </p:cNvPr>
          <p:cNvSpPr>
            <a:spLocks xmlns:a="http://schemas.openxmlformats.org/drawingml/2006/main" noGrp="1"/>
          </p:cNvSpPr>
          <p:nvPr/>
        </p:nvSpPr>
        <p:spPr>
          <a:xfrm xmlns:a="http://schemas.openxmlformats.org/drawingml/2006/main">
            <a:off x="666750" y="3105150"/>
            <a:ext cx="2571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5B6472"/>
                </a:solidFill>
                <a:latin typeface="Helvetica Neue"/>
                <a:ea typeface="Helvetica Neue"/>
                <a:cs typeface="Helvetica Neue"/>
              </a:defRPr>
            </a:pPr>
            <a:r>
              <a:rPr sz="1575" b="0" i="0">
                <a:solidFill>
                  <a:srgbClr val="5B6472"/>
                </a:solidFill>
                <a:latin typeface="Helvetica Neue"/>
                <a:ea typeface="Helvetica Neue"/>
                <a:cs typeface="Helvetica Neue"/>
              </a:rPr>
              <a:t>g₂ measures departure from factorization; higher connected cumulants expose structure that a one-point state cannot carry.</a:t>
            </a:r>
          </a:p>
        </p:txBody>
      </p:sp>
      <p:sp>
        <p:nvSpPr>
          <p:cNvPr id="9" name="">
            <a:extLst xmlns:a="http://schemas.openxmlformats.org/drawingml/2006/main">
              <a:ext uri="{FF2B5EF4-FFF2-40B4-BE49-F238E27FC236}">
                <a16:creationId xmlns:a16="http://schemas.microsoft.com/office/drawing/2014/main" id="{36133200-3C48-4BFD-8100-8E0482BF0CA5}"/>
              </a:ext>
            </a:extLst>
          </p:cNvPr>
          <p:cNvSpPr>
            <a:spLocks xmlns:a="http://schemas.openxmlformats.org/drawingml/2006/main" noGrp="1"/>
          </p:cNvSpPr>
          <p:nvPr/>
        </p:nvSpPr>
        <p:spPr>
          <a:xfrm xmlns:a="http://schemas.openxmlformats.org/drawingml/2006/main">
            <a:off x="4476750" y="1466850"/>
            <a:ext cx="3238500" cy="3914775"/>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10" name="">
            <a:extLst xmlns:a="http://schemas.openxmlformats.org/drawingml/2006/main">
              <a:ext uri="{FF2B5EF4-FFF2-40B4-BE49-F238E27FC236}">
                <a16:creationId xmlns:a16="http://schemas.microsoft.com/office/drawing/2014/main" id="{C197A39D-B211-4184-9305-6BFA1782EB9C}"/>
              </a:ext>
            </a:extLst>
          </p:cNvPr>
          <p:cNvSpPr>
            <a:spLocks xmlns:a="http://schemas.openxmlformats.org/drawingml/2006/main" noGrp="1"/>
          </p:cNvSpPr>
          <p:nvPr/>
        </p:nvSpPr>
        <p:spPr>
          <a:xfrm xmlns:a="http://schemas.openxmlformats.org/drawingml/2006/main">
            <a:off x="4743450" y="17526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143A72"/>
                </a:solidFill>
                <a:latin typeface="Helvetica Neue"/>
                <a:ea typeface="Helvetica Neue"/>
                <a:cs typeface="Helvetica Neue"/>
              </a:defRPr>
            </a:pPr>
            <a:r>
              <a:rPr sz="1275" b="1" i="0">
                <a:solidFill>
                  <a:srgbClr val="143A72"/>
                </a:solidFill>
                <a:latin typeface="Helvetica Neue"/>
                <a:ea typeface="Helvetica Neue"/>
                <a:cs typeface="Helvetica Neue"/>
              </a:rPr>
              <a:t>TIME-LAYERED STATE</a:t>
            </a:r>
          </a:p>
        </p:txBody>
      </p:sp>
      <p:sp>
        <p:nvSpPr>
          <p:cNvPr id="11" name="">
            <a:extLst xmlns:a="http://schemas.openxmlformats.org/drawingml/2006/main">
              <a:ext uri="{FF2B5EF4-FFF2-40B4-BE49-F238E27FC236}">
                <a16:creationId xmlns:a16="http://schemas.microsoft.com/office/drawing/2014/main" id="{CC373DA6-FF6A-4443-91D6-ECD2D666BEC3}"/>
              </a:ext>
            </a:extLst>
          </p:cNvPr>
          <p:cNvSpPr>
            <a:spLocks xmlns:a="http://schemas.openxmlformats.org/drawingml/2006/main" noGrp="1"/>
          </p:cNvSpPr>
          <p:nvPr/>
        </p:nvSpPr>
        <p:spPr>
          <a:xfrm xmlns:a="http://schemas.openxmlformats.org/drawingml/2006/main">
            <a:off x="4743450" y="226695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782"/>
          </a:bodyPr>
          <a:lstStyle xmlns:a="http://schemas.openxmlformats.org/drawingml/2006/main"/>
          <a:p xmlns:a="http://schemas.openxmlformats.org/drawingml/2006/main">
            <a:pPr algn="l">
              <a:buNone/>
              <a:defRPr sz="2175" b="1" i="0">
                <a:solidFill>
                  <a:srgbClr val="000000"/>
                </a:solidFill>
                <a:latin typeface="Helvetica Neue"/>
                <a:ea typeface="Helvetica Neue"/>
                <a:cs typeface="Helvetica Neue"/>
              </a:defRPr>
            </a:pPr>
            <a:r>
              <a:rPr sz="2175" b="1" i="0">
                <a:solidFill>
                  <a:srgbClr val="000000"/>
                </a:solidFill>
                <a:latin typeface="Helvetica Neue"/>
                <a:ea typeface="Helvetica Neue"/>
                <a:cs typeface="Helvetica Neue"/>
              </a:rPr>
              <a:t>Sℓ = (f₁, Πᵣg₂, Πᵣg₃, hℓ)</a:t>
            </a:r>
          </a:p>
        </p:txBody>
      </p:sp>
      <p:sp>
        <p:nvSpPr>
          <p:cNvPr id="12" name="">
            <a:extLst xmlns:a="http://schemas.openxmlformats.org/drawingml/2006/main">
              <a:ext uri="{FF2B5EF4-FFF2-40B4-BE49-F238E27FC236}">
                <a16:creationId xmlns:a16="http://schemas.microsoft.com/office/drawing/2014/main" id="{74950621-D791-4189-9C5E-837345918539}"/>
              </a:ext>
            </a:extLst>
          </p:cNvPr>
          <p:cNvSpPr>
            <a:spLocks xmlns:a="http://schemas.openxmlformats.org/drawingml/2006/main" noGrp="1"/>
          </p:cNvSpPr>
          <p:nvPr/>
        </p:nvSpPr>
        <p:spPr>
          <a:xfrm xmlns:a="http://schemas.openxmlformats.org/drawingml/2006/main">
            <a:off x="4743450" y="3105150"/>
            <a:ext cx="2571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5B6472"/>
                </a:solidFill>
                <a:latin typeface="Helvetica Neue"/>
                <a:ea typeface="Helvetica Neue"/>
                <a:cs typeface="Helvetica Neue"/>
              </a:defRPr>
            </a:pPr>
            <a:r>
              <a:rPr sz="1575" b="0" i="0">
                <a:solidFill>
                  <a:srgbClr val="5B6472"/>
                </a:solidFill>
                <a:latin typeface="Helvetica Neue"/>
                <a:ea typeface="Helvetica Neue"/>
                <a:cs typeface="Helvetica Neue"/>
              </a:rPr>
              <a:t>Short expansions restart while projected cumulants and a finite history state hℓ carry unresolved influence forward.</a:t>
            </a:r>
          </a:p>
        </p:txBody>
      </p:sp>
      <p:sp>
        <p:nvSpPr>
          <p:cNvPr id="13" name="">
            <a:extLst xmlns:a="http://schemas.openxmlformats.org/drawingml/2006/main">
              <a:ext uri="{FF2B5EF4-FFF2-40B4-BE49-F238E27FC236}">
                <a16:creationId xmlns:a16="http://schemas.microsoft.com/office/drawing/2014/main" id="{50D2D48F-4FF9-495A-85C5-56576AFD94B2}"/>
              </a:ext>
            </a:extLst>
          </p:cNvPr>
          <p:cNvSpPr>
            <a:spLocks xmlns:a="http://schemas.openxmlformats.org/drawingml/2006/main" noGrp="1"/>
          </p:cNvSpPr>
          <p:nvPr/>
        </p:nvSpPr>
        <p:spPr>
          <a:xfrm xmlns:a="http://schemas.openxmlformats.org/drawingml/2006/main">
            <a:off x="8305800" y="1619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i="0">
                <a:solidFill>
                  <a:srgbClr val="18AEB5"/>
                </a:solidFill>
                <a:latin typeface="Helvetica Neue"/>
                <a:ea typeface="Helvetica Neue"/>
                <a:cs typeface="Helvetica Neue"/>
              </a:defRPr>
            </a:pPr>
            <a:r>
              <a:rPr sz="1275" b="1" i="0">
                <a:solidFill>
                  <a:srgbClr val="18AEB5"/>
                </a:solidFill>
                <a:latin typeface="Helvetica Neue"/>
                <a:ea typeface="Helvetica Neue"/>
                <a:cs typeface="Helvetica Neue"/>
              </a:rPr>
              <a:t>FOUR FALSIFIABLE HYPOTHESES</a:t>
            </a:r>
          </a:p>
        </p:txBody>
      </p:sp>
      <p:sp>
        <p:nvSpPr>
          <p:cNvPr id="14" name="">
            <a:extLst xmlns:a="http://schemas.openxmlformats.org/drawingml/2006/main">
              <a:ext uri="{FF2B5EF4-FFF2-40B4-BE49-F238E27FC236}">
                <a16:creationId xmlns:a16="http://schemas.microsoft.com/office/drawing/2014/main" id="{B5779346-F47E-4A47-A0FB-5C33B5643086}"/>
              </a:ext>
            </a:extLst>
          </p:cNvPr>
          <p:cNvSpPr>
            <a:spLocks xmlns:a="http://schemas.openxmlformats.org/drawingml/2006/main" noGrp="1"/>
          </p:cNvSpPr>
          <p:nvPr/>
        </p:nvSpPr>
        <p:spPr>
          <a:xfrm xmlns:a="http://schemas.openxmlformats.org/drawingml/2006/main">
            <a:off x="8305800" y="22098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1" i="0">
                <a:solidFill>
                  <a:srgbClr val="18AEB5"/>
                </a:solidFill>
                <a:latin typeface="Helvetica Neue"/>
                <a:ea typeface="Helvetica Neue"/>
                <a:cs typeface="Helvetica Neue"/>
              </a:defRPr>
            </a:pPr>
            <a:r>
              <a:rPr sz="1800" b="1" i="0">
                <a:solidFill>
                  <a:srgbClr val="18AEB5"/>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F332A482-2381-4BA9-B31D-BCD64BFEBA65}"/>
              </a:ext>
            </a:extLst>
          </p:cNvPr>
          <p:cNvSpPr>
            <a:spLocks xmlns:a="http://schemas.openxmlformats.org/drawingml/2006/main" noGrp="1"/>
          </p:cNvSpPr>
          <p:nvPr/>
        </p:nvSpPr>
        <p:spPr>
          <a:xfrm xmlns:a="http://schemas.openxmlformats.org/drawingml/2006/main">
            <a:off x="8591550" y="2209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i="0">
                <a:solidFill>
                  <a:srgbClr val="000000"/>
                </a:solidFill>
                <a:latin typeface="Helvetica Neue"/>
                <a:ea typeface="Helvetica Neue"/>
                <a:cs typeface="Helvetica Neue"/>
              </a:defRPr>
            </a:pPr>
            <a:r>
              <a:rPr sz="1800" b="0" i="0">
                <a:solidFill>
                  <a:srgbClr val="000000"/>
                </a:solidFill>
                <a:latin typeface="Helvetica Neue"/>
                <a:ea typeface="Helvetica Neue"/>
                <a:cs typeface="Helvetica Neue"/>
              </a:rPr>
              <a:t>Detectability</a:t>
            </a:r>
          </a:p>
        </p:txBody>
      </p:sp>
      <p:sp>
        <p:nvSpPr>
          <p:cNvPr id="16" name="">
            <a:extLst xmlns:a="http://schemas.openxmlformats.org/drawingml/2006/main">
              <a:ext uri="{FF2B5EF4-FFF2-40B4-BE49-F238E27FC236}">
                <a16:creationId xmlns:a16="http://schemas.microsoft.com/office/drawing/2014/main" id="{D86DD9B1-32CE-4F48-B4D1-B67D2942811A}"/>
              </a:ext>
            </a:extLst>
          </p:cNvPr>
          <p:cNvSpPr>
            <a:spLocks xmlns:a="http://schemas.openxmlformats.org/drawingml/2006/main" noGrp="1"/>
          </p:cNvSpPr>
          <p:nvPr/>
        </p:nvSpPr>
        <p:spPr>
          <a:xfrm xmlns:a="http://schemas.openxmlformats.org/drawingml/2006/main">
            <a:off x="8305800" y="28575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1" i="0">
                <a:solidFill>
                  <a:srgbClr val="18AEB5"/>
                </a:solidFill>
                <a:latin typeface="Helvetica Neue"/>
                <a:ea typeface="Helvetica Neue"/>
                <a:cs typeface="Helvetica Neue"/>
              </a:defRPr>
            </a:pPr>
            <a:r>
              <a:rPr sz="1800" b="1" i="0">
                <a:solidFill>
                  <a:srgbClr val="18AEB5"/>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93F12E6C-68CF-460F-95EC-B9463F3E7C78}"/>
              </a:ext>
            </a:extLst>
          </p:cNvPr>
          <p:cNvSpPr>
            <a:spLocks xmlns:a="http://schemas.openxmlformats.org/drawingml/2006/main" noGrp="1"/>
          </p:cNvSpPr>
          <p:nvPr/>
        </p:nvSpPr>
        <p:spPr>
          <a:xfrm xmlns:a="http://schemas.openxmlformats.org/drawingml/2006/main">
            <a:off x="8591550" y="28575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i="0">
                <a:solidFill>
                  <a:srgbClr val="000000"/>
                </a:solidFill>
                <a:latin typeface="Helvetica Neue"/>
                <a:ea typeface="Helvetica Neue"/>
                <a:cs typeface="Helvetica Neue"/>
              </a:defRPr>
            </a:pPr>
            <a:r>
              <a:rPr sz="1800" b="0" i="0">
                <a:solidFill>
                  <a:srgbClr val="000000"/>
                </a:solidFill>
                <a:latin typeface="Helvetica Neue"/>
                <a:ea typeface="Helvetica Neue"/>
                <a:cs typeface="Helvetica Neue"/>
              </a:rPr>
              <a:t>Compressibility</a:t>
            </a:r>
          </a:p>
        </p:txBody>
      </p:sp>
      <p:sp>
        <p:nvSpPr>
          <p:cNvPr id="18" name="">
            <a:extLst xmlns:a="http://schemas.openxmlformats.org/drawingml/2006/main">
              <a:ext uri="{FF2B5EF4-FFF2-40B4-BE49-F238E27FC236}">
                <a16:creationId xmlns:a16="http://schemas.microsoft.com/office/drawing/2014/main" id="{57BF111D-B7B9-496F-9725-2E9EDB7FC08D}"/>
              </a:ext>
            </a:extLst>
          </p:cNvPr>
          <p:cNvSpPr>
            <a:spLocks xmlns:a="http://schemas.openxmlformats.org/drawingml/2006/main" noGrp="1"/>
          </p:cNvSpPr>
          <p:nvPr/>
        </p:nvSpPr>
        <p:spPr>
          <a:xfrm xmlns:a="http://schemas.openxmlformats.org/drawingml/2006/main">
            <a:off x="8305800" y="35052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1" i="0">
                <a:solidFill>
                  <a:srgbClr val="18AEB5"/>
                </a:solidFill>
                <a:latin typeface="Helvetica Neue"/>
                <a:ea typeface="Helvetica Neue"/>
                <a:cs typeface="Helvetica Neue"/>
              </a:defRPr>
            </a:pPr>
            <a:r>
              <a:rPr sz="1800" b="1" i="0">
                <a:solidFill>
                  <a:srgbClr val="18AEB5"/>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2F748D51-B93A-44AE-9BDA-38D4D9C1A87C}"/>
              </a:ext>
            </a:extLst>
          </p:cNvPr>
          <p:cNvSpPr>
            <a:spLocks xmlns:a="http://schemas.openxmlformats.org/drawingml/2006/main" noGrp="1"/>
          </p:cNvSpPr>
          <p:nvPr/>
        </p:nvSpPr>
        <p:spPr>
          <a:xfrm xmlns:a="http://schemas.openxmlformats.org/drawingml/2006/main">
            <a:off x="8591550" y="35052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i="0">
                <a:solidFill>
                  <a:srgbClr val="000000"/>
                </a:solidFill>
                <a:latin typeface="Helvetica Neue"/>
                <a:ea typeface="Helvetica Neue"/>
                <a:cs typeface="Helvetica Neue"/>
              </a:defRPr>
            </a:pPr>
            <a:r>
              <a:rPr sz="1800" b="0" i="0">
                <a:solidFill>
                  <a:srgbClr val="000000"/>
                </a:solidFill>
                <a:latin typeface="Helvetica Neue"/>
                <a:ea typeface="Helvetica Neue"/>
                <a:cs typeface="Helvetica Neue"/>
              </a:rPr>
              <a:t>Finite memory</a:t>
            </a:r>
          </a:p>
        </p:txBody>
      </p:sp>
      <p:sp>
        <p:nvSpPr>
          <p:cNvPr id="20" name="">
            <a:extLst xmlns:a="http://schemas.openxmlformats.org/drawingml/2006/main">
              <a:ext uri="{FF2B5EF4-FFF2-40B4-BE49-F238E27FC236}">
                <a16:creationId xmlns:a16="http://schemas.microsoft.com/office/drawing/2014/main" id="{1BF831B3-510A-4982-BFDF-A02FE7DB82DC}"/>
              </a:ext>
            </a:extLst>
          </p:cNvPr>
          <p:cNvSpPr>
            <a:spLocks xmlns:a="http://schemas.openxmlformats.org/drawingml/2006/main" noGrp="1"/>
          </p:cNvSpPr>
          <p:nvPr/>
        </p:nvSpPr>
        <p:spPr>
          <a:xfrm xmlns:a="http://schemas.openxmlformats.org/drawingml/2006/main">
            <a:off x="8305800" y="41529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1" i="0">
                <a:solidFill>
                  <a:srgbClr val="18AEB5"/>
                </a:solidFill>
                <a:latin typeface="Helvetica Neue"/>
                <a:ea typeface="Helvetica Neue"/>
                <a:cs typeface="Helvetica Neue"/>
              </a:defRPr>
            </a:pPr>
            <a:r>
              <a:rPr sz="1800" b="1" i="0">
                <a:solidFill>
                  <a:srgbClr val="18AEB5"/>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ACEF79AA-BD99-443B-A461-77B560F24BE4}"/>
              </a:ext>
            </a:extLst>
          </p:cNvPr>
          <p:cNvSpPr>
            <a:spLocks xmlns:a="http://schemas.openxmlformats.org/drawingml/2006/main" noGrp="1"/>
          </p:cNvSpPr>
          <p:nvPr/>
        </p:nvSpPr>
        <p:spPr>
          <a:xfrm xmlns:a="http://schemas.openxmlformats.org/drawingml/2006/main">
            <a:off x="8591550" y="41529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i="0">
                <a:solidFill>
                  <a:srgbClr val="000000"/>
                </a:solidFill>
                <a:latin typeface="Helvetica Neue"/>
                <a:ea typeface="Helvetica Neue"/>
                <a:cs typeface="Helvetica Neue"/>
              </a:defRPr>
            </a:pPr>
            <a:r>
              <a:rPr sz="1800" b="0" i="0">
                <a:solidFill>
                  <a:srgbClr val="000000"/>
                </a:solidFill>
                <a:latin typeface="Helvetica Neue"/>
                <a:ea typeface="Helvetica Neue"/>
                <a:cs typeface="Helvetica Neue"/>
              </a:rPr>
              <a:t>Cross-profile transfer</a:t>
            </a:r>
          </a:p>
        </p:txBody>
      </p:sp>
    </p:spTree>
    <p:extLst>
      <p:ext uri="{BB962C8B-B14F-4D97-AF65-F5344CB8AC3E}">
        <p14:creationId xmlns:p14="http://schemas.microsoft.com/office/powerpoint/2010/main" val="15536792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EFCB7C-2E82-4FCC-92E1-821D27BAF58F}"/>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11DFB718-D5B7-4C18-A73A-5B06495890E4}"/>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Many-body learning becomes closure after elimination</a:t>
            </a:r>
          </a:p>
        </p:txBody>
      </p:sp>
      <p:cxnSp>
        <p:nvCxnSpPr>
          <p:cNvPr id="18"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E762C2F3-183F-4BBE-B0AA-FE2EE8768D6A}"/>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10</a:t>
            </a:r>
          </a:p>
        </p:txBody>
      </p:sp>
      <p:graphicFrame>
        <p:nvGraphicFramePr>
          <p:cNvPr id="20" name=""/>
          <p:cNvGraphicFramePr/>
          <p:nvPr/>
        </p:nvGraphicFramePr>
        <p:xfrm>
          <a:off xmlns:a="http://schemas.openxmlformats.org/drawingml/2006/main" x="400050" y="1590675"/>
          <a:ext xmlns:a="http://schemas.openxmlformats.org/drawingml/2006/main" cx="11391900" cy="3429000"/>
        </p:xfrm>
        <a:graphic xmlns:a="http://schemas.openxmlformats.org/drawingml/2006/main">
          <a:graphicData uri="http://schemas.openxmlformats.org/drawingml/2006/table">
            <a:tbl>
              <a:tblPr firstRow="1" bandRow="0"/>
              <a:tblGrid>
                <a:gridCol w="2381250"/>
                <a:gridCol w="3143250"/>
                <a:gridCol w="2809875"/>
                <a:gridCol w="3057525"/>
              </a:tblGrid>
              <a:tr h="857250">
                <a:tc>
                  <a:txBody>
                    <a:bodyPr/>
                    <a:lstStyle/>
                    <a:p>
                      <a:r>
                        <a:rPr sz="1200" b="1">
                          <a:solidFill>
                            <a:srgbClr val="FFFFFF"/>
                          </a:solidFill>
                        </a:rPr>
                        <a:t>Retained state</a:t>
                      </a:r>
                    </a:p>
                  </a:txBody>
                  <a:tcPr marL="91440" marR="91440" marT="45720" marB="45720">
                    <a:solidFill>
                      <a:srgbClr val="143A72"/>
                    </a:solidFill>
                  </a:tcPr>
                </a:tc>
                <a:tc>
                  <a:txBody>
                    <a:bodyPr/>
                    <a:lstStyle/>
                    <a:p>
                      <a:r>
                        <a:rPr sz="1200" b="1">
                          <a:solidFill>
                            <a:srgbClr val="FFFFFF"/>
                          </a:solidFill>
                        </a:rPr>
                        <a:t>Discarded information</a:t>
                      </a:r>
                    </a:p>
                  </a:txBody>
                  <a:tcPr marL="91440" marR="91440" marT="45720" marB="45720">
                    <a:solidFill>
                      <a:srgbClr val="143A72"/>
                    </a:solidFill>
                  </a:tcPr>
                </a:tc>
                <a:tc>
                  <a:txBody>
                    <a:bodyPr/>
                    <a:lstStyle/>
                    <a:p>
                      <a:r>
                        <a:rPr sz="1200" b="1">
                          <a:solidFill>
                            <a:srgbClr val="FFFFFF"/>
                          </a:solidFill>
                        </a:rPr>
                        <a:t>Learned object</a:t>
                      </a:r>
                    </a:p>
                  </a:txBody>
                  <a:tcPr marL="91440" marR="91440" marT="45720" marB="45720">
                    <a:solidFill>
                      <a:srgbClr val="143A72"/>
                    </a:solidFill>
                  </a:tcPr>
                </a:tc>
                <a:tc>
                  <a:txBody>
                    <a:bodyPr/>
                    <a:lstStyle/>
                    <a:p>
                      <a:r>
                        <a:rPr sz="1200" b="1">
                          <a:solidFill>
                            <a:srgbClr val="FFFFFF"/>
                          </a:solidFill>
                        </a:rPr>
                        <a:t>Validation level</a:t>
                      </a:r>
                    </a:p>
                  </a:txBody>
                  <a:tcPr marL="91440" marR="91440" marT="45720" marB="45720">
                    <a:solidFill>
                      <a:srgbClr val="143A72"/>
                    </a:solidFill>
                  </a:tcPr>
                </a:tc>
              </a:tr>
              <a:tr h="857250">
                <a:tc>
                  <a:txBody>
                    <a:bodyPr/>
                    <a:lstStyle/>
                    <a:p>
                      <a:r>
                        <a:rPr sz="1200">
                          <a:solidFill>
                            <a:srgbClr val="000000"/>
                          </a:solidFill>
                        </a:rPr>
                        <a:t>Observed particles</a:t>
                      </a:r>
                    </a:p>
                  </a:txBody>
                  <a:tcPr marL="91440" marR="91440" marT="45720" marB="45720"/>
                </a:tc>
                <a:tc>
                  <a:txBody>
                    <a:bodyPr/>
                    <a:lstStyle/>
                    <a:p>
                      <a:r>
                        <a:rPr sz="1200">
                          <a:solidFill>
                            <a:srgbClr val="000000"/>
                          </a:solidFill>
                        </a:rPr>
                        <a:t>Ions, electrons, wakes, fields</a:t>
                      </a:r>
                    </a:p>
                  </a:txBody>
                  <a:tcPr marL="91440" marR="91440" marT="45720" marB="45720"/>
                </a:tc>
                <a:tc>
                  <a:txBody>
                    <a:bodyPr/>
                    <a:lstStyle/>
                    <a:p>
                      <a:r>
                        <a:rPr sz="1200">
                          <a:solidFill>
                            <a:srgbClr val="000000"/>
                          </a:solidFill>
                        </a:rPr>
                        <a:t>Effective force, drag, memory</a:t>
                      </a:r>
                    </a:p>
                  </a:txBody>
                  <a:tcPr marL="91440" marR="91440" marT="45720" marB="45720"/>
                </a:tc>
                <a:tc>
                  <a:txBody>
                    <a:bodyPr/>
                    <a:lstStyle/>
                    <a:p>
                      <a:r>
                        <a:rPr sz="1200">
                          <a:solidFill>
                            <a:srgbClr val="000000"/>
                          </a:solidFill>
                        </a:rPr>
                        <a:t>Independent physics + particle rollouts</a:t>
                      </a:r>
                    </a:p>
                  </a:txBody>
                  <a:tcPr marL="91440" marR="91440" marT="45720" marB="45720"/>
                </a:tc>
              </a:tr>
              <a:tr h="857250">
                <a:tc>
                  <a:txBody>
                    <a:bodyPr/>
                    <a:lstStyle/>
                    <a:p>
                      <a:r>
                        <a:rPr sz="1200">
                          <a:solidFill>
                            <a:srgbClr val="000000"/>
                          </a:solidFill>
                        </a:rPr>
                        <a:t>Distribution f(x,v,t)</a:t>
                      </a:r>
                    </a:p>
                  </a:txBody>
                  <a:tcPr marL="91440" marR="91440" marT="45720" marB="45720">
                    <a:solidFill>
                      <a:srgbClr val="F6F7F8"/>
                    </a:solidFill>
                  </a:tcPr>
                </a:tc>
                <a:tc>
                  <a:txBody>
                    <a:bodyPr/>
                    <a:lstStyle/>
                    <a:p>
                      <a:r>
                        <a:rPr sz="1200">
                          <a:solidFill>
                            <a:srgbClr val="000000"/>
                          </a:solidFill>
                        </a:rPr>
                        <a:t>Identities, correlations, rare histories</a:t>
                      </a:r>
                    </a:p>
                  </a:txBody>
                  <a:tcPr marL="91440" marR="91440" marT="45720" marB="45720">
                    <a:solidFill>
                      <a:srgbClr val="F6F7F8"/>
                    </a:solidFill>
                  </a:tcPr>
                </a:tc>
                <a:tc>
                  <a:txBody>
                    <a:bodyPr/>
                    <a:lstStyle/>
                    <a:p>
                      <a:r>
                        <a:rPr sz="1200">
                          <a:solidFill>
                            <a:srgbClr val="000000"/>
                          </a:solidFill>
                        </a:rPr>
                        <a:t>Kinetic / correlation residual</a:t>
                      </a:r>
                    </a:p>
                  </a:txBody>
                  <a:tcPr marL="91440" marR="91440" marT="45720" marB="45720">
                    <a:solidFill>
                      <a:srgbClr val="F6F7F8"/>
                    </a:solidFill>
                  </a:tcPr>
                </a:tc>
                <a:tc>
                  <a:txBody>
                    <a:bodyPr/>
                    <a:lstStyle/>
                    <a:p>
                      <a:r>
                        <a:rPr sz="1200">
                          <a:solidFill>
                            <a:srgbClr val="000000"/>
                          </a:solidFill>
                        </a:rPr>
                        <a:t>Distributions, cumulants, transport</a:t>
                      </a:r>
                    </a:p>
                  </a:txBody>
                  <a:tcPr marL="91440" marR="91440" marT="45720" marB="45720">
                    <a:solidFill>
                      <a:srgbClr val="F6F7F8"/>
                    </a:solidFill>
                  </a:tcPr>
                </a:tc>
              </a:tr>
              <a:tr h="857250">
                <a:tc>
                  <a:txBody>
                    <a:bodyPr/>
                    <a:lstStyle/>
                    <a:p>
                      <a:r>
                        <a:rPr sz="1200">
                          <a:solidFill>
                            <a:srgbClr val="000000"/>
                          </a:solidFill>
                        </a:rPr>
                        <a:t>Density, momentum, energy</a:t>
                      </a:r>
                    </a:p>
                  </a:txBody>
                  <a:tcPr marL="91440" marR="91440" marT="45720" marB="45720"/>
                </a:tc>
                <a:tc>
                  <a:txBody>
                    <a:bodyPr/>
                    <a:lstStyle/>
                    <a:p>
                      <a:r>
                        <a:rPr sz="1200">
                          <a:solidFill>
                            <a:srgbClr val="000000"/>
                          </a:solidFill>
                        </a:rPr>
                        <a:t>Velocity-space detail, higher moments</a:t>
                      </a:r>
                    </a:p>
                  </a:txBody>
                  <a:tcPr marL="91440" marR="91440" marT="45720" marB="45720"/>
                </a:tc>
                <a:tc>
                  <a:txBody>
                    <a:bodyPr/>
                    <a:lstStyle/>
                    <a:p>
                      <a:r>
                        <a:rPr sz="1200">
                          <a:solidFill>
                            <a:srgbClr val="000000"/>
                          </a:solidFill>
                        </a:rPr>
                        <a:t>Stress, heat flux, relaxation</a:t>
                      </a:r>
                    </a:p>
                  </a:txBody>
                  <a:tcPr marL="91440" marR="91440" marT="45720" marB="45720"/>
                </a:tc>
                <a:tc>
                  <a:txBody>
                    <a:bodyPr/>
                    <a:lstStyle/>
                    <a:p>
                      <a:r>
                        <a:rPr sz="1200">
                          <a:solidFill>
                            <a:srgbClr val="000000"/>
                          </a:solidFill>
                        </a:rPr>
                        <a:t>Realizability + embedded fluid solver</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094162DD-7FD1-422C-8930-DCA22AB875F0}"/>
              </a:ext>
            </a:extLst>
          </p:cNvPr>
          <p:cNvSpPr>
            <a:spLocks xmlns:a="http://schemas.openxmlformats.org/drawingml/2006/main" noGrp="1"/>
          </p:cNvSpPr>
          <p:nvPr/>
        </p:nvSpPr>
        <p:spPr>
          <a:xfrm xmlns:a="http://schemas.openxmlformats.org/drawingml/2006/main">
            <a:off x="1485900" y="5343525"/>
            <a:ext cx="9239250" cy="752475"/>
          </a:xfrm>
          <a:prstGeom xmlns:a="http://schemas.openxmlformats.org/drawingml/2006/main" prst="rect">
            <a:avLst/>
          </a:prstGeom>
          <a:solidFill xmlns:a="http://schemas.openxmlformats.org/drawingml/2006/main">
            <a:srgbClr val="DCF6F5"/>
          </a:solidFill>
          <a:ln xmlns:a="http://schemas.openxmlformats.org/drawingml/2006/main" w="9525">
            <a:solidFill>
              <a:srgbClr val="18AEB5"/>
            </a:solidFill>
            <a:prstDash val="solid"/>
          </a:ln>
        </p:spPr>
      </p:sp>
      <p:sp>
        <p:nvSpPr>
          <p:cNvPr id="7" name="">
            <a:extLst xmlns:a="http://schemas.openxmlformats.org/drawingml/2006/main">
              <a:ext uri="{FF2B5EF4-FFF2-40B4-BE49-F238E27FC236}">
                <a16:creationId xmlns:a16="http://schemas.microsoft.com/office/drawing/2014/main" id="{2E064290-7FFF-40D9-9551-2EBD815BFAD2}"/>
              </a:ext>
            </a:extLst>
          </p:cNvPr>
          <p:cNvSpPr>
            <a:spLocks xmlns:a="http://schemas.openxmlformats.org/drawingml/2006/main" noGrp="1"/>
          </p:cNvSpPr>
          <p:nvPr/>
        </p:nvSpPr>
        <p:spPr>
          <a:xfrm xmlns:a="http://schemas.openxmlformats.org/drawingml/2006/main">
            <a:off x="1790700" y="5514975"/>
            <a:ext cx="8629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30"/>
          </a:bodyPr>
          <a:lstStyle xmlns:a="http://schemas.openxmlformats.org/drawingml/2006/main"/>
          <a:p xmlns:a="http://schemas.openxmlformats.org/drawingml/2006/main">
            <a:pPr algn="ctr">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Many-body ML learns dynamics or interactions. Closure ML learns the effect of discarded information on a declared retained state.</a:t>
            </a:r>
          </a:p>
        </p:txBody>
      </p:sp>
    </p:spTree>
    <p:extLst>
      <p:ext uri="{BB962C8B-B14F-4D97-AF65-F5344CB8AC3E}">
        <p14:creationId xmlns:p14="http://schemas.microsoft.com/office/powerpoint/2010/main" val="112228178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0DBD45C-A12C-4033-A40A-868723965E04}"/>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24989BF7-D10E-447E-A506-C7326E0A5C5F}"/>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Three papers supply complementary many-body tools</a:t>
            </a:r>
          </a:p>
        </p:txBody>
      </p:sp>
      <p:cxnSp>
        <p:nvCxnSpPr>
          <p:cNvPr id="26"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18EA89BA-A092-4FF9-914E-85BDB7C84EAC}"/>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61385297-1145-4F9C-8984-1B943E0F6AC3}"/>
              </a:ext>
            </a:extLst>
          </p:cNvPr>
          <p:cNvSpPr>
            <a:spLocks xmlns:a="http://schemas.openxmlformats.org/drawingml/2006/main" noGrp="1"/>
          </p:cNvSpPr>
          <p:nvPr/>
        </p:nvSpPr>
        <p:spPr>
          <a:xfrm xmlns:a="http://schemas.openxmlformats.org/drawingml/2006/main">
            <a:off x="400050" y="15906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143A72"/>
                </a:solidFill>
                <a:latin typeface="Helvetica Neue"/>
                <a:ea typeface="Helvetica Neue"/>
                <a:cs typeface="Helvetica Neue"/>
              </a:defRPr>
            </a:pPr>
            <a:r>
              <a:rPr sz="1275" b="1" i="0">
                <a:solidFill>
                  <a:srgbClr val="143A72"/>
                </a:solidFill>
                <a:latin typeface="Helvetica Neue"/>
                <a:ea typeface="Helvetica Neue"/>
                <a:cs typeface="Helvetica Neue"/>
              </a:rPr>
              <a:t>IDENTIFIABILITY</a:t>
            </a:r>
          </a:p>
        </p:txBody>
      </p:sp>
      <p:sp>
        <p:nvSpPr>
          <p:cNvPr id="6" name="">
            <a:extLst xmlns:a="http://schemas.openxmlformats.org/drawingml/2006/main">
              <a:ext uri="{FF2B5EF4-FFF2-40B4-BE49-F238E27FC236}">
                <a16:creationId xmlns:a16="http://schemas.microsoft.com/office/drawing/2014/main" id="{8AD14EC2-D633-4FE9-869B-84177FC3268F}"/>
              </a:ext>
            </a:extLst>
          </p:cNvPr>
          <p:cNvSpPr>
            <a:spLocks xmlns:a="http://schemas.openxmlformats.org/drawingml/2006/main" noGrp="1"/>
          </p:cNvSpPr>
          <p:nvPr/>
        </p:nvSpPr>
        <p:spPr>
          <a:xfrm xmlns:a="http://schemas.openxmlformats.org/drawingml/2006/main">
            <a:off x="400050" y="20097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Lu–Maggioni–Tang</a:t>
            </a:r>
          </a:p>
        </p:txBody>
      </p:sp>
      <p:sp>
        <p:nvSpPr>
          <p:cNvPr id="7" name="">
            <a:extLst xmlns:a="http://schemas.openxmlformats.org/drawingml/2006/main">
              <a:ext uri="{FF2B5EF4-FFF2-40B4-BE49-F238E27FC236}">
                <a16:creationId xmlns:a16="http://schemas.microsoft.com/office/drawing/2014/main" id="{7B1FF546-E40A-4C9A-8F8F-19F492328E36}"/>
              </a:ext>
            </a:extLst>
          </p:cNvPr>
          <p:cNvSpPr>
            <a:spLocks xmlns:a="http://schemas.openxmlformats.org/drawingml/2006/main" noGrp="1"/>
          </p:cNvSpPr>
          <p:nvPr/>
        </p:nvSpPr>
        <p:spPr>
          <a:xfrm xmlns:a="http://schemas.openxmlformats.org/drawingml/2006/main">
            <a:off x="400050" y="2705100"/>
            <a:ext cx="3238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Shared low-dimensional interaction kernels</a:t>
            </a:r>
          </a:p>
          <a:p xmlns:a="http://schemas.openxmlformats.org/drawingml/2006/main">
            <a:r>
              <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Occupancy measure + coercivity</a:t>
            </a:r>
          </a:p>
          <a:p xmlns:a="http://schemas.openxmlformats.org/drawingml/2006/main">
            <a:r>
              <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Separate estimation and rollout error</a:t>
            </a:r>
          </a:p>
        </p:txBody>
      </p:sp>
      <p:sp>
        <p:nvSpPr>
          <p:cNvPr id="8" name="">
            <a:extLst xmlns:a="http://schemas.openxmlformats.org/drawingml/2006/main">
              <a:ext uri="{FF2B5EF4-FFF2-40B4-BE49-F238E27FC236}">
                <a16:creationId xmlns:a16="http://schemas.microsoft.com/office/drawing/2014/main" id="{53979F2E-9E75-45EC-8892-EDBDA541B949}"/>
              </a:ext>
            </a:extLst>
          </p:cNvPr>
          <p:cNvSpPr>
            <a:spLocks xmlns:a="http://schemas.openxmlformats.org/drawingml/2006/main" noGrp="1"/>
          </p:cNvSpPr>
          <p:nvPr/>
        </p:nvSpPr>
        <p:spPr>
          <a:xfrm xmlns:a="http://schemas.openxmlformats.org/drawingml/2006/main">
            <a:off x="3971925" y="1571625"/>
            <a:ext cx="9525" cy="37623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
            <a:extLst xmlns:a="http://schemas.openxmlformats.org/drawingml/2006/main">
              <a:ext uri="{FF2B5EF4-FFF2-40B4-BE49-F238E27FC236}">
                <a16:creationId xmlns:a16="http://schemas.microsoft.com/office/drawing/2014/main" id="{914BC1AD-0BFB-4A76-91EA-DD4EB20D7FEE}"/>
              </a:ext>
            </a:extLst>
          </p:cNvPr>
          <p:cNvSpPr>
            <a:spLocks xmlns:a="http://schemas.openxmlformats.org/drawingml/2006/main" noGrp="1"/>
          </p:cNvSpPr>
          <p:nvPr/>
        </p:nvSpPr>
        <p:spPr>
          <a:xfrm xmlns:a="http://schemas.openxmlformats.org/drawingml/2006/main">
            <a:off x="4248150" y="15906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3D8DFF"/>
                </a:solidFill>
                <a:latin typeface="Helvetica Neue"/>
                <a:ea typeface="Helvetica Neue"/>
                <a:cs typeface="Helvetica Neue"/>
              </a:defRPr>
            </a:pPr>
            <a:r>
              <a:rPr sz="1275" b="1" i="0">
                <a:solidFill>
                  <a:srgbClr val="3D8DFF"/>
                </a:solidFill>
                <a:latin typeface="Helvetica Neue"/>
                <a:ea typeface="Helvetica Neue"/>
                <a:cs typeface="Helvetica Neue"/>
              </a:rPr>
              <a:t>GEOMETRY</a:t>
            </a:r>
          </a:p>
        </p:txBody>
      </p:sp>
      <p:sp>
        <p:nvSpPr>
          <p:cNvPr id="10" name="">
            <a:extLst xmlns:a="http://schemas.openxmlformats.org/drawingml/2006/main">
              <a:ext uri="{FF2B5EF4-FFF2-40B4-BE49-F238E27FC236}">
                <a16:creationId xmlns:a16="http://schemas.microsoft.com/office/drawing/2014/main" id="{1494900F-E4FC-4EF0-8C55-C7D098AABAC9}"/>
              </a:ext>
            </a:extLst>
          </p:cNvPr>
          <p:cNvSpPr>
            <a:spLocks xmlns:a="http://schemas.openxmlformats.org/drawingml/2006/main" noGrp="1"/>
          </p:cNvSpPr>
          <p:nvPr/>
        </p:nvSpPr>
        <p:spPr>
          <a:xfrm xmlns:a="http://schemas.openxmlformats.org/drawingml/2006/main">
            <a:off x="4248150" y="20097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Maggioni et al.</a:t>
            </a:r>
          </a:p>
        </p:txBody>
      </p:sp>
      <p:sp>
        <p:nvSpPr>
          <p:cNvPr id="11" name="">
            <a:extLst xmlns:a="http://schemas.openxmlformats.org/drawingml/2006/main">
              <a:ext uri="{FF2B5EF4-FFF2-40B4-BE49-F238E27FC236}">
                <a16:creationId xmlns:a16="http://schemas.microsoft.com/office/drawing/2014/main" id="{1B7C4EDD-E862-4DEB-A7FC-3991E3264EC5}"/>
              </a:ext>
            </a:extLst>
          </p:cNvPr>
          <p:cNvSpPr>
            <a:spLocks xmlns:a="http://schemas.openxmlformats.org/drawingml/2006/main" noGrp="1"/>
          </p:cNvSpPr>
          <p:nvPr/>
        </p:nvSpPr>
        <p:spPr>
          <a:xfrm xmlns:a="http://schemas.openxmlformats.org/drawingml/2006/main">
            <a:off x="4248150" y="2705100"/>
            <a:ext cx="3238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Geodesic distance and tangent dynamics</a:t>
            </a:r>
          </a:p>
          <a:p xmlns:a="http://schemas.openxmlformats.org/drawingml/2006/main">
            <a:r>
              <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Constraints belong in the interface and metric</a:t>
            </a:r>
          </a:p>
          <a:p xmlns:a="http://schemas.openxmlformats.org/drawingml/2006/main">
            <a:r>
              <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Transfer across particle number</a:t>
            </a:r>
          </a:p>
        </p:txBody>
      </p:sp>
      <p:sp>
        <p:nvSpPr>
          <p:cNvPr id="12" name="">
            <a:extLst xmlns:a="http://schemas.openxmlformats.org/drawingml/2006/main">
              <a:ext uri="{FF2B5EF4-FFF2-40B4-BE49-F238E27FC236}">
                <a16:creationId xmlns:a16="http://schemas.microsoft.com/office/drawing/2014/main" id="{BEB637EB-54BB-4B06-B784-E9D5A364965F}"/>
              </a:ext>
            </a:extLst>
          </p:cNvPr>
          <p:cNvSpPr>
            <a:spLocks xmlns:a="http://schemas.openxmlformats.org/drawingml/2006/main" noGrp="1"/>
          </p:cNvSpPr>
          <p:nvPr/>
        </p:nvSpPr>
        <p:spPr>
          <a:xfrm xmlns:a="http://schemas.openxmlformats.org/drawingml/2006/main">
            <a:off x="7820025" y="1571625"/>
            <a:ext cx="9525" cy="37623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3" name="">
            <a:extLst xmlns:a="http://schemas.openxmlformats.org/drawingml/2006/main">
              <a:ext uri="{FF2B5EF4-FFF2-40B4-BE49-F238E27FC236}">
                <a16:creationId xmlns:a16="http://schemas.microsoft.com/office/drawing/2014/main" id="{27AF54E8-EAF2-4915-8E4B-AA40CC2A3B8F}"/>
              </a:ext>
            </a:extLst>
          </p:cNvPr>
          <p:cNvSpPr>
            <a:spLocks xmlns:a="http://schemas.openxmlformats.org/drawingml/2006/main" noGrp="1"/>
          </p:cNvSpPr>
          <p:nvPr/>
        </p:nvSpPr>
        <p:spPr>
          <a:xfrm xmlns:a="http://schemas.openxmlformats.org/drawingml/2006/main">
            <a:off x="8096250" y="15906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F06A3C"/>
                </a:solidFill>
                <a:latin typeface="Helvetica Neue"/>
                <a:ea typeface="Helvetica Neue"/>
                <a:cs typeface="Helvetica Neue"/>
              </a:defRPr>
            </a:pPr>
            <a:r>
              <a:rPr sz="1275" b="1" i="0">
                <a:solidFill>
                  <a:srgbClr val="F06A3C"/>
                </a:solidFill>
                <a:latin typeface="Helvetica Neue"/>
                <a:ea typeface="Helvetica Neue"/>
                <a:cs typeface="Helvetica Neue"/>
              </a:rPr>
              <a:t>EXPERIMENT</a:t>
            </a:r>
          </a:p>
        </p:txBody>
      </p:sp>
      <p:sp>
        <p:nvSpPr>
          <p:cNvPr id="14" name="">
            <a:extLst xmlns:a="http://schemas.openxmlformats.org/drawingml/2006/main">
              <a:ext uri="{FF2B5EF4-FFF2-40B4-BE49-F238E27FC236}">
                <a16:creationId xmlns:a16="http://schemas.microsoft.com/office/drawing/2014/main" id="{43F71CEA-9A3B-4196-B043-0F90E327FAD2}"/>
              </a:ext>
            </a:extLst>
          </p:cNvPr>
          <p:cNvSpPr>
            <a:spLocks xmlns:a="http://schemas.openxmlformats.org/drawingml/2006/main" noGrp="1"/>
          </p:cNvSpPr>
          <p:nvPr/>
        </p:nvSpPr>
        <p:spPr>
          <a:xfrm xmlns:a="http://schemas.openxmlformats.org/drawingml/2006/main">
            <a:off x="8096250" y="20097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Yu et al.</a:t>
            </a:r>
          </a:p>
        </p:txBody>
      </p:sp>
      <p:sp>
        <p:nvSpPr>
          <p:cNvPr id="15" name="">
            <a:extLst xmlns:a="http://schemas.openxmlformats.org/drawingml/2006/main">
              <a:ext uri="{FF2B5EF4-FFF2-40B4-BE49-F238E27FC236}">
                <a16:creationId xmlns:a16="http://schemas.microsoft.com/office/drawing/2014/main" id="{493DCFDD-EDA7-4084-8B0B-BEE437204A8C}"/>
              </a:ext>
            </a:extLst>
          </p:cNvPr>
          <p:cNvSpPr>
            <a:spLocks xmlns:a="http://schemas.openxmlformats.org/drawingml/2006/main" noGrp="1"/>
          </p:cNvSpPr>
          <p:nvPr/>
        </p:nvSpPr>
        <p:spPr>
          <a:xfrm xmlns:a="http://schemas.openxmlformats.org/drawingml/2006/main">
            <a:off x="8096250" y="2705100"/>
            <a:ext cx="3238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Physics-tailored force decomposition</a:t>
            </a:r>
          </a:p>
          <a:p xmlns:a="http://schemas.openxmlformats.org/drawingml/2006/main">
            <a:r>
              <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Heterogeneity + nonreciprocity</a:t>
            </a:r>
          </a:p>
          <a:p xmlns:a="http://schemas.openxmlformats.org/drawingml/2006/main">
            <a:r>
              <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Independent physical validation</a:t>
            </a:r>
          </a:p>
        </p:txBody>
      </p:sp>
      <p:sp>
        <p:nvSpPr>
          <p:cNvPr id="16" name="">
            <a:extLst xmlns:a="http://schemas.openxmlformats.org/drawingml/2006/main">
              <a:ext uri="{FF2B5EF4-FFF2-40B4-BE49-F238E27FC236}">
                <a16:creationId xmlns:a16="http://schemas.microsoft.com/office/drawing/2014/main" id="{738DC14B-0DBF-4678-AD37-7FB5C51766B0}"/>
              </a:ext>
            </a:extLst>
          </p:cNvPr>
          <p:cNvSpPr>
            <a:spLocks xmlns:a="http://schemas.openxmlformats.org/drawingml/2006/main" noGrp="1"/>
          </p:cNvSpPr>
          <p:nvPr/>
        </p:nvSpPr>
        <p:spPr>
          <a:xfrm xmlns:a="http://schemas.openxmlformats.org/drawingml/2006/main">
            <a:off x="1657350" y="5543550"/>
            <a:ext cx="8877300" cy="56197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290BC417-BAE3-4B49-B0B3-AE40BA348DAE}"/>
              </a:ext>
            </a:extLst>
          </p:cNvPr>
          <p:cNvSpPr>
            <a:spLocks xmlns:a="http://schemas.openxmlformats.org/drawingml/2006/main" noGrp="1"/>
          </p:cNvSpPr>
          <p:nvPr/>
        </p:nvSpPr>
        <p:spPr>
          <a:xfrm xmlns:a="http://schemas.openxmlformats.org/drawingml/2006/main">
            <a:off x="1924050" y="5676900"/>
            <a:ext cx="834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buNone/>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Together: structure + identifiability + validation beyond trajectory fit</a:t>
            </a:r>
          </a:p>
        </p:txBody>
      </p:sp>
    </p:spTree>
    <p:extLst>
      <p:ext uri="{BB962C8B-B14F-4D97-AF65-F5344CB8AC3E}">
        <p14:creationId xmlns:p14="http://schemas.microsoft.com/office/powerpoint/2010/main" val="156541222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EA8E5FA-C602-4559-9A56-030CCC2FA596}"/>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1A78DBE2-6AA2-49DC-A38C-D7B0A699A03B}"/>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Dusty plasma separates context from memory</a:t>
            </a:r>
          </a:p>
        </p:txBody>
      </p:sp>
      <p:cxnSp>
        <p:nvCxnSpPr>
          <p:cNvPr id="38"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B86587FB-9E13-4C7F-97FC-79D63F520896}"/>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D238922A-DF57-41E8-861C-7D92F286B819}"/>
              </a:ext>
            </a:extLst>
          </p:cNvPr>
          <p:cNvSpPr>
            <a:spLocks xmlns:a="http://schemas.openxmlformats.org/drawingml/2006/main" noGrp="1"/>
          </p:cNvSpPr>
          <p:nvPr/>
        </p:nvSpPr>
        <p:spPr>
          <a:xfrm xmlns:a="http://schemas.openxmlformats.org/drawingml/2006/main">
            <a:off x="666750" y="1495425"/>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2175" b="1" i="0">
                <a:solidFill>
                  <a:srgbClr val="143A72"/>
                </a:solidFill>
                <a:latin typeface="Helvetica Neue"/>
                <a:ea typeface="Helvetica Neue"/>
                <a:cs typeface="Helvetica Neue"/>
              </a:defRPr>
            </a:pPr>
            <a:r>
              <a:rPr sz="2175" b="1" i="0">
                <a:solidFill>
                  <a:srgbClr val="143A72"/>
                </a:solidFill>
                <a:latin typeface="Helvetica Neue"/>
                <a:ea typeface="Helvetica Neue"/>
                <a:cs typeface="Helvetica Neue"/>
              </a:rPr>
              <a:t>mᵢv̇ᵢ = Fᶜᵒⁿᶠ + Fᵉˣᵗ − γᵢvᵢ + ΣⱼFᵢⱼ(rᵢ,rⱼ,ζⱼ;μ) + ηᵢ</a:t>
            </a:r>
          </a:p>
        </p:txBody>
      </p:sp>
      <p:sp>
        <p:nvSpPr>
          <p:cNvPr id="6" name="">
            <a:extLst xmlns:a="http://schemas.openxmlformats.org/drawingml/2006/main">
              <a:ext uri="{FF2B5EF4-FFF2-40B4-BE49-F238E27FC236}">
                <a16:creationId xmlns:a16="http://schemas.microsoft.com/office/drawing/2014/main" id="{6B6C5DA7-8053-4800-8963-581371FC0D82}"/>
              </a:ext>
            </a:extLst>
          </p:cNvPr>
          <p:cNvSpPr>
            <a:spLocks xmlns:a="http://schemas.openxmlformats.org/drawingml/2006/main" noGrp="1"/>
          </p:cNvSpPr>
          <p:nvPr/>
        </p:nvSpPr>
        <p:spPr>
          <a:xfrm xmlns:a="http://schemas.openxmlformats.org/drawingml/2006/main">
            <a:off x="3971925" y="2047875"/>
            <a:ext cx="424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ctr">
              <a:buNone/>
              <a:defRPr sz="2100" b="1" i="0">
                <a:solidFill>
                  <a:srgbClr val="18AEB5"/>
                </a:solidFill>
                <a:latin typeface="Helvetica Neue"/>
                <a:ea typeface="Helvetica Neue"/>
                <a:cs typeface="Helvetica Neue"/>
              </a:defRPr>
            </a:pPr>
            <a:r>
              <a:rPr sz="2100" b="1" i="0">
                <a:solidFill>
                  <a:srgbClr val="18AEB5"/>
                </a:solidFill>
                <a:latin typeface="Helvetica Neue"/>
                <a:ea typeface="Helvetica Neue"/>
                <a:cs typeface="Helvetica Neue"/>
              </a:rPr>
              <a:t>τw ζ̇ⱼ = ζeq(Eⱼ) − ζⱼ</a:t>
            </a:r>
          </a:p>
        </p:txBody>
      </p:sp>
      <p:cxnSp>
        <p:nvCxnSpPr>
          <p:cNvPr id="42" name=""/>
          <p:cNvCxnSpPr/>
          <p:nvPr/>
        </p:nvCxnSpPr>
        <p:spPr>
          <a:xfrm xmlns:a="http://schemas.openxmlformats.org/drawingml/2006/main">
            <a:off x="1000125" y="3190875"/>
            <a:ext cx="10144125" cy="953"/>
          </a:xfrm>
          <a:prstGeom xmlns:a="http://schemas.openxmlformats.org/drawingml/2006/main" prst="straightConnector1">
            <a:avLst/>
          </a:prstGeom>
          <a:ln xmlns:a="http://schemas.openxmlformats.org/drawingml/2006/main" w="19050">
            <a:solidFill>
              <a:srgbClr val="000000"/>
            </a:solidFill>
            <a:prstDash val="solid"/>
          </a:ln>
        </p:spPr>
      </p:cxnSp>
      <p:sp>
        <p:nvSpPr>
          <p:cNvPr id="8" name="">
            <a:extLst xmlns:a="http://schemas.openxmlformats.org/drawingml/2006/main">
              <a:ext uri="{FF2B5EF4-FFF2-40B4-BE49-F238E27FC236}">
                <a16:creationId xmlns:a16="http://schemas.microsoft.com/office/drawing/2014/main" id="{18D9C225-30DA-44B6-8040-11EE53D18AA5}"/>
              </a:ext>
            </a:extLst>
          </p:cNvPr>
          <p:cNvSpPr>
            <a:spLocks xmlns:a="http://schemas.openxmlformats.org/drawingml/2006/main" noGrp="1"/>
          </p:cNvSpPr>
          <p:nvPr/>
        </p:nvSpPr>
        <p:spPr>
          <a:xfrm xmlns:a="http://schemas.openxmlformats.org/drawingml/2006/main">
            <a:off x="1000125" y="3105150"/>
            <a:ext cx="171450" cy="171450"/>
          </a:xfrm>
          <a:prstGeom xmlns:a="http://schemas.openxmlformats.org/drawingml/2006/main" prst="ellipse">
            <a:avLst/>
          </a:prstGeom>
          <a:solidFill xmlns:a="http://schemas.openxmlformats.org/drawingml/2006/main">
            <a:srgbClr val="3D8DFF"/>
          </a:solidFill>
          <a:ln xmlns:a="http://schemas.openxmlformats.org/drawingml/2006/main" w="4763">
            <a:solidFill>
              <a:srgbClr val="000000"/>
            </a:solidFill>
            <a:prstDash val="solid"/>
          </a:ln>
        </p:spPr>
      </p:sp>
      <p:sp>
        <p:nvSpPr>
          <p:cNvPr id="9" name="">
            <a:extLst xmlns:a="http://schemas.openxmlformats.org/drawingml/2006/main">
              <a:ext uri="{FF2B5EF4-FFF2-40B4-BE49-F238E27FC236}">
                <a16:creationId xmlns:a16="http://schemas.microsoft.com/office/drawing/2014/main" id="{424C51FF-68B3-4F2C-9ADB-088DF5BD75B1}"/>
              </a:ext>
            </a:extLst>
          </p:cNvPr>
          <p:cNvSpPr>
            <a:spLocks xmlns:a="http://schemas.openxmlformats.org/drawingml/2006/main" noGrp="1"/>
          </p:cNvSpPr>
          <p:nvPr/>
        </p:nvSpPr>
        <p:spPr>
          <a:xfrm xmlns:a="http://schemas.openxmlformats.org/drawingml/2006/main">
            <a:off x="1000125" y="3524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43A72"/>
                </a:solidFill>
                <a:latin typeface="Helvetica Neue"/>
                <a:ea typeface="Helvetica Neue"/>
                <a:cs typeface="Helvetica Neue"/>
              </a:defRPr>
            </a:pPr>
            <a:r>
              <a:rPr sz="1350" b="1" i="0">
                <a:solidFill>
                  <a:srgbClr val="143A72"/>
                </a:solidFill>
                <a:latin typeface="Helvetica Neue"/>
                <a:ea typeface="Helvetica Neue"/>
                <a:cs typeface="Helvetica Neue"/>
              </a:rPr>
              <a:t>PAIR</a:t>
            </a:r>
          </a:p>
        </p:txBody>
      </p:sp>
      <p:sp>
        <p:nvSpPr>
          <p:cNvPr id="10" name="">
            <a:extLst xmlns:a="http://schemas.openxmlformats.org/drawingml/2006/main">
              <a:ext uri="{FF2B5EF4-FFF2-40B4-BE49-F238E27FC236}">
                <a16:creationId xmlns:a16="http://schemas.microsoft.com/office/drawing/2014/main" id="{6435B744-93FE-475D-82AC-13B9DAD9A477}"/>
              </a:ext>
            </a:extLst>
          </p:cNvPr>
          <p:cNvSpPr>
            <a:spLocks xmlns:a="http://schemas.openxmlformats.org/drawingml/2006/main" noGrp="1"/>
          </p:cNvSpPr>
          <p:nvPr/>
        </p:nvSpPr>
        <p:spPr>
          <a:xfrm xmlns:a="http://schemas.openxmlformats.org/drawingml/2006/main">
            <a:off x="1000125" y="3952875"/>
            <a:ext cx="2238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Fast wake relaxation</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weak collective effects</a:t>
            </a:r>
          </a:p>
        </p:txBody>
      </p:sp>
      <p:sp>
        <p:nvSpPr>
          <p:cNvPr id="11" name="">
            <a:extLst xmlns:a="http://schemas.openxmlformats.org/drawingml/2006/main">
              <a:ext uri="{FF2B5EF4-FFF2-40B4-BE49-F238E27FC236}">
                <a16:creationId xmlns:a16="http://schemas.microsoft.com/office/drawing/2014/main" id="{F7E22057-15DF-40F9-955E-A1BDC82BB0C0}"/>
              </a:ext>
            </a:extLst>
          </p:cNvPr>
          <p:cNvSpPr>
            <a:spLocks xmlns:a="http://schemas.openxmlformats.org/drawingml/2006/main" noGrp="1"/>
          </p:cNvSpPr>
          <p:nvPr/>
        </p:nvSpPr>
        <p:spPr>
          <a:xfrm xmlns:a="http://schemas.openxmlformats.org/drawingml/2006/main">
            <a:off x="3714750" y="3105150"/>
            <a:ext cx="171450" cy="171450"/>
          </a:xfrm>
          <a:prstGeom xmlns:a="http://schemas.openxmlformats.org/drawingml/2006/main" prst="ellipse">
            <a:avLst/>
          </a:prstGeom>
          <a:solidFill xmlns:a="http://schemas.openxmlformats.org/drawingml/2006/main">
            <a:srgbClr val="3D8DFF"/>
          </a:solidFill>
          <a:ln xmlns:a="http://schemas.openxmlformats.org/drawingml/2006/main" w="4763">
            <a:solidFill>
              <a:srgbClr val="000000"/>
            </a:solidFill>
            <a:prstDash val="solid"/>
          </a:ln>
        </p:spPr>
      </p:sp>
      <p:sp>
        <p:nvSpPr>
          <p:cNvPr id="12" name="">
            <a:extLst xmlns:a="http://schemas.openxmlformats.org/drawingml/2006/main">
              <a:ext uri="{FF2B5EF4-FFF2-40B4-BE49-F238E27FC236}">
                <a16:creationId xmlns:a16="http://schemas.microsoft.com/office/drawing/2014/main" id="{D665AE24-139F-430D-9162-F0C1F2404490}"/>
              </a:ext>
            </a:extLst>
          </p:cNvPr>
          <p:cNvSpPr>
            <a:spLocks xmlns:a="http://schemas.openxmlformats.org/drawingml/2006/main" noGrp="1"/>
          </p:cNvSpPr>
          <p:nvPr/>
        </p:nvSpPr>
        <p:spPr>
          <a:xfrm xmlns:a="http://schemas.openxmlformats.org/drawingml/2006/main">
            <a:off x="3714750" y="3524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43A72"/>
                </a:solidFill>
                <a:latin typeface="Helvetica Neue"/>
                <a:ea typeface="Helvetica Neue"/>
                <a:cs typeface="Helvetica Neue"/>
              </a:defRPr>
            </a:pPr>
            <a:r>
              <a:rPr sz="1350" b="1" i="0">
                <a:solidFill>
                  <a:srgbClr val="143A72"/>
                </a:solidFill>
                <a:latin typeface="Helvetica Neue"/>
                <a:ea typeface="Helvetica Neue"/>
                <a:cs typeface="Helvetica Neue"/>
              </a:rPr>
              <a:t>CONTEXT</a:t>
            </a:r>
          </a:p>
        </p:txBody>
      </p:sp>
      <p:sp>
        <p:nvSpPr>
          <p:cNvPr id="13" name="">
            <a:extLst xmlns:a="http://schemas.openxmlformats.org/drawingml/2006/main">
              <a:ext uri="{FF2B5EF4-FFF2-40B4-BE49-F238E27FC236}">
                <a16:creationId xmlns:a16="http://schemas.microsoft.com/office/drawing/2014/main" id="{FA911C69-8471-4AC3-930B-DF8109C469F4}"/>
              </a:ext>
            </a:extLst>
          </p:cNvPr>
          <p:cNvSpPr>
            <a:spLocks xmlns:a="http://schemas.openxmlformats.org/drawingml/2006/main" noGrp="1"/>
          </p:cNvSpPr>
          <p:nvPr/>
        </p:nvSpPr>
        <p:spPr>
          <a:xfrm xmlns:a="http://schemas.openxmlformats.org/drawingml/2006/main">
            <a:off x="3714750" y="3952875"/>
            <a:ext cx="2238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Local geometry changes</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effective interactions</a:t>
            </a:r>
          </a:p>
        </p:txBody>
      </p:sp>
      <p:sp>
        <p:nvSpPr>
          <p:cNvPr id="14" name="">
            <a:extLst xmlns:a="http://schemas.openxmlformats.org/drawingml/2006/main">
              <a:ext uri="{FF2B5EF4-FFF2-40B4-BE49-F238E27FC236}">
                <a16:creationId xmlns:a16="http://schemas.microsoft.com/office/drawing/2014/main" id="{9C8A21E4-0837-4E0D-B240-6E98134E600C}"/>
              </a:ext>
            </a:extLst>
          </p:cNvPr>
          <p:cNvSpPr>
            <a:spLocks xmlns:a="http://schemas.openxmlformats.org/drawingml/2006/main" noGrp="1"/>
          </p:cNvSpPr>
          <p:nvPr/>
        </p:nvSpPr>
        <p:spPr>
          <a:xfrm xmlns:a="http://schemas.openxmlformats.org/drawingml/2006/main">
            <a:off x="6429375" y="3105150"/>
            <a:ext cx="171450" cy="171450"/>
          </a:xfrm>
          <a:prstGeom xmlns:a="http://schemas.openxmlformats.org/drawingml/2006/main" prst="ellipse">
            <a:avLst/>
          </a:prstGeom>
          <a:solidFill xmlns:a="http://schemas.openxmlformats.org/drawingml/2006/main">
            <a:srgbClr val="18AEB5"/>
          </a:solidFill>
          <a:ln xmlns:a="http://schemas.openxmlformats.org/drawingml/2006/main" w="4763">
            <a:solidFill>
              <a:srgbClr val="000000"/>
            </a:solidFill>
            <a:prstDash val="solid"/>
          </a:ln>
        </p:spPr>
      </p:sp>
      <p:sp>
        <p:nvSpPr>
          <p:cNvPr id="15" name="">
            <a:extLst xmlns:a="http://schemas.openxmlformats.org/drawingml/2006/main">
              <a:ext uri="{FF2B5EF4-FFF2-40B4-BE49-F238E27FC236}">
                <a16:creationId xmlns:a16="http://schemas.microsoft.com/office/drawing/2014/main" id="{CB8887F3-CB5F-44EF-BB56-E9D235BBE2CD}"/>
              </a:ext>
            </a:extLst>
          </p:cNvPr>
          <p:cNvSpPr>
            <a:spLocks xmlns:a="http://schemas.openxmlformats.org/drawingml/2006/main" noGrp="1"/>
          </p:cNvSpPr>
          <p:nvPr/>
        </p:nvSpPr>
        <p:spPr>
          <a:xfrm xmlns:a="http://schemas.openxmlformats.org/drawingml/2006/main">
            <a:off x="6429375" y="3524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43A72"/>
                </a:solidFill>
                <a:latin typeface="Helvetica Neue"/>
                <a:ea typeface="Helvetica Neue"/>
                <a:cs typeface="Helvetica Neue"/>
              </a:defRPr>
            </a:pPr>
            <a:r>
              <a:rPr sz="1350" b="1" i="0">
                <a:solidFill>
                  <a:srgbClr val="143A72"/>
                </a:solidFill>
                <a:latin typeface="Helvetica Neue"/>
                <a:ea typeface="Helvetica Neue"/>
                <a:cs typeface="Helvetica Neue"/>
              </a:rPr>
              <a:t>MEMORY</a:t>
            </a:r>
          </a:p>
        </p:txBody>
      </p:sp>
      <p:sp>
        <p:nvSpPr>
          <p:cNvPr id="16" name="">
            <a:extLst xmlns:a="http://schemas.openxmlformats.org/drawingml/2006/main">
              <a:ext uri="{FF2B5EF4-FFF2-40B4-BE49-F238E27FC236}">
                <a16:creationId xmlns:a16="http://schemas.microsoft.com/office/drawing/2014/main" id="{98F9529C-24EC-413E-9975-8886D17C6461}"/>
              </a:ext>
            </a:extLst>
          </p:cNvPr>
          <p:cNvSpPr>
            <a:spLocks xmlns:a="http://schemas.openxmlformats.org/drawingml/2006/main" noGrp="1"/>
          </p:cNvSpPr>
          <p:nvPr/>
        </p:nvSpPr>
        <p:spPr>
          <a:xfrm xmlns:a="http://schemas.openxmlformats.org/drawingml/2006/main">
            <a:off x="6429375" y="3952875"/>
            <a:ext cx="2238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Wake/field relaxation</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competes with particle time</a:t>
            </a:r>
          </a:p>
        </p:txBody>
      </p:sp>
      <p:sp>
        <p:nvSpPr>
          <p:cNvPr id="17" name="">
            <a:extLst xmlns:a="http://schemas.openxmlformats.org/drawingml/2006/main">
              <a:ext uri="{FF2B5EF4-FFF2-40B4-BE49-F238E27FC236}">
                <a16:creationId xmlns:a16="http://schemas.microsoft.com/office/drawing/2014/main" id="{4612BF7F-EB01-4FB8-8B37-BB4C269570BC}"/>
              </a:ext>
            </a:extLst>
          </p:cNvPr>
          <p:cNvSpPr>
            <a:spLocks xmlns:a="http://schemas.openxmlformats.org/drawingml/2006/main" noGrp="1"/>
          </p:cNvSpPr>
          <p:nvPr/>
        </p:nvSpPr>
        <p:spPr>
          <a:xfrm xmlns:a="http://schemas.openxmlformats.org/drawingml/2006/main">
            <a:off x="9144000" y="3105150"/>
            <a:ext cx="171450" cy="171450"/>
          </a:xfrm>
          <a:prstGeom xmlns:a="http://schemas.openxmlformats.org/drawingml/2006/main" prst="ellipse">
            <a:avLst/>
          </a:prstGeom>
          <a:solidFill xmlns:a="http://schemas.openxmlformats.org/drawingml/2006/main">
            <a:srgbClr val="F06A3C"/>
          </a:solidFill>
          <a:ln xmlns:a="http://schemas.openxmlformats.org/drawingml/2006/main" w="4763">
            <a:solidFill>
              <a:srgbClr val="000000"/>
            </a:solidFill>
            <a:prstDash val="solid"/>
          </a:ln>
        </p:spPr>
      </p:sp>
      <p:sp>
        <p:nvSpPr>
          <p:cNvPr id="18" name="">
            <a:extLst xmlns:a="http://schemas.openxmlformats.org/drawingml/2006/main">
              <a:ext uri="{FF2B5EF4-FFF2-40B4-BE49-F238E27FC236}">
                <a16:creationId xmlns:a16="http://schemas.microsoft.com/office/drawing/2014/main" id="{86F82DFC-CE50-4314-A3E3-E4DBCA86CBBB}"/>
              </a:ext>
            </a:extLst>
          </p:cNvPr>
          <p:cNvSpPr>
            <a:spLocks xmlns:a="http://schemas.openxmlformats.org/drawingml/2006/main" noGrp="1"/>
          </p:cNvSpPr>
          <p:nvPr/>
        </p:nvSpPr>
        <p:spPr>
          <a:xfrm xmlns:a="http://schemas.openxmlformats.org/drawingml/2006/main">
            <a:off x="9144000" y="35242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F06A3C"/>
                </a:solidFill>
                <a:latin typeface="Helvetica Neue"/>
                <a:ea typeface="Helvetica Neue"/>
                <a:cs typeface="Helvetica Neue"/>
              </a:defRPr>
            </a:pPr>
            <a:r>
              <a:rPr sz="1350" b="1" i="0">
                <a:solidFill>
                  <a:srgbClr val="F06A3C"/>
                </a:solidFill>
                <a:latin typeface="Helvetica Neue"/>
                <a:ea typeface="Helvetica Neue"/>
                <a:cs typeface="Helvetica Neue"/>
              </a:rPr>
              <a:t>COLLECTIVE</a:t>
            </a:r>
          </a:p>
        </p:txBody>
      </p:sp>
      <p:sp>
        <p:nvSpPr>
          <p:cNvPr id="19" name="">
            <a:extLst xmlns:a="http://schemas.openxmlformats.org/drawingml/2006/main">
              <a:ext uri="{FF2B5EF4-FFF2-40B4-BE49-F238E27FC236}">
                <a16:creationId xmlns:a16="http://schemas.microsoft.com/office/drawing/2014/main" id="{A4C3F82D-7741-44B5-8DAE-9431B3BC3D97}"/>
              </a:ext>
            </a:extLst>
          </p:cNvPr>
          <p:cNvSpPr>
            <a:spLocks xmlns:a="http://schemas.openxmlformats.org/drawingml/2006/main" noGrp="1"/>
          </p:cNvSpPr>
          <p:nvPr/>
        </p:nvSpPr>
        <p:spPr>
          <a:xfrm xmlns:a="http://schemas.openxmlformats.org/drawingml/2006/main">
            <a:off x="9144000" y="3952875"/>
            <a:ext cx="2238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Pairwise representation</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is structurally insufficient</a:t>
            </a:r>
          </a:p>
        </p:txBody>
      </p:sp>
      <p:sp>
        <p:nvSpPr>
          <p:cNvPr id="20" name="">
            <a:extLst xmlns:a="http://schemas.openxmlformats.org/drawingml/2006/main">
              <a:ext uri="{FF2B5EF4-FFF2-40B4-BE49-F238E27FC236}">
                <a16:creationId xmlns:a16="http://schemas.microsoft.com/office/drawing/2014/main" id="{C26BA588-897F-4EEA-B84C-58397C652FF6}"/>
              </a:ext>
            </a:extLst>
          </p:cNvPr>
          <p:cNvSpPr>
            <a:spLocks xmlns:a="http://schemas.openxmlformats.org/drawingml/2006/main" noGrp="1"/>
          </p:cNvSpPr>
          <p:nvPr/>
        </p:nvSpPr>
        <p:spPr>
          <a:xfrm xmlns:a="http://schemas.openxmlformats.org/drawingml/2006/main">
            <a:off x="2247900" y="5467350"/>
            <a:ext cx="7696200" cy="600075"/>
          </a:xfrm>
          <a:prstGeom xmlns:a="http://schemas.openxmlformats.org/drawingml/2006/main" prst="rect">
            <a:avLst/>
          </a:prstGeom>
          <a:solidFill xmlns:a="http://schemas.openxmlformats.org/drawingml/2006/main">
            <a:srgbClr val="FCE6DE"/>
          </a:solidFill>
          <a:ln xmlns:a="http://schemas.openxmlformats.org/drawingml/2006/main" w="9525">
            <a:solidFill>
              <a:srgbClr val="F06A3C"/>
            </a:solidFill>
            <a:prstDash val="solid"/>
          </a:ln>
        </p:spPr>
      </p:sp>
      <p:sp>
        <p:nvSpPr>
          <p:cNvPr id="21" name="">
            <a:extLst xmlns:a="http://schemas.openxmlformats.org/drawingml/2006/main">
              <a:ext uri="{FF2B5EF4-FFF2-40B4-BE49-F238E27FC236}">
                <a16:creationId xmlns:a16="http://schemas.microsoft.com/office/drawing/2014/main" id="{377FF667-6B74-4627-8362-7B75AE5898BA}"/>
              </a:ext>
            </a:extLst>
          </p:cNvPr>
          <p:cNvSpPr>
            <a:spLocks xmlns:a="http://schemas.openxmlformats.org/drawingml/2006/main" noGrp="1"/>
          </p:cNvSpPr>
          <p:nvPr/>
        </p:nvSpPr>
        <p:spPr>
          <a:xfrm xmlns:a="http://schemas.openxmlformats.org/drawingml/2006/main">
            <a:off x="2476500" y="562927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602"/>
          </a:bodyPr>
          <a:lstStyle xmlns:a="http://schemas.openxmlformats.org/drawingml/2006/main"/>
          <a:p xmlns:a="http://schemas.openxmlformats.org/drawingml/2006/main">
            <a:pPr algn="ctr">
              <a:buNone/>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Production profile: reference physics, owner, and independent validation still require approval.</a:t>
            </a:r>
          </a:p>
        </p:txBody>
      </p:sp>
    </p:spTree>
    <p:extLst>
      <p:ext uri="{BB962C8B-B14F-4D97-AF65-F5344CB8AC3E}">
        <p14:creationId xmlns:p14="http://schemas.microsoft.com/office/powerpoint/2010/main" val="31806261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551CCF-F9DC-47E7-BB0A-19D2CE14FD46}"/>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8FB8D718-B8C6-42DF-BC28-C8A7038C527F}"/>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Add information one rung at a time</a:t>
            </a:r>
          </a:p>
        </p:txBody>
      </p:sp>
      <p:cxnSp>
        <p:nvCxnSpPr>
          <p:cNvPr id="21"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7D46CE4E-C27C-452C-918A-33A974D36EE8}"/>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13</a:t>
            </a:r>
          </a:p>
        </p:txBody>
      </p:sp>
      <p:graphicFrame>
        <p:nvGraphicFramePr>
          <p:cNvPr id="23" name=""/>
          <p:cNvGraphicFramePr/>
          <p:nvPr/>
        </p:nvGraphicFramePr>
        <p:xfrm>
          <a:off xmlns:a="http://schemas.openxmlformats.org/drawingml/2006/main" x="400050" y="1476375"/>
          <a:ext xmlns:a="http://schemas.openxmlformats.org/drawingml/2006/main" cx="11391900" cy="3733800"/>
        </p:xfrm>
        <a:graphic xmlns:a="http://schemas.openxmlformats.org/drawingml/2006/main">
          <a:graphicData uri="http://schemas.openxmlformats.org/drawingml/2006/table">
            <a:tbl>
              <a:tblPr firstRow="1" bandRow="0"/>
              <a:tblGrid>
                <a:gridCol w="3000375"/>
                <a:gridCol w="3429000"/>
                <a:gridCol w="4962525"/>
              </a:tblGrid>
              <a:tr h="622300">
                <a:tc>
                  <a:txBody>
                    <a:bodyPr/>
                    <a:lstStyle/>
                    <a:p>
                      <a:r>
                        <a:rPr sz="1275" b="1">
                          <a:solidFill>
                            <a:srgbClr val="FFFFFF"/>
                          </a:solidFill>
                        </a:rPr>
                        <a:t>Candidate</a:t>
                      </a:r>
                    </a:p>
                  </a:txBody>
                  <a:tcPr marL="91440" marR="91440" marT="45720" marB="45720">
                    <a:solidFill>
                      <a:srgbClr val="143A72"/>
                    </a:solidFill>
                  </a:tcPr>
                </a:tc>
                <a:tc>
                  <a:txBody>
                    <a:bodyPr/>
                    <a:lstStyle/>
                    <a:p>
                      <a:r>
                        <a:rPr sz="1275" b="1">
                          <a:solidFill>
                            <a:srgbClr val="FFFFFF"/>
                          </a:solidFill>
                        </a:rPr>
                        <a:t>Information added</a:t>
                      </a:r>
                    </a:p>
                  </a:txBody>
                  <a:tcPr marL="91440" marR="91440" marT="45720" marB="45720">
                    <a:solidFill>
                      <a:srgbClr val="143A72"/>
                    </a:solidFill>
                  </a:tcPr>
                </a:tc>
                <a:tc>
                  <a:txBody>
                    <a:bodyPr/>
                    <a:lstStyle/>
                    <a:p>
                      <a:r>
                        <a:rPr sz="1275" b="1">
                          <a:solidFill>
                            <a:srgbClr val="FFFFFF"/>
                          </a:solidFill>
                        </a:rPr>
                        <a:t>Question answered</a:t>
                      </a:r>
                    </a:p>
                  </a:txBody>
                  <a:tcPr marL="91440" marR="91440" marT="45720" marB="45720">
                    <a:solidFill>
                      <a:srgbClr val="143A72"/>
                    </a:solidFill>
                  </a:tcPr>
                </a:tc>
              </a:tr>
              <a:tr h="622300">
                <a:tc>
                  <a:txBody>
                    <a:bodyPr/>
                    <a:lstStyle/>
                    <a:p>
                      <a:r>
                        <a:rPr sz="1275">
                          <a:solidFill>
                            <a:srgbClr val="000000"/>
                          </a:solidFill>
                        </a:rPr>
                        <a:t>Analytic pair law</a:t>
                      </a:r>
                    </a:p>
                  </a:txBody>
                  <a:tcPr marL="91440" marR="91440" marT="45720" marB="45720"/>
                </a:tc>
                <a:tc>
                  <a:txBody>
                    <a:bodyPr/>
                    <a:lstStyle/>
                    <a:p>
                      <a:r>
                        <a:rPr sz="1275">
                          <a:solidFill>
                            <a:srgbClr val="000000"/>
                          </a:solidFill>
                        </a:rPr>
                        <a:t>Trusted parametric structure</a:t>
                      </a:r>
                    </a:p>
                  </a:txBody>
                  <a:tcPr marL="91440" marR="91440" marT="45720" marB="45720"/>
                </a:tc>
                <a:tc>
                  <a:txBody>
                    <a:bodyPr/>
                    <a:lstStyle/>
                    <a:p>
                      <a:r>
                        <a:rPr sz="1275">
                          <a:solidFill>
                            <a:srgbClr val="000000"/>
                          </a:solidFill>
                        </a:rPr>
                        <a:t>Does the classical baseline suffice?</a:t>
                      </a:r>
                    </a:p>
                  </a:txBody>
                  <a:tcPr marL="91440" marR="91440" marT="45720" marB="45720"/>
                </a:tc>
              </a:tr>
              <a:tr h="622300">
                <a:tc>
                  <a:txBody>
                    <a:bodyPr/>
                    <a:lstStyle/>
                    <a:p>
                      <a:r>
                        <a:rPr sz="1275">
                          <a:solidFill>
                            <a:srgbClr val="000000"/>
                          </a:solidFill>
                        </a:rPr>
                        <a:t>Learned pair kernel</a:t>
                      </a:r>
                    </a:p>
                  </a:txBody>
                  <a:tcPr marL="91440" marR="91440" marT="45720" marB="45720">
                    <a:solidFill>
                      <a:srgbClr val="F6F7F8"/>
                    </a:solidFill>
                  </a:tcPr>
                </a:tc>
                <a:tc>
                  <a:txBody>
                    <a:bodyPr/>
                    <a:lstStyle/>
                    <a:p>
                      <a:r>
                        <a:rPr sz="1275">
                          <a:solidFill>
                            <a:srgbClr val="000000"/>
                          </a:solidFill>
                        </a:rPr>
                        <a:t>Flexible pairwise dependence</a:t>
                      </a:r>
                    </a:p>
                  </a:txBody>
                  <a:tcPr marL="91440" marR="91440" marT="45720" marB="45720">
                    <a:solidFill>
                      <a:srgbClr val="F6F7F8"/>
                    </a:solidFill>
                  </a:tcPr>
                </a:tc>
                <a:tc>
                  <a:txBody>
                    <a:bodyPr/>
                    <a:lstStyle/>
                    <a:p>
                      <a:r>
                        <a:rPr sz="1275">
                          <a:solidFill>
                            <a:srgbClr val="000000"/>
                          </a:solidFill>
                        </a:rPr>
                        <a:t>Is pairwise information sufficient?</a:t>
                      </a:r>
                    </a:p>
                  </a:txBody>
                  <a:tcPr marL="91440" marR="91440" marT="45720" marB="45720">
                    <a:solidFill>
                      <a:srgbClr val="F6F7F8"/>
                    </a:solidFill>
                  </a:tcPr>
                </a:tc>
              </a:tr>
              <a:tr h="622300">
                <a:tc>
                  <a:txBody>
                    <a:bodyPr/>
                    <a:lstStyle/>
                    <a:p>
                      <a:r>
                        <a:rPr sz="1275">
                          <a:solidFill>
                            <a:srgbClr val="000000"/>
                          </a:solidFill>
                        </a:rPr>
                        <a:t>Instantaneous graph model</a:t>
                      </a:r>
                    </a:p>
                  </a:txBody>
                  <a:tcPr marL="91440" marR="91440" marT="45720" marB="45720"/>
                </a:tc>
                <a:tc>
                  <a:txBody>
                    <a:bodyPr/>
                    <a:lstStyle/>
                    <a:p>
                      <a:r>
                        <a:rPr sz="1275">
                          <a:solidFill>
                            <a:srgbClr val="000000"/>
                          </a:solidFill>
                        </a:rPr>
                        <a:t>Many-particle context</a:t>
                      </a:r>
                    </a:p>
                  </a:txBody>
                  <a:tcPr marL="91440" marR="91440" marT="45720" marB="45720"/>
                </a:tc>
                <a:tc>
                  <a:txBody>
                    <a:bodyPr/>
                    <a:lstStyle/>
                    <a:p>
                      <a:r>
                        <a:rPr sz="1275">
                          <a:solidFill>
                            <a:srgbClr val="000000"/>
                          </a:solidFill>
                        </a:rPr>
                        <a:t>Does local geometry change the law?</a:t>
                      </a:r>
                    </a:p>
                  </a:txBody>
                  <a:tcPr marL="91440" marR="91440" marT="45720" marB="45720"/>
                </a:tc>
              </a:tr>
              <a:tr h="622300">
                <a:tc>
                  <a:txBody>
                    <a:bodyPr/>
                    <a:lstStyle/>
                    <a:p>
                      <a:r>
                        <a:rPr sz="1275">
                          <a:solidFill>
                            <a:srgbClr val="000000"/>
                          </a:solidFill>
                        </a:rPr>
                        <a:t>Memory graph / auxiliary state</a:t>
                      </a:r>
                    </a:p>
                  </a:txBody>
                  <a:tcPr marL="91440" marR="91440" marT="45720" marB="45720">
                    <a:solidFill>
                      <a:srgbClr val="F6F7F8"/>
                    </a:solidFill>
                  </a:tcPr>
                </a:tc>
                <a:tc>
                  <a:txBody>
                    <a:bodyPr/>
                    <a:lstStyle/>
                    <a:p>
                      <a:r>
                        <a:rPr sz="1275">
                          <a:solidFill>
                            <a:srgbClr val="000000"/>
                          </a:solidFill>
                        </a:rPr>
                        <a:t>Finite history</a:t>
                      </a:r>
                    </a:p>
                  </a:txBody>
                  <a:tcPr marL="91440" marR="91440" marT="45720" marB="45720">
                    <a:solidFill>
                      <a:srgbClr val="F6F7F8"/>
                    </a:solidFill>
                  </a:tcPr>
                </a:tc>
                <a:tc>
                  <a:txBody>
                    <a:bodyPr/>
                    <a:lstStyle/>
                    <a:p>
                      <a:r>
                        <a:rPr sz="1275">
                          <a:solidFill>
                            <a:srgbClr val="000000"/>
                          </a:solidFill>
                        </a:rPr>
                        <a:t>Does lagged environment matter?</a:t>
                      </a:r>
                    </a:p>
                  </a:txBody>
                  <a:tcPr marL="91440" marR="91440" marT="45720" marB="45720">
                    <a:solidFill>
                      <a:srgbClr val="F6F7F8"/>
                    </a:solidFill>
                  </a:tcPr>
                </a:tc>
              </a:tr>
              <a:tr h="622300">
                <a:tc>
                  <a:txBody>
                    <a:bodyPr/>
                    <a:lstStyle/>
                    <a:p>
                      <a:r>
                        <a:rPr sz="1275">
                          <a:solidFill>
                            <a:srgbClr val="000000"/>
                          </a:solidFill>
                        </a:rPr>
                        <a:t>Black-box dynamics control</a:t>
                      </a:r>
                    </a:p>
                  </a:txBody>
                  <a:tcPr marL="91440" marR="91440" marT="45720" marB="45720"/>
                </a:tc>
                <a:tc>
                  <a:txBody>
                    <a:bodyPr/>
                    <a:lstStyle/>
                    <a:p>
                      <a:r>
                        <a:rPr sz="1275">
                          <a:solidFill>
                            <a:srgbClr val="000000"/>
                          </a:solidFill>
                        </a:rPr>
                        <a:t>Unrestricted state mapping</a:t>
                      </a:r>
                    </a:p>
                  </a:txBody>
                  <a:tcPr marL="91440" marR="91440" marT="45720" marB="45720"/>
                </a:tc>
                <a:tc>
                  <a:txBody>
                    <a:bodyPr/>
                    <a:lstStyle/>
                    <a:p>
                      <a:r>
                        <a:rPr sz="1275">
                          <a:solidFill>
                            <a:srgbClr val="000000"/>
                          </a:solidFill>
                        </a:rPr>
                        <a:t>What is the predictive ceiling?</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ED9D6A78-ABAB-454D-9983-93C554593D52}"/>
              </a:ext>
            </a:extLst>
          </p:cNvPr>
          <p:cNvSpPr>
            <a:spLocks xmlns:a="http://schemas.openxmlformats.org/drawingml/2006/main" noGrp="1"/>
          </p:cNvSpPr>
          <p:nvPr/>
        </p:nvSpPr>
        <p:spPr>
          <a:xfrm xmlns:a="http://schemas.openxmlformats.org/drawingml/2006/main">
            <a:off x="400050" y="553402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buNone/>
              <a:defRPr sz="1200" b="1" i="0">
                <a:solidFill>
                  <a:srgbClr val="5B6472"/>
                </a:solidFill>
                <a:latin typeface="Helvetica Neue"/>
                <a:ea typeface="Helvetica Neue"/>
                <a:cs typeface="Helvetica Neue"/>
              </a:defRPr>
            </a:pPr>
            <a:r>
              <a:rPr sz="1200" b="1" i="0">
                <a:solidFill>
                  <a:srgbClr val="5B6472"/>
                </a:solidFill>
                <a:latin typeface="Helvetica Neue"/>
                <a:ea typeface="Helvetica Neue"/>
                <a:cs typeface="Helvetica Neue"/>
              </a:rPr>
              <a:t>SWEEP</a:t>
            </a:r>
          </a:p>
        </p:txBody>
      </p:sp>
      <p:sp>
        <p:nvSpPr>
          <p:cNvPr id="7" name="">
            <a:extLst xmlns:a="http://schemas.openxmlformats.org/drawingml/2006/main">
              <a:ext uri="{FF2B5EF4-FFF2-40B4-BE49-F238E27FC236}">
                <a16:creationId xmlns:a16="http://schemas.microsoft.com/office/drawing/2014/main" id="{828EA56B-4079-42E0-A3AC-AB3B2EFA052F}"/>
              </a:ext>
            </a:extLst>
          </p:cNvPr>
          <p:cNvSpPr>
            <a:spLocks xmlns:a="http://schemas.openxmlformats.org/drawingml/2006/main" noGrp="1"/>
          </p:cNvSpPr>
          <p:nvPr/>
        </p:nvSpPr>
        <p:spPr>
          <a:xfrm xmlns:a="http://schemas.openxmlformats.org/drawingml/2006/main">
            <a:off x="1409700" y="54673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i="0">
                <a:solidFill>
                  <a:srgbClr val="18AEB5"/>
                </a:solidFill>
                <a:latin typeface="Helvetica Neue"/>
                <a:ea typeface="Helvetica Neue"/>
                <a:cs typeface="Helvetica Neue"/>
              </a:defRPr>
            </a:pPr>
            <a:r>
              <a:rPr sz="1650" b="1" i="0">
                <a:solidFill>
                  <a:srgbClr val="18AEB5"/>
                </a:solidFill>
                <a:latin typeface="Helvetica Neue"/>
                <a:ea typeface="Helvetica Neue"/>
                <a:cs typeface="Helvetica Neue"/>
              </a:rPr>
              <a:t>wake relaxation  τw</a:t>
            </a:r>
          </a:p>
        </p:txBody>
      </p:sp>
      <p:sp>
        <p:nvSpPr>
          <p:cNvPr id="8" name="">
            <a:extLst xmlns:a="http://schemas.openxmlformats.org/drawingml/2006/main">
              <a:ext uri="{FF2B5EF4-FFF2-40B4-BE49-F238E27FC236}">
                <a16:creationId xmlns:a16="http://schemas.microsoft.com/office/drawing/2014/main" id="{C6EE86C7-5F14-4D12-9B59-3EE4A0E52EAB}"/>
              </a:ext>
            </a:extLst>
          </p:cNvPr>
          <p:cNvSpPr>
            <a:spLocks xmlns:a="http://schemas.openxmlformats.org/drawingml/2006/main" noGrp="1"/>
          </p:cNvSpPr>
          <p:nvPr/>
        </p:nvSpPr>
        <p:spPr>
          <a:xfrm xmlns:a="http://schemas.openxmlformats.org/drawingml/2006/main">
            <a:off x="4191000" y="546735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i="0">
                <a:solidFill>
                  <a:srgbClr val="143A72"/>
                </a:solidFill>
                <a:latin typeface="Helvetica Neue"/>
                <a:ea typeface="Helvetica Neue"/>
                <a:cs typeface="Helvetica Neue"/>
              </a:defRPr>
            </a:pPr>
            <a:r>
              <a:rPr sz="1650" b="1" i="0">
                <a:solidFill>
                  <a:srgbClr val="143A72"/>
                </a:solidFill>
                <a:latin typeface="Helvetica Neue"/>
                <a:ea typeface="Helvetica Neue"/>
                <a:cs typeface="Helvetica Neue"/>
              </a:rPr>
              <a:t>density / coupling</a:t>
            </a:r>
          </a:p>
        </p:txBody>
      </p:sp>
      <p:sp>
        <p:nvSpPr>
          <p:cNvPr id="9" name="">
            <a:extLst xmlns:a="http://schemas.openxmlformats.org/drawingml/2006/main">
              <a:ext uri="{FF2B5EF4-FFF2-40B4-BE49-F238E27FC236}">
                <a16:creationId xmlns:a16="http://schemas.microsoft.com/office/drawing/2014/main" id="{45DEA452-DDC4-4255-976D-401C119C856D}"/>
              </a:ext>
            </a:extLst>
          </p:cNvPr>
          <p:cNvSpPr>
            <a:spLocks xmlns:a="http://schemas.openxmlformats.org/drawingml/2006/main" noGrp="1"/>
          </p:cNvSpPr>
          <p:nvPr/>
        </p:nvSpPr>
        <p:spPr>
          <a:xfrm xmlns:a="http://schemas.openxmlformats.org/drawingml/2006/main">
            <a:off x="6924675" y="54673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i="0">
                <a:solidFill>
                  <a:srgbClr val="F06A3C"/>
                </a:solidFill>
                <a:latin typeface="Helvetica Neue"/>
                <a:ea typeface="Helvetica Neue"/>
                <a:cs typeface="Helvetica Neue"/>
              </a:defRPr>
            </a:pPr>
            <a:r>
              <a:rPr sz="1650" b="1" i="0">
                <a:solidFill>
                  <a:srgbClr val="F06A3C"/>
                </a:solidFill>
                <a:latin typeface="Helvetica Neue"/>
                <a:ea typeface="Helvetica Neue"/>
                <a:cs typeface="Helvetica Neue"/>
              </a:rPr>
              <a:t>forcing history</a:t>
            </a:r>
          </a:p>
        </p:txBody>
      </p:sp>
      <p:sp>
        <p:nvSpPr>
          <p:cNvPr id="10" name="">
            <a:extLst xmlns:a="http://schemas.openxmlformats.org/drawingml/2006/main">
              <a:ext uri="{FF2B5EF4-FFF2-40B4-BE49-F238E27FC236}">
                <a16:creationId xmlns:a16="http://schemas.microsoft.com/office/drawing/2014/main" id="{A61A8686-81AD-475B-9005-9BC9C0E96F10}"/>
              </a:ext>
            </a:extLst>
          </p:cNvPr>
          <p:cNvSpPr>
            <a:spLocks xmlns:a="http://schemas.openxmlformats.org/drawingml/2006/main" noGrp="1"/>
          </p:cNvSpPr>
          <p:nvPr/>
        </p:nvSpPr>
        <p:spPr>
          <a:xfrm xmlns:a="http://schemas.openxmlformats.org/drawingml/2006/main">
            <a:off x="9001125" y="5410200"/>
            <a:ext cx="2714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Do cumulants warn before rollout failure?</a:t>
            </a:r>
          </a:p>
        </p:txBody>
      </p:sp>
    </p:spTree>
    <p:extLst>
      <p:ext uri="{BB962C8B-B14F-4D97-AF65-F5344CB8AC3E}">
        <p14:creationId xmlns:p14="http://schemas.microsoft.com/office/powerpoint/2010/main" val="178428065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8C4AF00-6221-42C0-B9E0-A33A4945B82F}"/>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49A196B9-16E5-470F-A95E-6A9FE3551796}"/>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Four linked bake-offs make one program</a:t>
            </a:r>
          </a:p>
        </p:txBody>
      </p:sp>
      <p:cxnSp>
        <p:nvCxnSpPr>
          <p:cNvPr id="36"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3BCC6CE9-C380-4E13-80D9-CDDD6DA0BC63}"/>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14</a:t>
            </a:r>
          </a:p>
        </p:txBody>
      </p:sp>
      <p:cxnSp>
        <p:nvCxnSpPr>
          <p:cNvPr id="38" name=""/>
          <p:cNvCxnSpPr/>
          <p:nvPr/>
        </p:nvCxnSpPr>
        <p:spPr>
          <a:xfrm xmlns:a="http://schemas.openxmlformats.org/drawingml/2006/main">
            <a:off x="990600" y="2886075"/>
            <a:ext cx="9715500" cy="953"/>
          </a:xfrm>
          <a:prstGeom xmlns:a="http://schemas.openxmlformats.org/drawingml/2006/main" prst="straightConnector1">
            <a:avLst/>
          </a:prstGeom>
          <a:ln xmlns:a="http://schemas.openxmlformats.org/drawingml/2006/main" w="19050">
            <a:solidFill>
              <a:srgbClr val="000000"/>
            </a:solidFill>
            <a:prstDash val="solid"/>
          </a:ln>
        </p:spPr>
      </p:cxnSp>
      <p:sp>
        <p:nvSpPr>
          <p:cNvPr id="6" name="">
            <a:extLst xmlns:a="http://schemas.openxmlformats.org/drawingml/2006/main">
              <a:ext uri="{FF2B5EF4-FFF2-40B4-BE49-F238E27FC236}">
                <a16:creationId xmlns:a16="http://schemas.microsoft.com/office/drawing/2014/main" id="{C2992271-44A2-4A10-A1B5-C2862E208ED2}"/>
              </a:ext>
            </a:extLst>
          </p:cNvPr>
          <p:cNvSpPr>
            <a:spLocks xmlns:a="http://schemas.openxmlformats.org/drawingml/2006/main" noGrp="1"/>
          </p:cNvSpPr>
          <p:nvPr/>
        </p:nvSpPr>
        <p:spPr>
          <a:xfrm xmlns:a="http://schemas.openxmlformats.org/drawingml/2006/main">
            <a:off x="990600" y="2724150"/>
            <a:ext cx="323850" cy="323850"/>
          </a:xfrm>
          <a:prstGeom xmlns:a="http://schemas.openxmlformats.org/drawingml/2006/main" prst="ellipse">
            <a:avLst/>
          </a:prstGeom>
          <a:solidFill xmlns:a="http://schemas.openxmlformats.org/drawingml/2006/main">
            <a:srgbClr val="F06A3C"/>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B839F183-1A50-4F6C-A85C-066EBF45EFC9}"/>
              </a:ext>
            </a:extLst>
          </p:cNvPr>
          <p:cNvSpPr>
            <a:spLocks xmlns:a="http://schemas.openxmlformats.org/drawingml/2006/main" noGrp="1"/>
          </p:cNvSpPr>
          <p:nvPr/>
        </p:nvSpPr>
        <p:spPr>
          <a:xfrm xmlns:a="http://schemas.openxmlformats.org/drawingml/2006/main">
            <a:off x="990600" y="2771775"/>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16020286-1D55-4FF6-8371-157CA964E9D0}"/>
              </a:ext>
            </a:extLst>
          </p:cNvPr>
          <p:cNvSpPr>
            <a:spLocks xmlns:a="http://schemas.openxmlformats.org/drawingml/2006/main" noGrp="1"/>
          </p:cNvSpPr>
          <p:nvPr/>
        </p:nvSpPr>
        <p:spPr>
          <a:xfrm xmlns:a="http://schemas.openxmlformats.org/drawingml/2006/main">
            <a:off x="942975" y="33337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615"/>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Effective interactions</a:t>
            </a:r>
          </a:p>
        </p:txBody>
      </p:sp>
      <p:sp>
        <p:nvSpPr>
          <p:cNvPr id="9" name="">
            <a:extLst xmlns:a="http://schemas.openxmlformats.org/drawingml/2006/main">
              <a:ext uri="{FF2B5EF4-FFF2-40B4-BE49-F238E27FC236}">
                <a16:creationId xmlns:a16="http://schemas.microsoft.com/office/drawing/2014/main" id="{78B8640E-FA08-4AF2-BC91-A526B2F1581B}"/>
              </a:ext>
            </a:extLst>
          </p:cNvPr>
          <p:cNvSpPr>
            <a:spLocks xmlns:a="http://schemas.openxmlformats.org/drawingml/2006/main" noGrp="1"/>
          </p:cNvSpPr>
          <p:nvPr/>
        </p:nvSpPr>
        <p:spPr>
          <a:xfrm xmlns:a="http://schemas.openxmlformats.org/drawingml/2006/main">
            <a:off x="942975" y="405765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Hidden environment</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 force closure</a:t>
            </a:r>
          </a:p>
        </p:txBody>
      </p:sp>
      <p:sp>
        <p:nvSpPr>
          <p:cNvPr id="10" name="">
            <a:extLst xmlns:a="http://schemas.openxmlformats.org/drawingml/2006/main">
              <a:ext uri="{FF2B5EF4-FFF2-40B4-BE49-F238E27FC236}">
                <a16:creationId xmlns:a16="http://schemas.microsoft.com/office/drawing/2014/main" id="{6E5CB7A6-31AC-474E-BD44-EB112B2F043B}"/>
              </a:ext>
            </a:extLst>
          </p:cNvPr>
          <p:cNvSpPr>
            <a:spLocks xmlns:a="http://schemas.openxmlformats.org/drawingml/2006/main" noGrp="1"/>
          </p:cNvSpPr>
          <p:nvPr/>
        </p:nvSpPr>
        <p:spPr>
          <a:xfrm xmlns:a="http://schemas.openxmlformats.org/drawingml/2006/main">
            <a:off x="3619500" y="2724150"/>
            <a:ext cx="323850" cy="323850"/>
          </a:xfrm>
          <a:prstGeom xmlns:a="http://schemas.openxmlformats.org/drawingml/2006/main" prst="ellipse">
            <a:avLst/>
          </a:prstGeom>
          <a:solidFill xmlns:a="http://schemas.openxmlformats.org/drawingml/2006/main">
            <a:srgbClr val="3D8DFF"/>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B49AAB72-4402-4674-B9B9-CC19EACAF5D9}"/>
              </a:ext>
            </a:extLst>
          </p:cNvPr>
          <p:cNvSpPr>
            <a:spLocks xmlns:a="http://schemas.openxmlformats.org/drawingml/2006/main" noGrp="1"/>
          </p:cNvSpPr>
          <p:nvPr/>
        </p:nvSpPr>
        <p:spPr>
          <a:xfrm xmlns:a="http://schemas.openxmlformats.org/drawingml/2006/main">
            <a:off x="3619500" y="2771775"/>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4AA25693-0515-453B-8E1C-5B6FE9665F37}"/>
              </a:ext>
            </a:extLst>
          </p:cNvPr>
          <p:cNvSpPr>
            <a:spLocks xmlns:a="http://schemas.openxmlformats.org/drawingml/2006/main" noGrp="1"/>
          </p:cNvSpPr>
          <p:nvPr/>
        </p:nvSpPr>
        <p:spPr>
          <a:xfrm xmlns:a="http://schemas.openxmlformats.org/drawingml/2006/main">
            <a:off x="3571875" y="33337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Particle → kinetic</a:t>
            </a:r>
          </a:p>
        </p:txBody>
      </p:sp>
      <p:sp>
        <p:nvSpPr>
          <p:cNvPr id="13" name="">
            <a:extLst xmlns:a="http://schemas.openxmlformats.org/drawingml/2006/main">
              <a:ext uri="{FF2B5EF4-FFF2-40B4-BE49-F238E27FC236}">
                <a16:creationId xmlns:a16="http://schemas.microsoft.com/office/drawing/2014/main" id="{96C12180-350D-486B-A9B7-80D684827AAE}"/>
              </a:ext>
            </a:extLst>
          </p:cNvPr>
          <p:cNvSpPr>
            <a:spLocks xmlns:a="http://schemas.openxmlformats.org/drawingml/2006/main" noGrp="1"/>
          </p:cNvSpPr>
          <p:nvPr/>
        </p:nvSpPr>
        <p:spPr>
          <a:xfrm xmlns:a="http://schemas.openxmlformats.org/drawingml/2006/main">
            <a:off x="3571875" y="405765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Correlations + histories</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 kinetic residual</a:t>
            </a:r>
          </a:p>
        </p:txBody>
      </p:sp>
      <p:sp>
        <p:nvSpPr>
          <p:cNvPr id="14" name="">
            <a:extLst xmlns:a="http://schemas.openxmlformats.org/drawingml/2006/main">
              <a:ext uri="{FF2B5EF4-FFF2-40B4-BE49-F238E27FC236}">
                <a16:creationId xmlns:a16="http://schemas.microsoft.com/office/drawing/2014/main" id="{05A6501A-BDA2-49B2-942A-50B5913E4473}"/>
              </a:ext>
            </a:extLst>
          </p:cNvPr>
          <p:cNvSpPr>
            <a:spLocks xmlns:a="http://schemas.openxmlformats.org/drawingml/2006/main" noGrp="1"/>
          </p:cNvSpPr>
          <p:nvPr/>
        </p:nvSpPr>
        <p:spPr>
          <a:xfrm xmlns:a="http://schemas.openxmlformats.org/drawingml/2006/main">
            <a:off x="6248400" y="2724150"/>
            <a:ext cx="323850" cy="323850"/>
          </a:xfrm>
          <a:prstGeom xmlns:a="http://schemas.openxmlformats.org/drawingml/2006/main" prst="ellipse">
            <a:avLst/>
          </a:prstGeom>
          <a:solidFill xmlns:a="http://schemas.openxmlformats.org/drawingml/2006/main">
            <a:srgbClr val="18AEB5"/>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D04E0C99-DED5-43B3-83D8-2AAFB3785DC4}"/>
              </a:ext>
            </a:extLst>
          </p:cNvPr>
          <p:cNvSpPr>
            <a:spLocks xmlns:a="http://schemas.openxmlformats.org/drawingml/2006/main" noGrp="1"/>
          </p:cNvSpPr>
          <p:nvPr/>
        </p:nvSpPr>
        <p:spPr>
          <a:xfrm xmlns:a="http://schemas.openxmlformats.org/drawingml/2006/main">
            <a:off x="6248400" y="2771775"/>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9E56018C-8CE9-41B4-8D98-C85B5BBE526B}"/>
              </a:ext>
            </a:extLst>
          </p:cNvPr>
          <p:cNvSpPr>
            <a:spLocks xmlns:a="http://schemas.openxmlformats.org/drawingml/2006/main" noGrp="1"/>
          </p:cNvSpPr>
          <p:nvPr/>
        </p:nvSpPr>
        <p:spPr>
          <a:xfrm xmlns:a="http://schemas.openxmlformats.org/drawingml/2006/main">
            <a:off x="6200775" y="33337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Kinetic → moments</a:t>
            </a:r>
          </a:p>
        </p:txBody>
      </p:sp>
      <p:sp>
        <p:nvSpPr>
          <p:cNvPr id="17" name="">
            <a:extLst xmlns:a="http://schemas.openxmlformats.org/drawingml/2006/main">
              <a:ext uri="{FF2B5EF4-FFF2-40B4-BE49-F238E27FC236}">
                <a16:creationId xmlns:a16="http://schemas.microsoft.com/office/drawing/2014/main" id="{90256594-A355-4795-8DD0-4063CE123BDF}"/>
              </a:ext>
            </a:extLst>
          </p:cNvPr>
          <p:cNvSpPr>
            <a:spLocks xmlns:a="http://schemas.openxmlformats.org/drawingml/2006/main" noGrp="1"/>
          </p:cNvSpPr>
          <p:nvPr/>
        </p:nvSpPr>
        <p:spPr>
          <a:xfrm xmlns:a="http://schemas.openxmlformats.org/drawingml/2006/main">
            <a:off x="6200775" y="405765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Velocity-space tails</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 stress and heat flux</a:t>
            </a:r>
          </a:p>
        </p:txBody>
      </p:sp>
      <p:sp>
        <p:nvSpPr>
          <p:cNvPr id="18" name="">
            <a:extLst xmlns:a="http://schemas.openxmlformats.org/drawingml/2006/main">
              <a:ext uri="{FF2B5EF4-FFF2-40B4-BE49-F238E27FC236}">
                <a16:creationId xmlns:a16="http://schemas.microsoft.com/office/drawing/2014/main" id="{E21CA16D-BA42-4CE2-B961-321098B41462}"/>
              </a:ext>
            </a:extLst>
          </p:cNvPr>
          <p:cNvSpPr>
            <a:spLocks xmlns:a="http://schemas.openxmlformats.org/drawingml/2006/main" noGrp="1"/>
          </p:cNvSpPr>
          <p:nvPr/>
        </p:nvSpPr>
        <p:spPr>
          <a:xfrm xmlns:a="http://schemas.openxmlformats.org/drawingml/2006/main">
            <a:off x="8877300" y="2724150"/>
            <a:ext cx="323850" cy="323850"/>
          </a:xfrm>
          <a:prstGeom xmlns:a="http://schemas.openxmlformats.org/drawingml/2006/main" prst="ellipse">
            <a:avLst/>
          </a:prstGeom>
          <a:solidFill xmlns:a="http://schemas.openxmlformats.org/drawingml/2006/main">
            <a:srgbClr val="143A72"/>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A17B95A1-CDAE-4C9D-963B-9CD8BAFFD56F}"/>
              </a:ext>
            </a:extLst>
          </p:cNvPr>
          <p:cNvSpPr>
            <a:spLocks xmlns:a="http://schemas.openxmlformats.org/drawingml/2006/main" noGrp="1"/>
          </p:cNvSpPr>
          <p:nvPr/>
        </p:nvSpPr>
        <p:spPr>
          <a:xfrm xmlns:a="http://schemas.openxmlformats.org/drawingml/2006/main">
            <a:off x="8877300" y="2771775"/>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buNone/>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3227A4B8-303B-489E-BB6D-FB9E5627BF35}"/>
              </a:ext>
            </a:extLst>
          </p:cNvPr>
          <p:cNvSpPr>
            <a:spLocks xmlns:a="http://schemas.openxmlformats.org/drawingml/2006/main" noGrp="1"/>
          </p:cNvSpPr>
          <p:nvPr/>
        </p:nvSpPr>
        <p:spPr>
          <a:xfrm xmlns:a="http://schemas.openxmlformats.org/drawingml/2006/main">
            <a:off x="8829675" y="33337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TEMPEST transfer</a:t>
            </a:r>
          </a:p>
        </p:txBody>
      </p:sp>
      <p:sp>
        <p:nvSpPr>
          <p:cNvPr id="21" name="">
            <a:extLst xmlns:a="http://schemas.openxmlformats.org/drawingml/2006/main">
              <a:ext uri="{FF2B5EF4-FFF2-40B4-BE49-F238E27FC236}">
                <a16:creationId xmlns:a16="http://schemas.microsoft.com/office/drawing/2014/main" id="{5F97FF57-B41D-4951-BB85-D1DBB2267FE1}"/>
              </a:ext>
            </a:extLst>
          </p:cNvPr>
          <p:cNvSpPr>
            <a:spLocks xmlns:a="http://schemas.openxmlformats.org/drawingml/2006/main" noGrp="1"/>
          </p:cNvSpPr>
          <p:nvPr/>
        </p:nvSpPr>
        <p:spPr>
          <a:xfrm xmlns:a="http://schemas.openxmlformats.org/drawingml/2006/main">
            <a:off x="8829675" y="405765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3D→1D fitting</a:t>
            </a:r>
          </a:p>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 turbulent residual</a:t>
            </a:r>
          </a:p>
        </p:txBody>
      </p:sp>
      <p:sp>
        <p:nvSpPr>
          <p:cNvPr id="22" name="">
            <a:extLst xmlns:a="http://schemas.openxmlformats.org/drawingml/2006/main">
              <a:ext uri="{FF2B5EF4-FFF2-40B4-BE49-F238E27FC236}">
                <a16:creationId xmlns:a16="http://schemas.microsoft.com/office/drawing/2014/main" id="{5A4401E1-577C-4EF1-AAEF-EF5452499EB5}"/>
              </a:ext>
            </a:extLst>
          </p:cNvPr>
          <p:cNvSpPr>
            <a:spLocks xmlns:a="http://schemas.openxmlformats.org/drawingml/2006/main" noGrp="1"/>
          </p:cNvSpPr>
          <p:nvPr/>
        </p:nvSpPr>
        <p:spPr>
          <a:xfrm xmlns:a="http://schemas.openxmlformats.org/drawingml/2006/main">
            <a:off x="1504950" y="5400675"/>
            <a:ext cx="9182100" cy="6572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4C4212E4-2FF5-43F2-8EC2-326673FE6E3F}"/>
              </a:ext>
            </a:extLst>
          </p:cNvPr>
          <p:cNvSpPr>
            <a:spLocks xmlns:a="http://schemas.openxmlformats.org/drawingml/2006/main" noGrp="1"/>
          </p:cNvSpPr>
          <p:nvPr/>
        </p:nvSpPr>
        <p:spPr>
          <a:xfrm xmlns:a="http://schemas.openxmlformats.org/drawingml/2006/main">
            <a:off x="1714500" y="5572125"/>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816"/>
          </a:bodyPr>
          <a:lstStyle xmlns:a="http://schemas.openxmlformats.org/drawingml/2006/main"/>
          <a:p xmlns:a="http://schemas.openxmlformats.org/drawingml/2006/main">
            <a:pPr algn="ctr">
              <a:buNone/>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Same contract at every stage: declare → estimate defect → match information → embed → stress test</a:t>
            </a:r>
          </a:p>
        </p:txBody>
      </p:sp>
    </p:spTree>
    <p:extLst>
      <p:ext uri="{BB962C8B-B14F-4D97-AF65-F5344CB8AC3E}">
        <p14:creationId xmlns:p14="http://schemas.microsoft.com/office/powerpoint/2010/main" val="33890428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00F6CE2-E1A1-411F-B2B9-7C70EAE525DC}"/>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10A09D94-C0AE-454E-83AC-54FAA2C617F1}"/>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Stage 1 must prove more than force accuracy</a:t>
            </a:r>
          </a:p>
        </p:txBody>
      </p:sp>
      <p:cxnSp>
        <p:nvCxnSpPr>
          <p:cNvPr id="38"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E855635A-969D-4775-AA2C-4164DBBD143A}"/>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BD8AE8E9-4D15-4DA1-94AF-511959C5B653}"/>
              </a:ext>
            </a:extLst>
          </p:cNvPr>
          <p:cNvSpPr>
            <a:spLocks xmlns:a="http://schemas.openxmlformats.org/drawingml/2006/main" noGrp="1"/>
          </p:cNvSpPr>
          <p:nvPr/>
        </p:nvSpPr>
        <p:spPr>
          <a:xfrm xmlns:a="http://schemas.openxmlformats.org/drawingml/2006/main">
            <a:off x="400050" y="149542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43A72"/>
                </a:solidFill>
                <a:latin typeface="Helvetica Neue"/>
                <a:ea typeface="Helvetica Neue"/>
                <a:cs typeface="Helvetica Neue"/>
              </a:defRPr>
            </a:pPr>
            <a:r>
              <a:rPr sz="1350" b="1" i="0">
                <a:solidFill>
                  <a:srgbClr val="143A72"/>
                </a:solidFill>
                <a:latin typeface="Helvetica Neue"/>
                <a:ea typeface="Helvetica Neue"/>
                <a:cs typeface="Helvetica Neue"/>
              </a:rPr>
              <a:t>CANDIDATE METHODS</a:t>
            </a:r>
          </a:p>
        </p:txBody>
      </p:sp>
      <p:sp>
        <p:nvSpPr>
          <p:cNvPr id="6" name="">
            <a:extLst xmlns:a="http://schemas.openxmlformats.org/drawingml/2006/main">
              <a:ext uri="{FF2B5EF4-FFF2-40B4-BE49-F238E27FC236}">
                <a16:creationId xmlns:a16="http://schemas.microsoft.com/office/drawing/2014/main" id="{0C9E3569-FFAA-4183-83AA-48C3BFC0478F}"/>
              </a:ext>
            </a:extLst>
          </p:cNvPr>
          <p:cNvSpPr>
            <a:spLocks xmlns:a="http://schemas.openxmlformats.org/drawingml/2006/main" noGrp="1"/>
          </p:cNvSpPr>
          <p:nvPr/>
        </p:nvSpPr>
        <p:spPr>
          <a:xfrm xmlns:a="http://schemas.openxmlformats.org/drawingml/2006/main">
            <a:off x="400050" y="20478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1890E968-9E9E-407C-AF35-B312B78B13AC}"/>
              </a:ext>
            </a:extLst>
          </p:cNvPr>
          <p:cNvSpPr>
            <a:spLocks xmlns:a="http://schemas.openxmlformats.org/drawingml/2006/main" noGrp="1"/>
          </p:cNvSpPr>
          <p:nvPr/>
        </p:nvSpPr>
        <p:spPr>
          <a:xfrm xmlns:a="http://schemas.openxmlformats.org/drawingml/2006/main">
            <a:off x="685800" y="2047875"/>
            <a:ext cx="4381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Analytic screened interaction</a:t>
            </a:r>
          </a:p>
        </p:txBody>
      </p:sp>
      <p:sp>
        <p:nvSpPr>
          <p:cNvPr id="8" name="">
            <a:extLst xmlns:a="http://schemas.openxmlformats.org/drawingml/2006/main">
              <a:ext uri="{FF2B5EF4-FFF2-40B4-BE49-F238E27FC236}">
                <a16:creationId xmlns:a16="http://schemas.microsoft.com/office/drawing/2014/main" id="{B62F61D2-3126-4F00-A201-F78BAA57091F}"/>
              </a:ext>
            </a:extLst>
          </p:cNvPr>
          <p:cNvSpPr>
            <a:spLocks xmlns:a="http://schemas.openxmlformats.org/drawingml/2006/main" noGrp="1"/>
          </p:cNvSpPr>
          <p:nvPr/>
        </p:nvSpPr>
        <p:spPr>
          <a:xfrm xmlns:a="http://schemas.openxmlformats.org/drawingml/2006/main">
            <a:off x="400050" y="26670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B01A3DC8-3FB0-462E-A8D2-1627B79BE9CB}"/>
              </a:ext>
            </a:extLst>
          </p:cNvPr>
          <p:cNvSpPr>
            <a:spLocks xmlns:a="http://schemas.openxmlformats.org/drawingml/2006/main" noGrp="1"/>
          </p:cNvSpPr>
          <p:nvPr/>
        </p:nvSpPr>
        <p:spPr>
          <a:xfrm xmlns:a="http://schemas.openxmlformats.org/drawingml/2006/main">
            <a:off x="685800" y="2667000"/>
            <a:ext cx="4381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Identifiable pair kernel</a:t>
            </a:r>
          </a:p>
        </p:txBody>
      </p:sp>
      <p:sp>
        <p:nvSpPr>
          <p:cNvPr id="10" name="">
            <a:extLst xmlns:a="http://schemas.openxmlformats.org/drawingml/2006/main">
              <a:ext uri="{FF2B5EF4-FFF2-40B4-BE49-F238E27FC236}">
                <a16:creationId xmlns:a16="http://schemas.microsoft.com/office/drawing/2014/main" id="{320757C0-76DB-4962-9D40-D4FEF886E630}"/>
              </a:ext>
            </a:extLst>
          </p:cNvPr>
          <p:cNvSpPr>
            <a:spLocks xmlns:a="http://schemas.openxmlformats.org/drawingml/2006/main" noGrp="1"/>
          </p:cNvSpPr>
          <p:nvPr/>
        </p:nvSpPr>
        <p:spPr>
          <a:xfrm xmlns:a="http://schemas.openxmlformats.org/drawingml/2006/main">
            <a:off x="400050" y="32861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D6753EC0-152B-4545-99BA-168AE1475F12}"/>
              </a:ext>
            </a:extLst>
          </p:cNvPr>
          <p:cNvSpPr>
            <a:spLocks xmlns:a="http://schemas.openxmlformats.org/drawingml/2006/main" noGrp="1"/>
          </p:cNvSpPr>
          <p:nvPr/>
        </p:nvSpPr>
        <p:spPr>
          <a:xfrm xmlns:a="http://schemas.openxmlformats.org/drawingml/2006/main">
            <a:off x="685800" y="3286125"/>
            <a:ext cx="4381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Physics-tailored force decomposition</a:t>
            </a:r>
          </a:p>
        </p:txBody>
      </p:sp>
      <p:sp>
        <p:nvSpPr>
          <p:cNvPr id="12" name="">
            <a:extLst xmlns:a="http://schemas.openxmlformats.org/drawingml/2006/main">
              <a:ext uri="{FF2B5EF4-FFF2-40B4-BE49-F238E27FC236}">
                <a16:creationId xmlns:a16="http://schemas.microsoft.com/office/drawing/2014/main" id="{4CA408A3-C97E-403A-87DE-0C45FB8129D8}"/>
              </a:ext>
            </a:extLst>
          </p:cNvPr>
          <p:cNvSpPr>
            <a:spLocks xmlns:a="http://schemas.openxmlformats.org/drawingml/2006/main" noGrp="1"/>
          </p:cNvSpPr>
          <p:nvPr/>
        </p:nvSpPr>
        <p:spPr>
          <a:xfrm xmlns:a="http://schemas.openxmlformats.org/drawingml/2006/main">
            <a:off x="400050" y="39052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FA99B38F-BAD2-45C1-B6C0-C9CEB70A77A6}"/>
              </a:ext>
            </a:extLst>
          </p:cNvPr>
          <p:cNvSpPr>
            <a:spLocks xmlns:a="http://schemas.openxmlformats.org/drawingml/2006/main" noGrp="1"/>
          </p:cNvSpPr>
          <p:nvPr/>
        </p:nvSpPr>
        <p:spPr>
          <a:xfrm xmlns:a="http://schemas.openxmlformats.org/drawingml/2006/main">
            <a:off x="685800" y="3905250"/>
            <a:ext cx="4381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Equivariant graph interaction</a:t>
            </a:r>
          </a:p>
        </p:txBody>
      </p:sp>
      <p:sp>
        <p:nvSpPr>
          <p:cNvPr id="14" name="">
            <a:extLst xmlns:a="http://schemas.openxmlformats.org/drawingml/2006/main">
              <a:ext uri="{FF2B5EF4-FFF2-40B4-BE49-F238E27FC236}">
                <a16:creationId xmlns:a16="http://schemas.microsoft.com/office/drawing/2014/main" id="{8E3B3145-6EEA-4DAC-8B4E-432F1966543A}"/>
              </a:ext>
            </a:extLst>
          </p:cNvPr>
          <p:cNvSpPr>
            <a:spLocks xmlns:a="http://schemas.openxmlformats.org/drawingml/2006/main" noGrp="1"/>
          </p:cNvSpPr>
          <p:nvPr/>
        </p:nvSpPr>
        <p:spPr>
          <a:xfrm xmlns:a="http://schemas.openxmlformats.org/drawingml/2006/main">
            <a:off x="400050" y="45243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DF4EB933-5B96-4245-8491-044BFB709031}"/>
              </a:ext>
            </a:extLst>
          </p:cNvPr>
          <p:cNvSpPr>
            <a:spLocks xmlns:a="http://schemas.openxmlformats.org/drawingml/2006/main" noGrp="1"/>
          </p:cNvSpPr>
          <p:nvPr/>
        </p:nvSpPr>
        <p:spPr>
          <a:xfrm xmlns:a="http://schemas.openxmlformats.org/drawingml/2006/main">
            <a:off x="685800" y="4524375"/>
            <a:ext cx="4381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Finite-memory auxiliary state</a:t>
            </a:r>
          </a:p>
        </p:txBody>
      </p:sp>
      <p:sp>
        <p:nvSpPr>
          <p:cNvPr id="16" name="">
            <a:extLst xmlns:a="http://schemas.openxmlformats.org/drawingml/2006/main">
              <a:ext uri="{FF2B5EF4-FFF2-40B4-BE49-F238E27FC236}">
                <a16:creationId xmlns:a16="http://schemas.microsoft.com/office/drawing/2014/main" id="{F6F7F66D-23FF-44C7-AD4D-113E20481556}"/>
              </a:ext>
            </a:extLst>
          </p:cNvPr>
          <p:cNvSpPr>
            <a:spLocks xmlns:a="http://schemas.openxmlformats.org/drawingml/2006/main" noGrp="1"/>
          </p:cNvSpPr>
          <p:nvPr/>
        </p:nvSpPr>
        <p:spPr>
          <a:xfrm xmlns:a="http://schemas.openxmlformats.org/drawingml/2006/main">
            <a:off x="5962650" y="1438275"/>
            <a:ext cx="9525" cy="40005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7" name="">
            <a:extLst xmlns:a="http://schemas.openxmlformats.org/drawingml/2006/main">
              <a:ext uri="{FF2B5EF4-FFF2-40B4-BE49-F238E27FC236}">
                <a16:creationId xmlns:a16="http://schemas.microsoft.com/office/drawing/2014/main" id="{3F906A63-70B2-43D4-8228-A1CC0083D8C1}"/>
              </a:ext>
            </a:extLst>
          </p:cNvPr>
          <p:cNvSpPr>
            <a:spLocks xmlns:a="http://schemas.openxmlformats.org/drawingml/2006/main" noGrp="1"/>
          </p:cNvSpPr>
          <p:nvPr/>
        </p:nvSpPr>
        <p:spPr>
          <a:xfrm xmlns:a="http://schemas.openxmlformats.org/drawingml/2006/main">
            <a:off x="6534150" y="14954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8AEB5"/>
                </a:solidFill>
                <a:latin typeface="Helvetica Neue"/>
                <a:ea typeface="Helvetica Neue"/>
                <a:cs typeface="Helvetica Neue"/>
              </a:defRPr>
            </a:pPr>
            <a:r>
              <a:rPr sz="1350" b="1" i="0">
                <a:solidFill>
                  <a:srgbClr val="18AEB5"/>
                </a:solidFill>
                <a:latin typeface="Helvetica Neue"/>
                <a:ea typeface="Helvetica Neue"/>
                <a:cs typeface="Helvetica Neue"/>
              </a:rPr>
              <a:t>REQUIRED EVIDENCE</a:t>
            </a:r>
          </a:p>
        </p:txBody>
      </p:sp>
      <p:sp>
        <p:nvSpPr>
          <p:cNvPr id="18" name="">
            <a:extLst xmlns:a="http://schemas.openxmlformats.org/drawingml/2006/main">
              <a:ext uri="{FF2B5EF4-FFF2-40B4-BE49-F238E27FC236}">
                <a16:creationId xmlns:a16="http://schemas.microsoft.com/office/drawing/2014/main" id="{2C3BEF85-81E9-49D8-B40A-EF846FE3DC60}"/>
              </a:ext>
            </a:extLst>
          </p:cNvPr>
          <p:cNvSpPr>
            <a:spLocks xmlns:a="http://schemas.openxmlformats.org/drawingml/2006/main" noGrp="1"/>
          </p:cNvSpPr>
          <p:nvPr/>
        </p:nvSpPr>
        <p:spPr>
          <a:xfrm xmlns:a="http://schemas.openxmlformats.org/drawingml/2006/main">
            <a:off x="6534150" y="20478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8AEB5"/>
                </a:solidFill>
                <a:latin typeface="Helvetica Neue"/>
                <a:ea typeface="Helvetica Neue"/>
                <a:cs typeface="Helvetica Neue"/>
              </a:defRPr>
            </a:pPr>
            <a:r>
              <a:rPr sz="1575" b="1" i="0">
                <a:solidFill>
                  <a:srgbClr val="18AEB5"/>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BA8854DB-EA0C-42FF-9C88-A0E983B57E9D}"/>
              </a:ext>
            </a:extLst>
          </p:cNvPr>
          <p:cNvSpPr>
            <a:spLocks xmlns:a="http://schemas.openxmlformats.org/drawingml/2006/main" noGrp="1"/>
          </p:cNvSpPr>
          <p:nvPr/>
        </p:nvSpPr>
        <p:spPr>
          <a:xfrm xmlns:a="http://schemas.openxmlformats.org/drawingml/2006/main">
            <a:off x="6819900" y="2047875"/>
            <a:ext cx="4572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Held-out force and acceleration error</a:t>
            </a:r>
          </a:p>
        </p:txBody>
      </p:sp>
      <p:sp>
        <p:nvSpPr>
          <p:cNvPr id="20" name="">
            <a:extLst xmlns:a="http://schemas.openxmlformats.org/drawingml/2006/main">
              <a:ext uri="{FF2B5EF4-FFF2-40B4-BE49-F238E27FC236}">
                <a16:creationId xmlns:a16="http://schemas.microsoft.com/office/drawing/2014/main" id="{63319A03-68D3-4003-A01B-5DE25EDE787B}"/>
              </a:ext>
            </a:extLst>
          </p:cNvPr>
          <p:cNvSpPr>
            <a:spLocks xmlns:a="http://schemas.openxmlformats.org/drawingml/2006/main" noGrp="1"/>
          </p:cNvSpPr>
          <p:nvPr/>
        </p:nvSpPr>
        <p:spPr>
          <a:xfrm xmlns:a="http://schemas.openxmlformats.org/drawingml/2006/main">
            <a:off x="6534150" y="26670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8AEB5"/>
                </a:solidFill>
                <a:latin typeface="Helvetica Neue"/>
                <a:ea typeface="Helvetica Neue"/>
                <a:cs typeface="Helvetica Neue"/>
              </a:defRPr>
            </a:pPr>
            <a:r>
              <a:rPr sz="1575" b="1" i="0">
                <a:solidFill>
                  <a:srgbClr val="18AEB5"/>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4F4AC071-A2AC-4367-89B3-77CA267F77E8}"/>
              </a:ext>
            </a:extLst>
          </p:cNvPr>
          <p:cNvSpPr>
            <a:spLocks xmlns:a="http://schemas.openxmlformats.org/drawingml/2006/main" noGrp="1"/>
          </p:cNvSpPr>
          <p:nvPr/>
        </p:nvSpPr>
        <p:spPr>
          <a:xfrm xmlns:a="http://schemas.openxmlformats.org/drawingml/2006/main">
            <a:off x="6819900" y="2667000"/>
            <a:ext cx="4572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Occupancy / coercivity diagnostic</a:t>
            </a:r>
          </a:p>
        </p:txBody>
      </p:sp>
      <p:sp>
        <p:nvSpPr>
          <p:cNvPr id="22" name="">
            <a:extLst xmlns:a="http://schemas.openxmlformats.org/drawingml/2006/main">
              <a:ext uri="{FF2B5EF4-FFF2-40B4-BE49-F238E27FC236}">
                <a16:creationId xmlns:a16="http://schemas.microsoft.com/office/drawing/2014/main" id="{83947F14-9409-4E43-A498-CAEE54B85629}"/>
              </a:ext>
            </a:extLst>
          </p:cNvPr>
          <p:cNvSpPr>
            <a:spLocks xmlns:a="http://schemas.openxmlformats.org/drawingml/2006/main" noGrp="1"/>
          </p:cNvSpPr>
          <p:nvPr/>
        </p:nvSpPr>
        <p:spPr>
          <a:xfrm xmlns:a="http://schemas.openxmlformats.org/drawingml/2006/main">
            <a:off x="6534150" y="32861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8AEB5"/>
                </a:solidFill>
                <a:latin typeface="Helvetica Neue"/>
                <a:ea typeface="Helvetica Neue"/>
                <a:cs typeface="Helvetica Neue"/>
              </a:defRPr>
            </a:pPr>
            <a:r>
              <a:rPr sz="1575" b="1" i="0">
                <a:solidFill>
                  <a:srgbClr val="18AEB5"/>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8A2CCA4A-8016-4567-ADF6-3963350B3DC3}"/>
              </a:ext>
            </a:extLst>
          </p:cNvPr>
          <p:cNvSpPr>
            <a:spLocks xmlns:a="http://schemas.openxmlformats.org/drawingml/2006/main" noGrp="1"/>
          </p:cNvSpPr>
          <p:nvPr/>
        </p:nvSpPr>
        <p:spPr>
          <a:xfrm xmlns:a="http://schemas.openxmlformats.org/drawingml/2006/main">
            <a:off x="6819900" y="3286125"/>
            <a:ext cx="4572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Internal–external–drag decomposition</a:t>
            </a:r>
          </a:p>
        </p:txBody>
      </p:sp>
      <p:sp>
        <p:nvSpPr>
          <p:cNvPr id="24" name="">
            <a:extLst xmlns:a="http://schemas.openxmlformats.org/drawingml/2006/main">
              <a:ext uri="{FF2B5EF4-FFF2-40B4-BE49-F238E27FC236}">
                <a16:creationId xmlns:a16="http://schemas.microsoft.com/office/drawing/2014/main" id="{2E42DCE8-A818-4792-A4A1-011545B66A75}"/>
              </a:ext>
            </a:extLst>
          </p:cNvPr>
          <p:cNvSpPr>
            <a:spLocks xmlns:a="http://schemas.openxmlformats.org/drawingml/2006/main" noGrp="1"/>
          </p:cNvSpPr>
          <p:nvPr/>
        </p:nvSpPr>
        <p:spPr>
          <a:xfrm xmlns:a="http://schemas.openxmlformats.org/drawingml/2006/main">
            <a:off x="6534150" y="39052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8AEB5"/>
                </a:solidFill>
                <a:latin typeface="Helvetica Neue"/>
                <a:ea typeface="Helvetica Neue"/>
                <a:cs typeface="Helvetica Neue"/>
              </a:defRPr>
            </a:pPr>
            <a:r>
              <a:rPr sz="1575" b="1" i="0">
                <a:solidFill>
                  <a:srgbClr val="18AEB5"/>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C37336A8-F39C-4B45-8386-F482464C9187}"/>
              </a:ext>
            </a:extLst>
          </p:cNvPr>
          <p:cNvSpPr>
            <a:spLocks xmlns:a="http://schemas.openxmlformats.org/drawingml/2006/main" noGrp="1"/>
          </p:cNvSpPr>
          <p:nvPr/>
        </p:nvSpPr>
        <p:spPr>
          <a:xfrm xmlns:a="http://schemas.openxmlformats.org/drawingml/2006/main">
            <a:off x="6819900" y="3905250"/>
            <a:ext cx="4572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Mass, charge, screening, nonreciprocity</a:t>
            </a:r>
          </a:p>
        </p:txBody>
      </p:sp>
      <p:sp>
        <p:nvSpPr>
          <p:cNvPr id="26" name="">
            <a:extLst xmlns:a="http://schemas.openxmlformats.org/drawingml/2006/main">
              <a:ext uri="{FF2B5EF4-FFF2-40B4-BE49-F238E27FC236}">
                <a16:creationId xmlns:a16="http://schemas.microsoft.com/office/drawing/2014/main" id="{A9E053D9-7D7C-400D-85F2-FF2F01519E35}"/>
              </a:ext>
            </a:extLst>
          </p:cNvPr>
          <p:cNvSpPr>
            <a:spLocks xmlns:a="http://schemas.openxmlformats.org/drawingml/2006/main" noGrp="1"/>
          </p:cNvSpPr>
          <p:nvPr/>
        </p:nvSpPr>
        <p:spPr>
          <a:xfrm xmlns:a="http://schemas.openxmlformats.org/drawingml/2006/main">
            <a:off x="6534150" y="45243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8AEB5"/>
                </a:solidFill>
                <a:latin typeface="Helvetica Neue"/>
                <a:ea typeface="Helvetica Neue"/>
                <a:cs typeface="Helvetica Neue"/>
              </a:defRPr>
            </a:pPr>
            <a:r>
              <a:rPr sz="1575" b="1" i="0">
                <a:solidFill>
                  <a:srgbClr val="18AEB5"/>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511DF1CB-7CDF-4032-8A8A-FFAF58F653FB}"/>
              </a:ext>
            </a:extLst>
          </p:cNvPr>
          <p:cNvSpPr>
            <a:spLocks xmlns:a="http://schemas.openxmlformats.org/drawingml/2006/main" noGrp="1"/>
          </p:cNvSpPr>
          <p:nvPr/>
        </p:nvSpPr>
        <p:spPr>
          <a:xfrm xmlns:a="http://schemas.openxmlformats.org/drawingml/2006/main">
            <a:off x="6819900" y="4524375"/>
            <a:ext cx="45720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Stable particle rollouts and mode response</a:t>
            </a:r>
          </a:p>
        </p:txBody>
      </p:sp>
      <p:sp>
        <p:nvSpPr>
          <p:cNvPr id="28" name="">
            <a:extLst xmlns:a="http://schemas.openxmlformats.org/drawingml/2006/main">
              <a:ext uri="{FF2B5EF4-FFF2-40B4-BE49-F238E27FC236}">
                <a16:creationId xmlns:a16="http://schemas.microsoft.com/office/drawing/2014/main" id="{E59D7F10-C9E1-44FB-92FE-3B36B4EAAC4C}"/>
              </a:ext>
            </a:extLst>
          </p:cNvPr>
          <p:cNvSpPr>
            <a:spLocks xmlns:a="http://schemas.openxmlformats.org/drawingml/2006/main" noGrp="1"/>
          </p:cNvSpPr>
          <p:nvPr/>
        </p:nvSpPr>
        <p:spPr>
          <a:xfrm xmlns:a="http://schemas.openxmlformats.org/drawingml/2006/main">
            <a:off x="2552700" y="5629275"/>
            <a:ext cx="7086600" cy="504825"/>
          </a:xfrm>
          <a:prstGeom xmlns:a="http://schemas.openxmlformats.org/drawingml/2006/main" prst="rect">
            <a:avLst/>
          </a:prstGeom>
          <a:solidFill xmlns:a="http://schemas.openxmlformats.org/drawingml/2006/main">
            <a:srgbClr val="FCE6DE"/>
          </a:solidFill>
          <a:ln xmlns:a="http://schemas.openxmlformats.org/drawingml/2006/main" w="9525">
            <a:solidFill>
              <a:srgbClr val="F06A3C"/>
            </a:solidFill>
            <a:prstDash val="solid"/>
          </a:ln>
        </p:spPr>
      </p:sp>
      <p:sp>
        <p:nvSpPr>
          <p:cNvPr id="29" name="">
            <a:extLst xmlns:a="http://schemas.openxmlformats.org/drawingml/2006/main">
              <a:ext uri="{FF2B5EF4-FFF2-40B4-BE49-F238E27FC236}">
                <a16:creationId xmlns:a16="http://schemas.microsoft.com/office/drawing/2014/main" id="{CF5B7B44-67AD-4D8A-8ED7-E85D3D380C9A}"/>
              </a:ext>
            </a:extLst>
          </p:cNvPr>
          <p:cNvSpPr>
            <a:spLocks xmlns:a="http://schemas.openxmlformats.org/drawingml/2006/main" noGrp="1"/>
          </p:cNvSpPr>
          <p:nvPr/>
        </p:nvSpPr>
        <p:spPr>
          <a:xfrm xmlns:a="http://schemas.openxmlformats.org/drawingml/2006/main">
            <a:off x="2762250" y="57340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A plausible trajectory fit is not yet a physically correct closure.</a:t>
            </a:r>
          </a:p>
        </p:txBody>
      </p:sp>
    </p:spTree>
    <p:extLst>
      <p:ext uri="{BB962C8B-B14F-4D97-AF65-F5344CB8AC3E}">
        <p14:creationId xmlns:p14="http://schemas.microsoft.com/office/powerpoint/2010/main" val="137509103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D978514-1CDE-4CE8-AC00-F8661468F7C1}"/>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FB114018-2592-444C-86F2-AB05CC3D6CAD}"/>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One ensemble supports two higher closures</a:t>
            </a:r>
          </a:p>
        </p:txBody>
      </p:sp>
      <p:cxnSp>
        <p:nvCxnSpPr>
          <p:cNvPr id="33"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BEDE51D9-BB0E-4FD3-8306-F4EAA89C7F8B}"/>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542036B6-C480-434A-91C3-C642A4DC618C}"/>
              </a:ext>
            </a:extLst>
          </p:cNvPr>
          <p:cNvSpPr>
            <a:spLocks xmlns:a="http://schemas.openxmlformats.org/drawingml/2006/main" noGrp="1"/>
          </p:cNvSpPr>
          <p:nvPr/>
        </p:nvSpPr>
        <p:spPr>
          <a:xfrm xmlns:a="http://schemas.openxmlformats.org/drawingml/2006/main">
            <a:off x="400050" y="14859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PARTICLE → KINETIC</a:t>
            </a:r>
          </a:p>
        </p:txBody>
      </p:sp>
      <p:sp>
        <p:nvSpPr>
          <p:cNvPr id="6" name="">
            <a:extLst xmlns:a="http://schemas.openxmlformats.org/drawingml/2006/main">
              <a:ext uri="{FF2B5EF4-FFF2-40B4-BE49-F238E27FC236}">
                <a16:creationId xmlns:a16="http://schemas.microsoft.com/office/drawing/2014/main" id="{4609ECBE-489F-4EEB-8260-A9A751A40360}"/>
              </a:ext>
            </a:extLst>
          </p:cNvPr>
          <p:cNvSpPr>
            <a:spLocks xmlns:a="http://schemas.openxmlformats.org/drawingml/2006/main" noGrp="1"/>
          </p:cNvSpPr>
          <p:nvPr/>
        </p:nvSpPr>
        <p:spPr>
          <a:xfrm xmlns:a="http://schemas.openxmlformats.org/drawingml/2006/main">
            <a:off x="400050" y="19526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Retain</a:t>
            </a:r>
          </a:p>
        </p:txBody>
      </p:sp>
      <p:sp>
        <p:nvSpPr>
          <p:cNvPr id="7" name="">
            <a:extLst xmlns:a="http://schemas.openxmlformats.org/drawingml/2006/main">
              <a:ext uri="{FF2B5EF4-FFF2-40B4-BE49-F238E27FC236}">
                <a16:creationId xmlns:a16="http://schemas.microsoft.com/office/drawing/2014/main" id="{E80F3D40-0E86-4600-8996-88965C5B4517}"/>
              </a:ext>
            </a:extLst>
          </p:cNvPr>
          <p:cNvSpPr>
            <a:spLocks xmlns:a="http://schemas.openxmlformats.org/drawingml/2006/main" noGrp="1"/>
          </p:cNvSpPr>
          <p:nvPr/>
        </p:nvSpPr>
        <p:spPr>
          <a:xfrm xmlns:a="http://schemas.openxmlformats.org/drawingml/2006/main">
            <a:off x="1562100" y="1952625"/>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p xmlns:a="http://schemas.openxmlformats.org/drawingml/2006/main">
            <a:pPr algn="l">
              <a:buNone/>
              <a:defRPr sz="1650" b="0" i="0">
                <a:solidFill>
                  <a:srgbClr val="000000"/>
                </a:solidFill>
                <a:latin typeface="Helvetica Neue"/>
                <a:ea typeface="Helvetica Neue"/>
                <a:cs typeface="Helvetica Neue"/>
              </a:defRPr>
            </a:pPr>
            <a:r>
              <a:rPr sz="1650" b="0" i="0">
                <a:solidFill>
                  <a:srgbClr val="000000"/>
                </a:solidFill>
                <a:latin typeface="Helvetica Neue"/>
                <a:ea typeface="Helvetica Neue"/>
                <a:cs typeface="Helvetica Neue"/>
              </a:rPr>
              <a:t>one-particle distribution</a:t>
            </a:r>
          </a:p>
        </p:txBody>
      </p:sp>
      <p:sp>
        <p:nvSpPr>
          <p:cNvPr id="8" name="">
            <a:extLst xmlns:a="http://schemas.openxmlformats.org/drawingml/2006/main">
              <a:ext uri="{FF2B5EF4-FFF2-40B4-BE49-F238E27FC236}">
                <a16:creationId xmlns:a16="http://schemas.microsoft.com/office/drawing/2014/main" id="{4EFDFA1E-8820-40ED-ACC9-A14EAC98076A}"/>
              </a:ext>
            </a:extLst>
          </p:cNvPr>
          <p:cNvSpPr>
            <a:spLocks xmlns:a="http://schemas.openxmlformats.org/drawingml/2006/main" noGrp="1"/>
          </p:cNvSpPr>
          <p:nvPr/>
        </p:nvSpPr>
        <p:spPr>
          <a:xfrm xmlns:a="http://schemas.openxmlformats.org/drawingml/2006/main">
            <a:off x="400050" y="2447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Discard</a:t>
            </a:r>
          </a:p>
        </p:txBody>
      </p:sp>
      <p:sp>
        <p:nvSpPr>
          <p:cNvPr id="9" name="">
            <a:extLst xmlns:a="http://schemas.openxmlformats.org/drawingml/2006/main">
              <a:ext uri="{FF2B5EF4-FFF2-40B4-BE49-F238E27FC236}">
                <a16:creationId xmlns:a16="http://schemas.microsoft.com/office/drawing/2014/main" id="{744E57A6-9E79-4B78-BFA9-F25B7582B998}"/>
              </a:ext>
            </a:extLst>
          </p:cNvPr>
          <p:cNvSpPr>
            <a:spLocks xmlns:a="http://schemas.openxmlformats.org/drawingml/2006/main" noGrp="1"/>
          </p:cNvSpPr>
          <p:nvPr/>
        </p:nvSpPr>
        <p:spPr>
          <a:xfrm xmlns:a="http://schemas.openxmlformats.org/drawingml/2006/main">
            <a:off x="1562100" y="2447925"/>
            <a:ext cx="400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143"/>
          </a:bodyPr>
          <a:lstStyle xmlns:a="http://schemas.openxmlformats.org/drawingml/2006/main"/>
          <a:p xmlns:a="http://schemas.openxmlformats.org/drawingml/2006/main">
            <a:pPr algn="l">
              <a:buNone/>
              <a:defRPr sz="1650" b="0" i="0">
                <a:solidFill>
                  <a:srgbClr val="000000"/>
                </a:solidFill>
                <a:latin typeface="Helvetica Neue"/>
                <a:ea typeface="Helvetica Neue"/>
                <a:cs typeface="Helvetica Neue"/>
              </a:defRPr>
            </a:pPr>
            <a:r>
              <a:rPr sz="1650" b="0" i="0">
                <a:solidFill>
                  <a:srgbClr val="000000"/>
                </a:solidFill>
                <a:latin typeface="Helvetica Neue"/>
                <a:ea typeface="Helvetica Neue"/>
                <a:cs typeface="Helvetica Neue"/>
              </a:rPr>
              <a:t>identities, connected correlations, histories</a:t>
            </a:r>
          </a:p>
        </p:txBody>
      </p:sp>
      <p:sp>
        <p:nvSpPr>
          <p:cNvPr id="10" name="">
            <a:extLst xmlns:a="http://schemas.openxmlformats.org/drawingml/2006/main">
              <a:ext uri="{FF2B5EF4-FFF2-40B4-BE49-F238E27FC236}">
                <a16:creationId xmlns:a16="http://schemas.microsoft.com/office/drawing/2014/main" id="{E23A8AD3-AC6D-441A-97BA-7C83CF0313EB}"/>
              </a:ext>
            </a:extLst>
          </p:cNvPr>
          <p:cNvSpPr>
            <a:spLocks xmlns:a="http://schemas.openxmlformats.org/drawingml/2006/main" noGrp="1"/>
          </p:cNvSpPr>
          <p:nvPr/>
        </p:nvSpPr>
        <p:spPr>
          <a:xfrm xmlns:a="http://schemas.openxmlformats.org/drawingml/2006/main">
            <a:off x="400050" y="3209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Targets</a:t>
            </a:r>
          </a:p>
        </p:txBody>
      </p:sp>
      <p:sp>
        <p:nvSpPr>
          <p:cNvPr id="11" name="">
            <a:extLst xmlns:a="http://schemas.openxmlformats.org/drawingml/2006/main">
              <a:ext uri="{FF2B5EF4-FFF2-40B4-BE49-F238E27FC236}">
                <a16:creationId xmlns:a16="http://schemas.microsoft.com/office/drawing/2014/main" id="{6B43CF3D-ED9C-4733-A992-E6583E5C41A6}"/>
              </a:ext>
            </a:extLst>
          </p:cNvPr>
          <p:cNvSpPr>
            <a:spLocks xmlns:a="http://schemas.openxmlformats.org/drawingml/2006/main" noGrp="1"/>
          </p:cNvSpPr>
          <p:nvPr/>
        </p:nvSpPr>
        <p:spPr>
          <a:xfrm xmlns:a="http://schemas.openxmlformats.org/drawingml/2006/main">
            <a:off x="1562100" y="3209925"/>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000000"/>
                </a:solidFill>
                <a:latin typeface="Helvetica Neue"/>
                <a:ea typeface="Helvetica Neue"/>
                <a:cs typeface="Helvetica Neue"/>
              </a:defRPr>
            </a:pPr>
            <a:r>
              <a:rPr sz="1650" b="0" i="0">
                <a:solidFill>
                  <a:srgbClr val="000000"/>
                </a:solidFill>
                <a:latin typeface="Helvetica Neue"/>
                <a:ea typeface="Helvetica Neue"/>
                <a:cs typeface="Helvetica Neue"/>
              </a:rPr>
              <a:t>correlation / collision residual, projected cumulants, memory</a:t>
            </a:r>
          </a:p>
        </p:txBody>
      </p:sp>
      <p:sp>
        <p:nvSpPr>
          <p:cNvPr id="12" name="">
            <a:extLst xmlns:a="http://schemas.openxmlformats.org/drawingml/2006/main">
              <a:ext uri="{FF2B5EF4-FFF2-40B4-BE49-F238E27FC236}">
                <a16:creationId xmlns:a16="http://schemas.microsoft.com/office/drawing/2014/main" id="{06588172-669C-49E9-8D97-BF285598E10C}"/>
              </a:ext>
            </a:extLst>
          </p:cNvPr>
          <p:cNvSpPr>
            <a:spLocks xmlns:a="http://schemas.openxmlformats.org/drawingml/2006/main" noGrp="1"/>
          </p:cNvSpPr>
          <p:nvPr/>
        </p:nvSpPr>
        <p:spPr>
          <a:xfrm xmlns:a="http://schemas.openxmlformats.org/drawingml/2006/main">
            <a:off x="400050" y="41624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Tests</a:t>
            </a:r>
          </a:p>
        </p:txBody>
      </p:sp>
      <p:sp>
        <p:nvSpPr>
          <p:cNvPr id="13" name="">
            <a:extLst xmlns:a="http://schemas.openxmlformats.org/drawingml/2006/main">
              <a:ext uri="{FF2B5EF4-FFF2-40B4-BE49-F238E27FC236}">
                <a16:creationId xmlns:a16="http://schemas.microsoft.com/office/drawing/2014/main" id="{ABCCD0A9-997E-4AA0-9DFC-85D7E1EEB665}"/>
              </a:ext>
            </a:extLst>
          </p:cNvPr>
          <p:cNvSpPr>
            <a:spLocks xmlns:a="http://schemas.openxmlformats.org/drawingml/2006/main" noGrp="1"/>
          </p:cNvSpPr>
          <p:nvPr/>
        </p:nvSpPr>
        <p:spPr>
          <a:xfrm xmlns:a="http://schemas.openxmlformats.org/drawingml/2006/main">
            <a:off x="1562100" y="4162425"/>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000000"/>
                </a:solidFill>
                <a:latin typeface="Helvetica Neue"/>
                <a:ea typeface="Helvetica Neue"/>
                <a:cs typeface="Helvetica Neue"/>
              </a:defRPr>
            </a:pPr>
            <a:r>
              <a:rPr sz="1650" b="0" i="0">
                <a:solidFill>
                  <a:srgbClr val="000000"/>
                </a:solidFill>
                <a:latin typeface="Helvetica Neue"/>
                <a:ea typeface="Helvetica Neue"/>
                <a:cs typeface="Helvetica Neue"/>
              </a:rPr>
              <a:t>distributions, modes, transport, factorization, kinetic rollout</a:t>
            </a:r>
          </a:p>
        </p:txBody>
      </p:sp>
      <p:sp>
        <p:nvSpPr>
          <p:cNvPr id="14" name="">
            <a:extLst xmlns:a="http://schemas.openxmlformats.org/drawingml/2006/main">
              <a:ext uri="{FF2B5EF4-FFF2-40B4-BE49-F238E27FC236}">
                <a16:creationId xmlns:a16="http://schemas.microsoft.com/office/drawing/2014/main" id="{41EC728D-073F-4F6A-8A26-327B8947659F}"/>
              </a:ext>
            </a:extLst>
          </p:cNvPr>
          <p:cNvSpPr>
            <a:spLocks xmlns:a="http://schemas.openxmlformats.org/drawingml/2006/main" noGrp="1"/>
          </p:cNvSpPr>
          <p:nvPr/>
        </p:nvSpPr>
        <p:spPr>
          <a:xfrm xmlns:a="http://schemas.openxmlformats.org/drawingml/2006/main">
            <a:off x="5962650" y="1438275"/>
            <a:ext cx="9525" cy="38100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5" name="">
            <a:extLst xmlns:a="http://schemas.openxmlformats.org/drawingml/2006/main">
              <a:ext uri="{FF2B5EF4-FFF2-40B4-BE49-F238E27FC236}">
                <a16:creationId xmlns:a16="http://schemas.microsoft.com/office/drawing/2014/main" id="{F57B316B-6B41-42B5-A71A-7CCF5B56353D}"/>
              </a:ext>
            </a:extLst>
          </p:cNvPr>
          <p:cNvSpPr>
            <a:spLocks xmlns:a="http://schemas.openxmlformats.org/drawingml/2006/main" noGrp="1"/>
          </p:cNvSpPr>
          <p:nvPr/>
        </p:nvSpPr>
        <p:spPr>
          <a:xfrm xmlns:a="http://schemas.openxmlformats.org/drawingml/2006/main">
            <a:off x="6534150" y="14859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8AEB5"/>
                </a:solidFill>
                <a:latin typeface="Helvetica Neue"/>
                <a:ea typeface="Helvetica Neue"/>
                <a:cs typeface="Helvetica Neue"/>
              </a:defRPr>
            </a:pPr>
            <a:r>
              <a:rPr sz="1350" b="1" i="0">
                <a:solidFill>
                  <a:srgbClr val="18AEB5"/>
                </a:solidFill>
                <a:latin typeface="Helvetica Neue"/>
                <a:ea typeface="Helvetica Neue"/>
                <a:cs typeface="Helvetica Neue"/>
              </a:rPr>
              <a:t>KINETIC → MOMENTS</a:t>
            </a:r>
          </a:p>
        </p:txBody>
      </p:sp>
      <p:sp>
        <p:nvSpPr>
          <p:cNvPr id="16" name="">
            <a:extLst xmlns:a="http://schemas.openxmlformats.org/drawingml/2006/main">
              <a:ext uri="{FF2B5EF4-FFF2-40B4-BE49-F238E27FC236}">
                <a16:creationId xmlns:a16="http://schemas.microsoft.com/office/drawing/2014/main" id="{3938BDD9-4099-40BD-B60D-D829B0341531}"/>
              </a:ext>
            </a:extLst>
          </p:cNvPr>
          <p:cNvSpPr>
            <a:spLocks xmlns:a="http://schemas.openxmlformats.org/drawingml/2006/main" noGrp="1"/>
          </p:cNvSpPr>
          <p:nvPr/>
        </p:nvSpPr>
        <p:spPr>
          <a:xfrm xmlns:a="http://schemas.openxmlformats.org/drawingml/2006/main">
            <a:off x="6534150" y="19526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Retain</a:t>
            </a:r>
          </a:p>
        </p:txBody>
      </p:sp>
      <p:sp>
        <p:nvSpPr>
          <p:cNvPr id="17" name="">
            <a:extLst xmlns:a="http://schemas.openxmlformats.org/drawingml/2006/main">
              <a:ext uri="{FF2B5EF4-FFF2-40B4-BE49-F238E27FC236}">
                <a16:creationId xmlns:a16="http://schemas.microsoft.com/office/drawing/2014/main" id="{2D671686-EAB9-4661-A42E-360A9A52C0BA}"/>
              </a:ext>
            </a:extLst>
          </p:cNvPr>
          <p:cNvSpPr>
            <a:spLocks xmlns:a="http://schemas.openxmlformats.org/drawingml/2006/main" noGrp="1"/>
          </p:cNvSpPr>
          <p:nvPr/>
        </p:nvSpPr>
        <p:spPr>
          <a:xfrm xmlns:a="http://schemas.openxmlformats.org/drawingml/2006/main">
            <a:off x="7696200" y="1952625"/>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79"/>
          </a:bodyPr>
          <a:lstStyle xmlns:a="http://schemas.openxmlformats.org/drawingml/2006/main"/>
          <a:p xmlns:a="http://schemas.openxmlformats.org/drawingml/2006/main">
            <a:pPr algn="l">
              <a:buNone/>
              <a:defRPr sz="1650" b="0" i="0">
                <a:solidFill>
                  <a:srgbClr val="000000"/>
                </a:solidFill>
                <a:latin typeface="Helvetica Neue"/>
                <a:ea typeface="Helvetica Neue"/>
                <a:cs typeface="Helvetica Neue"/>
              </a:defRPr>
            </a:pPr>
            <a:r>
              <a:rPr sz="1650" b="0" i="0">
                <a:solidFill>
                  <a:srgbClr val="000000"/>
                </a:solidFill>
                <a:latin typeface="Helvetica Neue"/>
                <a:ea typeface="Helvetica Neue"/>
                <a:cs typeface="Helvetica Neue"/>
              </a:rPr>
              <a:t>density, momentum, energy, chosen moments</a:t>
            </a:r>
          </a:p>
        </p:txBody>
      </p:sp>
      <p:sp>
        <p:nvSpPr>
          <p:cNvPr id="18" name="">
            <a:extLst xmlns:a="http://schemas.openxmlformats.org/drawingml/2006/main">
              <a:ext uri="{FF2B5EF4-FFF2-40B4-BE49-F238E27FC236}">
                <a16:creationId xmlns:a16="http://schemas.microsoft.com/office/drawing/2014/main" id="{B0CC67D7-0919-45A2-83ED-F24212E6807E}"/>
              </a:ext>
            </a:extLst>
          </p:cNvPr>
          <p:cNvSpPr>
            <a:spLocks xmlns:a="http://schemas.openxmlformats.org/drawingml/2006/main" noGrp="1"/>
          </p:cNvSpPr>
          <p:nvPr/>
        </p:nvSpPr>
        <p:spPr>
          <a:xfrm xmlns:a="http://schemas.openxmlformats.org/drawingml/2006/main">
            <a:off x="6534150" y="27146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Discard</a:t>
            </a:r>
          </a:p>
        </p:txBody>
      </p:sp>
      <p:sp>
        <p:nvSpPr>
          <p:cNvPr id="19" name="">
            <a:extLst xmlns:a="http://schemas.openxmlformats.org/drawingml/2006/main">
              <a:ext uri="{FF2B5EF4-FFF2-40B4-BE49-F238E27FC236}">
                <a16:creationId xmlns:a16="http://schemas.microsoft.com/office/drawing/2014/main" id="{C02E0F2C-3B4C-42AC-9572-95053A9AE896}"/>
              </a:ext>
            </a:extLst>
          </p:cNvPr>
          <p:cNvSpPr>
            <a:spLocks xmlns:a="http://schemas.openxmlformats.org/drawingml/2006/main" noGrp="1"/>
          </p:cNvSpPr>
          <p:nvPr/>
        </p:nvSpPr>
        <p:spPr>
          <a:xfrm xmlns:a="http://schemas.openxmlformats.org/drawingml/2006/main">
            <a:off x="7696200" y="2714625"/>
            <a:ext cx="381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000000"/>
                </a:solidFill>
                <a:latin typeface="Helvetica Neue"/>
                <a:ea typeface="Helvetica Neue"/>
                <a:cs typeface="Helvetica Neue"/>
              </a:defRPr>
            </a:pPr>
            <a:r>
              <a:rPr sz="1650" b="0" i="0">
                <a:solidFill>
                  <a:srgbClr val="000000"/>
                </a:solidFill>
                <a:latin typeface="Helvetica Neue"/>
                <a:ea typeface="Helvetica Neue"/>
                <a:cs typeface="Helvetica Neue"/>
              </a:rPr>
              <a:t>velocity-space tails, higher moments, relaxation history</a:t>
            </a:r>
          </a:p>
        </p:txBody>
      </p:sp>
      <p:sp>
        <p:nvSpPr>
          <p:cNvPr id="20" name="">
            <a:extLst xmlns:a="http://schemas.openxmlformats.org/drawingml/2006/main">
              <a:ext uri="{FF2B5EF4-FFF2-40B4-BE49-F238E27FC236}">
                <a16:creationId xmlns:a16="http://schemas.microsoft.com/office/drawing/2014/main" id="{B2AD43E4-07B8-4EF6-8E83-EF7A188AB9C3}"/>
              </a:ext>
            </a:extLst>
          </p:cNvPr>
          <p:cNvSpPr>
            <a:spLocks xmlns:a="http://schemas.openxmlformats.org/drawingml/2006/main" noGrp="1"/>
          </p:cNvSpPr>
          <p:nvPr/>
        </p:nvSpPr>
        <p:spPr>
          <a:xfrm xmlns:a="http://schemas.openxmlformats.org/drawingml/2006/main">
            <a:off x="6534150" y="36671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Targets</a:t>
            </a:r>
          </a:p>
        </p:txBody>
      </p:sp>
      <p:sp>
        <p:nvSpPr>
          <p:cNvPr id="21" name="">
            <a:extLst xmlns:a="http://schemas.openxmlformats.org/drawingml/2006/main">
              <a:ext uri="{FF2B5EF4-FFF2-40B4-BE49-F238E27FC236}">
                <a16:creationId xmlns:a16="http://schemas.microsoft.com/office/drawing/2014/main" id="{20735BF7-C0D8-4077-BD89-D597D799D755}"/>
              </a:ext>
            </a:extLst>
          </p:cNvPr>
          <p:cNvSpPr>
            <a:spLocks xmlns:a="http://schemas.openxmlformats.org/drawingml/2006/main" noGrp="1"/>
          </p:cNvSpPr>
          <p:nvPr/>
        </p:nvSpPr>
        <p:spPr>
          <a:xfrm xmlns:a="http://schemas.openxmlformats.org/drawingml/2006/main">
            <a:off x="7696200" y="3667125"/>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30"/>
          </a:bodyPr>
          <a:lstStyle xmlns:a="http://schemas.openxmlformats.org/drawingml/2006/main"/>
          <a:p xmlns:a="http://schemas.openxmlformats.org/drawingml/2006/main">
            <a:pPr algn="l">
              <a:buNone/>
              <a:defRPr sz="1650" b="0" i="0">
                <a:solidFill>
                  <a:srgbClr val="000000"/>
                </a:solidFill>
                <a:latin typeface="Helvetica Neue"/>
                <a:ea typeface="Helvetica Neue"/>
                <a:cs typeface="Helvetica Neue"/>
              </a:defRPr>
            </a:pPr>
            <a:r>
              <a:rPr sz="1650" b="0" i="0">
                <a:solidFill>
                  <a:srgbClr val="000000"/>
                </a:solidFill>
                <a:latin typeface="Helvetica Neue"/>
                <a:ea typeface="Helvetica Neue"/>
                <a:cs typeface="Helvetica Neue"/>
              </a:rPr>
              <a:t>stress, heat flux, production and memory</a:t>
            </a:r>
          </a:p>
        </p:txBody>
      </p:sp>
      <p:sp>
        <p:nvSpPr>
          <p:cNvPr id="22" name="">
            <a:extLst xmlns:a="http://schemas.openxmlformats.org/drawingml/2006/main">
              <a:ext uri="{FF2B5EF4-FFF2-40B4-BE49-F238E27FC236}">
                <a16:creationId xmlns:a16="http://schemas.microsoft.com/office/drawing/2014/main" id="{978A0103-4727-4A8F-B8B1-2B909ABEF469}"/>
              </a:ext>
            </a:extLst>
          </p:cNvPr>
          <p:cNvSpPr>
            <a:spLocks xmlns:a="http://schemas.openxmlformats.org/drawingml/2006/main" noGrp="1"/>
          </p:cNvSpPr>
          <p:nvPr/>
        </p:nvSpPr>
        <p:spPr>
          <a:xfrm xmlns:a="http://schemas.openxmlformats.org/drawingml/2006/main">
            <a:off x="6534150" y="44291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Tests</a:t>
            </a:r>
          </a:p>
        </p:txBody>
      </p:sp>
      <p:sp>
        <p:nvSpPr>
          <p:cNvPr id="23" name="">
            <a:extLst xmlns:a="http://schemas.openxmlformats.org/drawingml/2006/main">
              <a:ext uri="{FF2B5EF4-FFF2-40B4-BE49-F238E27FC236}">
                <a16:creationId xmlns:a16="http://schemas.microsoft.com/office/drawing/2014/main" id="{7D5D15F1-39D5-4CF4-9833-82E3E0653DA5}"/>
              </a:ext>
            </a:extLst>
          </p:cNvPr>
          <p:cNvSpPr>
            <a:spLocks xmlns:a="http://schemas.openxmlformats.org/drawingml/2006/main" noGrp="1"/>
          </p:cNvSpPr>
          <p:nvPr/>
        </p:nvSpPr>
        <p:spPr>
          <a:xfrm xmlns:a="http://schemas.openxmlformats.org/drawingml/2006/main">
            <a:off x="7696200" y="4429125"/>
            <a:ext cx="381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61"/>
          </a:bodyPr>
          <a:lstStyle xmlns:a="http://schemas.openxmlformats.org/drawingml/2006/main"/>
          <a:p xmlns:a="http://schemas.openxmlformats.org/drawingml/2006/main">
            <a:pPr algn="l">
              <a:buNone/>
              <a:defRPr sz="1650" b="0" i="0">
                <a:solidFill>
                  <a:srgbClr val="000000"/>
                </a:solidFill>
                <a:latin typeface="Helvetica Neue"/>
                <a:ea typeface="Helvetica Neue"/>
                <a:cs typeface="Helvetica Neue"/>
              </a:defRPr>
            </a:pPr>
            <a:r>
              <a:rPr sz="1650" b="0" i="0">
                <a:solidFill>
                  <a:srgbClr val="000000"/>
                </a:solidFill>
                <a:latin typeface="Helvetica Neue"/>
                <a:ea typeface="Helvetica Neue"/>
                <a:cs typeface="Helvetica Neue"/>
              </a:rPr>
              <a:t>realizability, hyperbolicity, conservation, entropy, embedded rollout</a:t>
            </a:r>
          </a:p>
        </p:txBody>
      </p:sp>
      <p:sp>
        <p:nvSpPr>
          <p:cNvPr id="24" name="">
            <a:extLst xmlns:a="http://schemas.openxmlformats.org/drawingml/2006/main">
              <a:ext uri="{FF2B5EF4-FFF2-40B4-BE49-F238E27FC236}">
                <a16:creationId xmlns:a16="http://schemas.microsoft.com/office/drawing/2014/main" id="{B4E2B429-DDE2-4D7B-8F2F-02BA171861A8}"/>
              </a:ext>
            </a:extLst>
          </p:cNvPr>
          <p:cNvSpPr>
            <a:spLocks xmlns:a="http://schemas.openxmlformats.org/drawingml/2006/main" noGrp="1"/>
          </p:cNvSpPr>
          <p:nvPr/>
        </p:nvSpPr>
        <p:spPr>
          <a:xfrm xmlns:a="http://schemas.openxmlformats.org/drawingml/2006/main">
            <a:off x="1390650" y="5657850"/>
            <a:ext cx="941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019"/>
          </a:bodyPr>
          <a:lstStyle xmlns:a="http://schemas.openxmlformats.org/drawingml/2006/main"/>
          <a:p xmlns:a="http://schemas.openxmlformats.org/drawingml/2006/main">
            <a:pPr algn="ctr">
              <a:buNone/>
              <a:defRPr sz="1725" b="1" i="0">
                <a:solidFill>
                  <a:srgbClr val="143A72"/>
                </a:solidFill>
                <a:latin typeface="Helvetica Neue"/>
                <a:ea typeface="Helvetica Neue"/>
                <a:cs typeface="Helvetica Neue"/>
              </a:defRPr>
            </a:pPr>
            <a:r>
              <a:rPr sz="1725" b="1" i="0">
                <a:solidFill>
                  <a:srgbClr val="143A72"/>
                </a:solidFill>
                <a:latin typeface="Helvetica Neue"/>
                <a:ea typeface="Helvetica Neue"/>
                <a:cs typeface="Helvetica Neue"/>
              </a:rPr>
              <a:t>Interaction learning becomes multiscale closure when its ensembles feed the next reductions.</a:t>
            </a:r>
          </a:p>
        </p:txBody>
      </p:sp>
    </p:spTree>
    <p:extLst>
      <p:ext uri="{BB962C8B-B14F-4D97-AF65-F5344CB8AC3E}">
        <p14:creationId xmlns:p14="http://schemas.microsoft.com/office/powerpoint/2010/main" val="133489837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400BAD4-7E6D-431D-95C0-93AD26995187}"/>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B0F19D2A-F104-488B-96C4-5DED5E7F4ECD}"/>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Supernovae are the 3D→1D transfer test</a:t>
            </a:r>
          </a:p>
        </p:txBody>
      </p:sp>
      <p:cxnSp>
        <p:nvCxnSpPr>
          <p:cNvPr id="34"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DCE8A9BA-458C-45A0-9805-164353FC0170}"/>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0F633CC9-9F4E-433F-BCAF-E4B3C57C5B11}"/>
              </a:ext>
            </a:extLst>
          </p:cNvPr>
          <p:cNvSpPr>
            <a:spLocks xmlns:a="http://schemas.openxmlformats.org/drawingml/2006/main" noGrp="1"/>
          </p:cNvSpPr>
          <p:nvPr/>
        </p:nvSpPr>
        <p:spPr>
          <a:xfrm xmlns:a="http://schemas.openxmlformats.org/drawingml/2006/main">
            <a:off x="400050" y="14859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143A72"/>
                </a:solidFill>
                <a:latin typeface="Helvetica Neue"/>
                <a:ea typeface="Helvetica Neue"/>
                <a:cs typeface="Helvetica Neue"/>
              </a:defRPr>
            </a:pPr>
            <a:r>
              <a:rPr sz="1275" b="1" i="0">
                <a:solidFill>
                  <a:srgbClr val="143A72"/>
                </a:solidFill>
                <a:latin typeface="Helvetica Neue"/>
                <a:ea typeface="Helvetica Neue"/>
                <a:cs typeface="Helvetica Neue"/>
              </a:rPr>
              <a:t>APPLICATION CARRIER</a:t>
            </a:r>
          </a:p>
        </p:txBody>
      </p:sp>
      <p:sp>
        <p:nvSpPr>
          <p:cNvPr id="6" name="">
            <a:extLst xmlns:a="http://schemas.openxmlformats.org/drawingml/2006/main">
              <a:ext uri="{FF2B5EF4-FFF2-40B4-BE49-F238E27FC236}">
                <a16:creationId xmlns:a16="http://schemas.microsoft.com/office/drawing/2014/main" id="{D4B048FC-B0E5-4914-8CB5-7559931B5140}"/>
              </a:ext>
            </a:extLst>
          </p:cNvPr>
          <p:cNvSpPr>
            <a:spLocks xmlns:a="http://schemas.openxmlformats.org/drawingml/2006/main" noGrp="1"/>
          </p:cNvSpPr>
          <p:nvPr/>
        </p:nvSpPr>
        <p:spPr>
          <a:xfrm xmlns:a="http://schemas.openxmlformats.org/drawingml/2006/main">
            <a:off x="400050" y="1895475"/>
            <a:ext cx="457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81"/>
          </a:bodyPr>
          <a:lstStyle xmlns:a="http://schemas.openxmlformats.org/drawingml/2006/main"/>
          <a:p xmlns:a="http://schemas.openxmlformats.org/drawingml/2006/main">
            <a:pPr algn="l">
              <a:buNone/>
              <a:defRPr sz="2175" b="1" i="0">
                <a:solidFill>
                  <a:srgbClr val="000000"/>
                </a:solidFill>
                <a:latin typeface="Helvetica Neue"/>
                <a:ea typeface="Helvetica Neue"/>
                <a:cs typeface="Helvetica Neue"/>
              </a:defRPr>
            </a:pPr>
            <a:r>
              <a:rPr sz="2175" b="1" i="0">
                <a:solidFill>
                  <a:srgbClr val="000000"/>
                </a:solidFill>
                <a:latin typeface="Helvetica Neue"/>
                <a:ea typeface="Helvetica Neue"/>
                <a:cs typeface="Helvetica Neue"/>
              </a:rPr>
              <a:t>1D supernova with turbulence closure</a:t>
            </a:r>
          </a:p>
        </p:txBody>
      </p:sp>
      <p:sp>
        <p:nvSpPr>
          <p:cNvPr id="7" name="">
            <a:extLst xmlns:a="http://schemas.openxmlformats.org/drawingml/2006/main">
              <a:ext uri="{FF2B5EF4-FFF2-40B4-BE49-F238E27FC236}">
                <a16:creationId xmlns:a16="http://schemas.microsoft.com/office/drawing/2014/main" id="{5946EE0C-7B72-4603-8270-FED71B893F6F}"/>
              </a:ext>
            </a:extLst>
          </p:cNvPr>
          <p:cNvSpPr>
            <a:spLocks xmlns:a="http://schemas.openxmlformats.org/drawingml/2006/main" noGrp="1"/>
          </p:cNvSpPr>
          <p:nvPr/>
        </p:nvSpPr>
        <p:spPr>
          <a:xfrm xmlns:a="http://schemas.openxmlformats.org/drawingml/2006/main">
            <a:off x="400050" y="28765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147AF906-B6E6-4694-8DD9-CA0ED910CF98}"/>
              </a:ext>
            </a:extLst>
          </p:cNvPr>
          <p:cNvSpPr>
            <a:spLocks xmlns:a="http://schemas.openxmlformats.org/drawingml/2006/main" noGrp="1"/>
          </p:cNvSpPr>
          <p:nvPr/>
        </p:nvSpPr>
        <p:spPr>
          <a:xfrm xmlns:a="http://schemas.openxmlformats.org/drawingml/2006/main">
            <a:off x="685800" y="2876550"/>
            <a:ext cx="4476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3D DNS / implicit LES / LES</a:t>
            </a:r>
          </a:p>
        </p:txBody>
      </p:sp>
      <p:sp>
        <p:nvSpPr>
          <p:cNvPr id="9" name="">
            <a:extLst xmlns:a="http://schemas.openxmlformats.org/drawingml/2006/main">
              <a:ext uri="{FF2B5EF4-FFF2-40B4-BE49-F238E27FC236}">
                <a16:creationId xmlns:a16="http://schemas.microsoft.com/office/drawing/2014/main" id="{7D57FB38-E843-4977-BB22-38FCF17A62FE}"/>
              </a:ext>
            </a:extLst>
          </p:cNvPr>
          <p:cNvSpPr>
            <a:spLocks xmlns:a="http://schemas.openxmlformats.org/drawingml/2006/main" noGrp="1"/>
          </p:cNvSpPr>
          <p:nvPr/>
        </p:nvSpPr>
        <p:spPr>
          <a:xfrm xmlns:a="http://schemas.openxmlformats.org/drawingml/2006/main">
            <a:off x="400050" y="34956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361E2F26-F3E4-41D5-9F7D-97A0A301578F}"/>
              </a:ext>
            </a:extLst>
          </p:cNvPr>
          <p:cNvSpPr>
            <a:spLocks xmlns:a="http://schemas.openxmlformats.org/drawingml/2006/main" noGrp="1"/>
          </p:cNvSpPr>
          <p:nvPr/>
        </p:nvSpPr>
        <p:spPr>
          <a:xfrm xmlns:a="http://schemas.openxmlformats.org/drawingml/2006/main">
            <a:off x="685800" y="3495675"/>
            <a:ext cx="4476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Shock–turbulence interaction</a:t>
            </a:r>
          </a:p>
        </p:txBody>
      </p:sp>
      <p:sp>
        <p:nvSpPr>
          <p:cNvPr id="11" name="">
            <a:extLst xmlns:a="http://schemas.openxmlformats.org/drawingml/2006/main">
              <a:ext uri="{FF2B5EF4-FFF2-40B4-BE49-F238E27FC236}">
                <a16:creationId xmlns:a16="http://schemas.microsoft.com/office/drawing/2014/main" id="{40E90817-ACA9-4C08-9562-D95BDC0C4056}"/>
              </a:ext>
            </a:extLst>
          </p:cNvPr>
          <p:cNvSpPr>
            <a:spLocks xmlns:a="http://schemas.openxmlformats.org/drawingml/2006/main" noGrp="1"/>
          </p:cNvSpPr>
          <p:nvPr/>
        </p:nvSpPr>
        <p:spPr>
          <a:xfrm xmlns:a="http://schemas.openxmlformats.org/drawingml/2006/main">
            <a:off x="400050" y="41148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1" i="0">
                <a:solidFill>
                  <a:srgbClr val="143A72"/>
                </a:solidFill>
                <a:latin typeface="Helvetica Neue"/>
                <a:ea typeface="Helvetica Neue"/>
                <a:cs typeface="Helvetica Neue"/>
              </a:defRPr>
            </a:pPr>
            <a:r>
              <a:rPr sz="1575" b="1" i="0">
                <a:solidFill>
                  <a:srgbClr val="143A72"/>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A0484326-0CA8-46CC-8AD5-6E9FC81E688F}"/>
              </a:ext>
            </a:extLst>
          </p:cNvPr>
          <p:cNvSpPr>
            <a:spLocks xmlns:a="http://schemas.openxmlformats.org/drawingml/2006/main" noGrp="1"/>
          </p:cNvSpPr>
          <p:nvPr/>
        </p:nvSpPr>
        <p:spPr>
          <a:xfrm xmlns:a="http://schemas.openxmlformats.org/drawingml/2006/main">
            <a:off x="685800" y="4114800"/>
            <a:ext cx="4476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i="0">
                <a:solidFill>
                  <a:srgbClr val="000000"/>
                </a:solidFill>
                <a:latin typeface="Helvetica Neue"/>
                <a:ea typeface="Helvetica Neue"/>
                <a:cs typeface="Helvetica Neue"/>
              </a:defRPr>
            </a:pPr>
            <a:r>
              <a:rPr sz="1575" b="0" i="0">
                <a:solidFill>
                  <a:srgbClr val="000000"/>
                </a:solidFill>
                <a:latin typeface="Helvetica Neue"/>
                <a:ea typeface="Helvetica Neue"/>
                <a:cs typeface="Helvetica Neue"/>
              </a:rPr>
              <a:t>Progenitor · heating · filter sweeps</a:t>
            </a:r>
          </a:p>
        </p:txBody>
      </p:sp>
      <p:sp>
        <p:nvSpPr>
          <p:cNvPr id="13" name="">
            <a:extLst xmlns:a="http://schemas.openxmlformats.org/drawingml/2006/main">
              <a:ext uri="{FF2B5EF4-FFF2-40B4-BE49-F238E27FC236}">
                <a16:creationId xmlns:a16="http://schemas.microsoft.com/office/drawing/2014/main" id="{CF87AE4A-46DF-410F-BEDA-D57A9E443693}"/>
              </a:ext>
            </a:extLst>
          </p:cNvPr>
          <p:cNvSpPr>
            <a:spLocks xmlns:a="http://schemas.openxmlformats.org/drawingml/2006/main" noGrp="1"/>
          </p:cNvSpPr>
          <p:nvPr/>
        </p:nvSpPr>
        <p:spPr>
          <a:xfrm xmlns:a="http://schemas.openxmlformats.org/drawingml/2006/main">
            <a:off x="5867400" y="1543050"/>
            <a:ext cx="5619750" cy="1447800"/>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E0A9C54F-A719-4214-9CDF-FB6CB0B9DABF}"/>
              </a:ext>
            </a:extLst>
          </p:cNvPr>
          <p:cNvSpPr>
            <a:spLocks xmlns:a="http://schemas.openxmlformats.org/drawingml/2006/main" noGrp="1"/>
          </p:cNvSpPr>
          <p:nvPr/>
        </p:nvSpPr>
        <p:spPr>
          <a:xfrm xmlns:a="http://schemas.openxmlformats.org/drawingml/2006/main">
            <a:off x="6191250" y="1962150"/>
            <a:ext cx="4972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2475" b="1" i="0">
                <a:solidFill>
                  <a:srgbClr val="143A72"/>
                </a:solidFill>
                <a:latin typeface="Helvetica Neue"/>
                <a:ea typeface="Helvetica Neue"/>
                <a:cs typeface="Helvetica Neue"/>
              </a:defRPr>
            </a:pPr>
            <a:r>
              <a:rPr sz="2475" b="1" i="0">
                <a:solidFill>
                  <a:srgbClr val="143A72"/>
                </a:solidFill>
                <a:latin typeface="Helvetica Neue"/>
                <a:ea typeface="Helvetica Neue"/>
                <a:cs typeface="Helvetica Neue"/>
              </a:rPr>
              <a:t>C*SN = ΠΩF3D(X) − F1D(ΠΩX)</a:t>
            </a:r>
          </a:p>
        </p:txBody>
      </p:sp>
      <p:sp>
        <p:nvSpPr>
          <p:cNvPr id="15" name="">
            <a:extLst xmlns:a="http://schemas.openxmlformats.org/drawingml/2006/main">
              <a:ext uri="{FF2B5EF4-FFF2-40B4-BE49-F238E27FC236}">
                <a16:creationId xmlns:a16="http://schemas.microsoft.com/office/drawing/2014/main" id="{8CBD3C16-23AE-4B25-A1E5-47F79CF245D0}"/>
              </a:ext>
            </a:extLst>
          </p:cNvPr>
          <p:cNvSpPr>
            <a:spLocks xmlns:a="http://schemas.openxmlformats.org/drawingml/2006/main" noGrp="1"/>
          </p:cNvSpPr>
          <p:nvPr/>
        </p:nvSpPr>
        <p:spPr>
          <a:xfrm xmlns:a="http://schemas.openxmlformats.org/drawingml/2006/main">
            <a:off x="6191250" y="32575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18AEB5"/>
                </a:solidFill>
                <a:latin typeface="Helvetica Neue"/>
                <a:ea typeface="Helvetica Neue"/>
                <a:cs typeface="Helvetica Neue"/>
              </a:defRPr>
            </a:pPr>
            <a:r>
              <a:rPr sz="1275" b="1" i="0">
                <a:solidFill>
                  <a:srgbClr val="18AEB5"/>
                </a:solidFill>
                <a:latin typeface="Helvetica Neue"/>
                <a:ea typeface="Helvetica Neue"/>
                <a:cs typeface="Helvetica Neue"/>
              </a:rPr>
              <a:t>REQUIRED STRUCTURE</a:t>
            </a:r>
          </a:p>
        </p:txBody>
      </p:sp>
      <p:sp>
        <p:nvSpPr>
          <p:cNvPr id="16" name="">
            <a:extLst xmlns:a="http://schemas.openxmlformats.org/drawingml/2006/main">
              <a:ext uri="{FF2B5EF4-FFF2-40B4-BE49-F238E27FC236}">
                <a16:creationId xmlns:a16="http://schemas.microsoft.com/office/drawing/2014/main" id="{14015431-FDA3-40D0-9BA6-A7FEAA61031E}"/>
              </a:ext>
            </a:extLst>
          </p:cNvPr>
          <p:cNvSpPr>
            <a:spLocks xmlns:a="http://schemas.openxmlformats.org/drawingml/2006/main" noGrp="1"/>
          </p:cNvSpPr>
          <p:nvPr/>
        </p:nvSpPr>
        <p:spPr>
          <a:xfrm xmlns:a="http://schemas.openxmlformats.org/drawingml/2006/main">
            <a:off x="6191250" y="36861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8AEB5"/>
                </a:solidFill>
                <a:latin typeface="Helvetica Neue"/>
                <a:ea typeface="Helvetica Neue"/>
                <a:cs typeface="Helvetica Neue"/>
              </a:defRPr>
            </a:pPr>
            <a:r>
              <a:rPr sz="1500" b="1" i="0">
                <a:solidFill>
                  <a:srgbClr val="18AEB5"/>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97A4C6F9-968C-4C55-959C-3227AE3BDA8A}"/>
              </a:ext>
            </a:extLst>
          </p:cNvPr>
          <p:cNvSpPr>
            <a:spLocks xmlns:a="http://schemas.openxmlformats.org/drawingml/2006/main" noGrp="1"/>
          </p:cNvSpPr>
          <p:nvPr/>
        </p:nvSpPr>
        <p:spPr>
          <a:xfrm xmlns:a="http://schemas.openxmlformats.org/drawingml/2006/main">
            <a:off x="6477000" y="36861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Conservative energy / lepton coupling</a:t>
            </a:r>
          </a:p>
        </p:txBody>
      </p:sp>
      <p:sp>
        <p:nvSpPr>
          <p:cNvPr id="18" name="">
            <a:extLst xmlns:a="http://schemas.openxmlformats.org/drawingml/2006/main">
              <a:ext uri="{FF2B5EF4-FFF2-40B4-BE49-F238E27FC236}">
                <a16:creationId xmlns:a16="http://schemas.microsoft.com/office/drawing/2014/main" id="{0728D5BE-67EC-4392-B315-FC45F0BA31A8}"/>
              </a:ext>
            </a:extLst>
          </p:cNvPr>
          <p:cNvSpPr>
            <a:spLocks xmlns:a="http://schemas.openxmlformats.org/drawingml/2006/main" noGrp="1"/>
          </p:cNvSpPr>
          <p:nvPr/>
        </p:nvSpPr>
        <p:spPr>
          <a:xfrm xmlns:a="http://schemas.openxmlformats.org/drawingml/2006/main">
            <a:off x="6191250" y="41624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8AEB5"/>
                </a:solidFill>
                <a:latin typeface="Helvetica Neue"/>
                <a:ea typeface="Helvetica Neue"/>
                <a:cs typeface="Helvetica Neue"/>
              </a:defRPr>
            </a:pPr>
            <a:r>
              <a:rPr sz="1500" b="1" i="0">
                <a:solidFill>
                  <a:srgbClr val="18AEB5"/>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A80D1AD8-E5C0-4CAD-8CD2-67537DC7E66F}"/>
              </a:ext>
            </a:extLst>
          </p:cNvPr>
          <p:cNvSpPr>
            <a:spLocks xmlns:a="http://schemas.openxmlformats.org/drawingml/2006/main" noGrp="1"/>
          </p:cNvSpPr>
          <p:nvPr/>
        </p:nvSpPr>
        <p:spPr>
          <a:xfrm xmlns:a="http://schemas.openxmlformats.org/drawingml/2006/main">
            <a:off x="6477000" y="41624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Realizable turbulent stress / energy</a:t>
            </a:r>
          </a:p>
        </p:txBody>
      </p:sp>
      <p:sp>
        <p:nvSpPr>
          <p:cNvPr id="20" name="">
            <a:extLst xmlns:a="http://schemas.openxmlformats.org/drawingml/2006/main">
              <a:ext uri="{FF2B5EF4-FFF2-40B4-BE49-F238E27FC236}">
                <a16:creationId xmlns:a16="http://schemas.microsoft.com/office/drawing/2014/main" id="{288F4AC0-C783-4E0C-A2EC-98E19830A992}"/>
              </a:ext>
            </a:extLst>
          </p:cNvPr>
          <p:cNvSpPr>
            <a:spLocks xmlns:a="http://schemas.openxmlformats.org/drawingml/2006/main" noGrp="1"/>
          </p:cNvSpPr>
          <p:nvPr/>
        </p:nvSpPr>
        <p:spPr>
          <a:xfrm xmlns:a="http://schemas.openxmlformats.org/drawingml/2006/main">
            <a:off x="6191250" y="46386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8AEB5"/>
                </a:solidFill>
                <a:latin typeface="Helvetica Neue"/>
                <a:ea typeface="Helvetica Neue"/>
                <a:cs typeface="Helvetica Neue"/>
              </a:defRPr>
            </a:pPr>
            <a:r>
              <a:rPr sz="1500" b="1" i="0">
                <a:solidFill>
                  <a:srgbClr val="18AEB5"/>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BB2FBC66-19E7-433E-BFE7-5B117AB56BE8}"/>
              </a:ext>
            </a:extLst>
          </p:cNvPr>
          <p:cNvSpPr>
            <a:spLocks xmlns:a="http://schemas.openxmlformats.org/drawingml/2006/main" noGrp="1"/>
          </p:cNvSpPr>
          <p:nvPr/>
        </p:nvSpPr>
        <p:spPr>
          <a:xfrm xmlns:a="http://schemas.openxmlformats.org/drawingml/2006/main">
            <a:off x="6477000" y="46386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Stable shock-capturing rollout</a:t>
            </a:r>
          </a:p>
        </p:txBody>
      </p:sp>
      <p:sp>
        <p:nvSpPr>
          <p:cNvPr id="22" name="">
            <a:extLst xmlns:a="http://schemas.openxmlformats.org/drawingml/2006/main">
              <a:ext uri="{FF2B5EF4-FFF2-40B4-BE49-F238E27FC236}">
                <a16:creationId xmlns:a16="http://schemas.microsoft.com/office/drawing/2014/main" id="{58E9C629-379D-4F5B-A12B-47CEABF03998}"/>
              </a:ext>
            </a:extLst>
          </p:cNvPr>
          <p:cNvSpPr>
            <a:spLocks xmlns:a="http://schemas.openxmlformats.org/drawingml/2006/main" noGrp="1"/>
          </p:cNvSpPr>
          <p:nvPr/>
        </p:nvSpPr>
        <p:spPr>
          <a:xfrm xmlns:a="http://schemas.openxmlformats.org/drawingml/2006/main">
            <a:off x="6191250" y="51149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8AEB5"/>
                </a:solidFill>
                <a:latin typeface="Helvetica Neue"/>
                <a:ea typeface="Helvetica Neue"/>
                <a:cs typeface="Helvetica Neue"/>
              </a:defRPr>
            </a:pPr>
            <a:r>
              <a:rPr sz="1500" b="1" i="0">
                <a:solidFill>
                  <a:srgbClr val="18AEB5"/>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4BF94D14-C6E8-47E3-A83E-E5C4D12E9C3C}"/>
              </a:ext>
            </a:extLst>
          </p:cNvPr>
          <p:cNvSpPr>
            <a:spLocks xmlns:a="http://schemas.openxmlformats.org/drawingml/2006/main" noGrp="1"/>
          </p:cNvSpPr>
          <p:nvPr/>
        </p:nvSpPr>
        <p:spPr>
          <a:xfrm xmlns:a="http://schemas.openxmlformats.org/drawingml/2006/main">
            <a:off x="6477000" y="51149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Recover zero-turbulence / local baseline</a:t>
            </a:r>
          </a:p>
        </p:txBody>
      </p:sp>
      <p:sp>
        <p:nvSpPr>
          <p:cNvPr id="24" name="">
            <a:extLst xmlns:a="http://schemas.openxmlformats.org/drawingml/2006/main">
              <a:ext uri="{FF2B5EF4-FFF2-40B4-BE49-F238E27FC236}">
                <a16:creationId xmlns:a16="http://schemas.microsoft.com/office/drawing/2014/main" id="{68268F66-1D47-4EF9-A2D2-6D37821A74ED}"/>
              </a:ext>
            </a:extLst>
          </p:cNvPr>
          <p:cNvSpPr>
            <a:spLocks xmlns:a="http://schemas.openxmlformats.org/drawingml/2006/main" noGrp="1"/>
          </p:cNvSpPr>
          <p:nvPr/>
        </p:nvSpPr>
        <p:spPr>
          <a:xfrm xmlns:a="http://schemas.openxmlformats.org/drawingml/2006/main">
            <a:off x="1943100" y="5734050"/>
            <a:ext cx="8305800" cy="428625"/>
          </a:xfrm>
          <a:prstGeom xmlns:a="http://schemas.openxmlformats.org/drawingml/2006/main" prst="rect">
            <a:avLst/>
          </a:prstGeom>
          <a:solidFill xmlns:a="http://schemas.openxmlformats.org/drawingml/2006/main">
            <a:srgbClr val="FCE6DE"/>
          </a:solidFill>
          <a:ln xmlns:a="http://schemas.openxmlformats.org/drawingml/2006/main" w="9525">
            <a:solidFill>
              <a:srgbClr val="F06A3C"/>
            </a:solidFill>
            <a:prstDash val="solid"/>
          </a:ln>
        </p:spPr>
      </p:sp>
      <p:sp>
        <p:nvSpPr>
          <p:cNvPr id="25" name="">
            <a:extLst xmlns:a="http://schemas.openxmlformats.org/drawingml/2006/main">
              <a:ext uri="{FF2B5EF4-FFF2-40B4-BE49-F238E27FC236}">
                <a16:creationId xmlns:a16="http://schemas.microsoft.com/office/drawing/2014/main" id="{671FAC6E-7B26-428A-AF1F-36EA6E043093}"/>
              </a:ext>
            </a:extLst>
          </p:cNvPr>
          <p:cNvSpPr>
            <a:spLocks xmlns:a="http://schemas.openxmlformats.org/drawingml/2006/main" noGrp="1"/>
          </p:cNvSpPr>
          <p:nvPr/>
        </p:nvSpPr>
        <p:spPr>
          <a:xfrm xmlns:a="http://schemas.openxmlformats.org/drawingml/2006/main">
            <a:off x="2171700" y="5810250"/>
            <a:ext cx="784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buNone/>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Transfer diagnostic logic — not dusty-plasma forces or theorem coefficients.</a:t>
            </a:r>
          </a:p>
        </p:txBody>
      </p:sp>
    </p:spTree>
    <p:extLst>
      <p:ext uri="{BB962C8B-B14F-4D97-AF65-F5344CB8AC3E}">
        <p14:creationId xmlns:p14="http://schemas.microsoft.com/office/powerpoint/2010/main" val="100237153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FF9458-DDC9-459E-A07B-412A7FFB1022}"/>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98C0F603-240F-44AA-A86C-135F797ACEC9}"/>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Each AI/ML family has a fair role</a:t>
            </a:r>
          </a:p>
        </p:txBody>
      </p:sp>
      <p:cxnSp>
        <p:nvCxnSpPr>
          <p:cNvPr id="16"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D2F04987-DEE5-4327-9524-5FA035D7A24B}"/>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18</a:t>
            </a:r>
          </a:p>
        </p:txBody>
      </p:sp>
      <p:graphicFrame>
        <p:nvGraphicFramePr>
          <p:cNvPr id="18" name=""/>
          <p:cNvGraphicFramePr/>
          <p:nvPr/>
        </p:nvGraphicFramePr>
        <p:xfrm>
          <a:off xmlns:a="http://schemas.openxmlformats.org/drawingml/2006/main" x="400050" y="1381125"/>
          <a:ext xmlns:a="http://schemas.openxmlformats.org/drawingml/2006/main" cx="11391900" cy="4629150"/>
        </p:xfrm>
        <a:graphic xmlns:a="http://schemas.openxmlformats.org/drawingml/2006/main">
          <a:graphicData uri="http://schemas.openxmlformats.org/drawingml/2006/table">
            <a:tbl>
              <a:tblPr firstRow="1" bandRow="0"/>
              <a:tblGrid>
                <a:gridCol w="2000250"/>
                <a:gridCol w="2428875"/>
                <a:gridCol w="3286125"/>
                <a:gridCol w="3676650"/>
              </a:tblGrid>
              <a:tr h="514350">
                <a:tc>
                  <a:txBody>
                    <a:bodyPr/>
                    <a:lstStyle/>
                    <a:p>
                      <a:r>
                        <a:rPr sz="1200" b="1">
                          <a:solidFill>
                            <a:srgbClr val="FFFFFF"/>
                          </a:solidFill>
                        </a:rPr>
                        <a:t>Family</a:t>
                      </a:r>
                    </a:p>
                  </a:txBody>
                  <a:tcPr marL="91440" marR="91440" marT="45720" marB="45720">
                    <a:solidFill>
                      <a:srgbClr val="143A72"/>
                    </a:solidFill>
                  </a:tcPr>
                </a:tc>
                <a:tc>
                  <a:txBody>
                    <a:bodyPr/>
                    <a:lstStyle/>
                    <a:p>
                      <a:r>
                        <a:rPr sz="1200" b="1">
                          <a:solidFill>
                            <a:srgbClr val="FFFFFF"/>
                          </a:solidFill>
                        </a:rPr>
                        <a:t>Learned object</a:t>
                      </a:r>
                    </a:p>
                  </a:txBody>
                  <a:tcPr marL="91440" marR="91440" marT="45720" marB="45720">
                    <a:solidFill>
                      <a:srgbClr val="143A72"/>
                    </a:solidFill>
                  </a:tcPr>
                </a:tc>
                <a:tc>
                  <a:txBody>
                    <a:bodyPr/>
                    <a:lstStyle/>
                    <a:p>
                      <a:r>
                        <a:rPr sz="1200" b="1">
                          <a:solidFill>
                            <a:srgbClr val="FFFFFF"/>
                          </a:solidFill>
                        </a:rPr>
                        <a:t>Primary information</a:t>
                      </a:r>
                    </a:p>
                  </a:txBody>
                  <a:tcPr marL="91440" marR="91440" marT="45720" marB="45720">
                    <a:solidFill>
                      <a:srgbClr val="143A72"/>
                    </a:solidFill>
                  </a:tcPr>
                </a:tc>
                <a:tc>
                  <a:txBody>
                    <a:bodyPr/>
                    <a:lstStyle/>
                    <a:p>
                      <a:r>
                        <a:rPr sz="1200" b="1">
                          <a:solidFill>
                            <a:srgbClr val="FFFFFF"/>
                          </a:solidFill>
                        </a:rPr>
                        <a:t>Fair role</a:t>
                      </a:r>
                    </a:p>
                  </a:txBody>
                  <a:tcPr marL="91440" marR="91440" marT="45720" marB="45720">
                    <a:solidFill>
                      <a:srgbClr val="143A72"/>
                    </a:solidFill>
                  </a:tcPr>
                </a:tc>
              </a:tr>
              <a:tr h="514350">
                <a:tc>
                  <a:txBody>
                    <a:bodyPr/>
                    <a:lstStyle/>
                    <a:p>
                      <a:r>
                        <a:rPr sz="1200">
                          <a:solidFill>
                            <a:srgbClr val="000000"/>
                          </a:solidFill>
                        </a:rPr>
                        <a:t>PINN</a:t>
                      </a:r>
                    </a:p>
                  </a:txBody>
                  <a:tcPr marL="91440" marR="91440" marT="45720" marB="45720"/>
                </a:tc>
                <a:tc>
                  <a:txBody>
                    <a:bodyPr/>
                    <a:lstStyle/>
                    <a:p>
                      <a:r>
                        <a:rPr sz="1200">
                          <a:solidFill>
                            <a:srgbClr val="000000"/>
                          </a:solidFill>
                        </a:rPr>
                        <a:t>One solution</a:t>
                      </a:r>
                    </a:p>
                  </a:txBody>
                  <a:tcPr marL="91440" marR="91440" marT="45720" marB="45720"/>
                </a:tc>
                <a:tc>
                  <a:txBody>
                    <a:bodyPr/>
                    <a:lstStyle/>
                    <a:p>
                      <a:r>
                        <a:rPr sz="1200">
                          <a:solidFill>
                            <a:srgbClr val="000000"/>
                          </a:solidFill>
                        </a:rPr>
                        <a:t>Equations + sparse data</a:t>
                      </a:r>
                    </a:p>
                  </a:txBody>
                  <a:tcPr marL="91440" marR="91440" marT="45720" marB="45720"/>
                </a:tc>
                <a:tc>
                  <a:txBody>
                    <a:bodyPr/>
                    <a:lstStyle/>
                    <a:p>
                      <a:r>
                        <a:rPr sz="1200">
                          <a:solidFill>
                            <a:srgbClr val="000000"/>
                          </a:solidFill>
                        </a:rPr>
                        <a:t>Forward / inverse instance</a:t>
                      </a:r>
                    </a:p>
                  </a:txBody>
                  <a:tcPr marL="91440" marR="91440" marT="45720" marB="45720"/>
                </a:tc>
              </a:tr>
              <a:tr h="514350">
                <a:tc>
                  <a:txBody>
                    <a:bodyPr/>
                    <a:lstStyle/>
                    <a:p>
                      <a:r>
                        <a:rPr sz="1200">
                          <a:solidFill>
                            <a:srgbClr val="000000"/>
                          </a:solidFill>
                        </a:rPr>
                        <a:t>Neural operator</a:t>
                      </a:r>
                    </a:p>
                  </a:txBody>
                  <a:tcPr marL="91440" marR="91440" marT="45720" marB="45720">
                    <a:solidFill>
                      <a:srgbClr val="F6F7F8"/>
                    </a:solidFill>
                  </a:tcPr>
                </a:tc>
                <a:tc>
                  <a:txBody>
                    <a:bodyPr/>
                    <a:lstStyle/>
                    <a:p>
                      <a:r>
                        <a:rPr sz="1200">
                          <a:solidFill>
                            <a:srgbClr val="000000"/>
                          </a:solidFill>
                        </a:rPr>
                        <a:t>Solution map</a:t>
                      </a:r>
                    </a:p>
                  </a:txBody>
                  <a:tcPr marL="91440" marR="91440" marT="45720" marB="45720">
                    <a:solidFill>
                      <a:srgbClr val="F6F7F8"/>
                    </a:solidFill>
                  </a:tcPr>
                </a:tc>
                <a:tc>
                  <a:txBody>
                    <a:bodyPr/>
                    <a:lstStyle/>
                    <a:p>
                      <a:r>
                        <a:rPr sz="1200">
                          <a:solidFill>
                            <a:srgbClr val="000000"/>
                          </a:solidFill>
                        </a:rPr>
                        <a:t>Paired fields</a:t>
                      </a:r>
                    </a:p>
                  </a:txBody>
                  <a:tcPr marL="91440" marR="91440" marT="45720" marB="45720">
                    <a:solidFill>
                      <a:srgbClr val="F6F7F8"/>
                    </a:solidFill>
                  </a:tcPr>
                </a:tc>
                <a:tc>
                  <a:txBody>
                    <a:bodyPr/>
                    <a:lstStyle/>
                    <a:p>
                      <a:r>
                        <a:rPr sz="1200">
                          <a:solidFill>
                            <a:srgbClr val="000000"/>
                          </a:solidFill>
                        </a:rPr>
                        <a:t>Amortized family of solves</a:t>
                      </a:r>
                    </a:p>
                  </a:txBody>
                  <a:tcPr marL="91440" marR="91440" marT="45720" marB="45720">
                    <a:solidFill>
                      <a:srgbClr val="F6F7F8"/>
                    </a:solidFill>
                  </a:tcPr>
                </a:tc>
              </a:tr>
              <a:tr h="514350">
                <a:tc>
                  <a:txBody>
                    <a:bodyPr/>
                    <a:lstStyle/>
                    <a:p>
                      <a:r>
                        <a:rPr sz="1200">
                          <a:solidFill>
                            <a:srgbClr val="000000"/>
                          </a:solidFill>
                        </a:rPr>
                        <a:t>PINO</a:t>
                      </a:r>
                    </a:p>
                  </a:txBody>
                  <a:tcPr marL="91440" marR="91440" marT="45720" marB="45720"/>
                </a:tc>
                <a:tc>
                  <a:txBody>
                    <a:bodyPr/>
                    <a:lstStyle/>
                    <a:p>
                      <a:r>
                        <a:rPr sz="1200">
                          <a:solidFill>
                            <a:srgbClr val="000000"/>
                          </a:solidFill>
                        </a:rPr>
                        <a:t>Solution map</a:t>
                      </a:r>
                    </a:p>
                  </a:txBody>
                  <a:tcPr marL="91440" marR="91440" marT="45720" marB="45720"/>
                </a:tc>
                <a:tc>
                  <a:txBody>
                    <a:bodyPr/>
                    <a:lstStyle/>
                    <a:p>
                      <a:r>
                        <a:rPr sz="1200">
                          <a:solidFill>
                            <a:srgbClr val="000000"/>
                          </a:solidFill>
                        </a:rPr>
                        <a:t>Paired fields + residuals</a:t>
                      </a:r>
                    </a:p>
                  </a:txBody>
                  <a:tcPr marL="91440" marR="91440" marT="45720" marB="45720"/>
                </a:tc>
                <a:tc>
                  <a:txBody>
                    <a:bodyPr/>
                    <a:lstStyle/>
                    <a:p>
                      <a:r>
                        <a:rPr sz="1200">
                          <a:solidFill>
                            <a:srgbClr val="000000"/>
                          </a:solidFill>
                        </a:rPr>
                        <a:t>Data + equation-informed operator</a:t>
                      </a:r>
                    </a:p>
                  </a:txBody>
                  <a:tcPr marL="91440" marR="91440" marT="45720" marB="45720"/>
                </a:tc>
              </a:tr>
              <a:tr h="514350">
                <a:tc>
                  <a:txBody>
                    <a:bodyPr/>
                    <a:lstStyle/>
                    <a:p>
                      <a:r>
                        <a:rPr sz="1200">
                          <a:solidFill>
                            <a:srgbClr val="000000"/>
                          </a:solidFill>
                        </a:rPr>
                        <a:t>Interaction kernel</a:t>
                      </a:r>
                    </a:p>
                  </a:txBody>
                  <a:tcPr marL="91440" marR="91440" marT="45720" marB="45720">
                    <a:solidFill>
                      <a:srgbClr val="F6F7F8"/>
                    </a:solidFill>
                  </a:tcPr>
                </a:tc>
                <a:tc>
                  <a:txBody>
                    <a:bodyPr/>
                    <a:lstStyle/>
                    <a:p>
                      <a:r>
                        <a:rPr sz="1200">
                          <a:solidFill>
                            <a:srgbClr val="000000"/>
                          </a:solidFill>
                        </a:rPr>
                        <a:t>Effective force</a:t>
                      </a:r>
                    </a:p>
                  </a:txBody>
                  <a:tcPr marL="91440" marR="91440" marT="45720" marB="45720">
                    <a:solidFill>
                      <a:srgbClr val="F6F7F8"/>
                    </a:solidFill>
                  </a:tcPr>
                </a:tc>
                <a:tc>
                  <a:txBody>
                    <a:bodyPr/>
                    <a:lstStyle/>
                    <a:p>
                      <a:r>
                        <a:rPr sz="1200">
                          <a:solidFill>
                            <a:srgbClr val="000000"/>
                          </a:solidFill>
                        </a:rPr>
                        <a:t>Particle trajectories</a:t>
                      </a:r>
                    </a:p>
                  </a:txBody>
                  <a:tcPr marL="91440" marR="91440" marT="45720" marB="45720">
                    <a:solidFill>
                      <a:srgbClr val="F6F7F8"/>
                    </a:solidFill>
                  </a:tcPr>
                </a:tc>
                <a:tc>
                  <a:txBody>
                    <a:bodyPr/>
                    <a:lstStyle/>
                    <a:p>
                      <a:r>
                        <a:rPr sz="1200">
                          <a:solidFill>
                            <a:srgbClr val="000000"/>
                          </a:solidFill>
                        </a:rPr>
                        <a:t>Interpretable particle closure</a:t>
                      </a:r>
                    </a:p>
                  </a:txBody>
                  <a:tcPr marL="91440" marR="91440" marT="45720" marB="45720">
                    <a:solidFill>
                      <a:srgbClr val="F6F7F8"/>
                    </a:solidFill>
                  </a:tcPr>
                </a:tc>
              </a:tr>
              <a:tr h="514350">
                <a:tc>
                  <a:txBody>
                    <a:bodyPr/>
                    <a:lstStyle/>
                    <a:p>
                      <a:r>
                        <a:rPr sz="1200">
                          <a:solidFill>
                            <a:srgbClr val="000000"/>
                          </a:solidFill>
                        </a:rPr>
                        <a:t>Graph simulator</a:t>
                      </a:r>
                    </a:p>
                  </a:txBody>
                  <a:tcPr marL="91440" marR="91440" marT="45720" marB="45720"/>
                </a:tc>
                <a:tc>
                  <a:txBody>
                    <a:bodyPr/>
                    <a:lstStyle/>
                    <a:p>
                      <a:r>
                        <a:rPr sz="1200">
                          <a:solidFill>
                            <a:srgbClr val="000000"/>
                          </a:solidFill>
                        </a:rPr>
                        <a:t>Vector field / step map</a:t>
                      </a:r>
                    </a:p>
                  </a:txBody>
                  <a:tcPr marL="91440" marR="91440" marT="45720" marB="45720"/>
                </a:tc>
                <a:tc>
                  <a:txBody>
                    <a:bodyPr/>
                    <a:lstStyle/>
                    <a:p>
                      <a:r>
                        <a:rPr sz="1200">
                          <a:solidFill>
                            <a:srgbClr val="000000"/>
                          </a:solidFill>
                        </a:rPr>
                        <a:t>Trajectories + context</a:t>
                      </a:r>
                    </a:p>
                  </a:txBody>
                  <a:tcPr marL="91440" marR="91440" marT="45720" marB="45720"/>
                </a:tc>
                <a:tc>
                  <a:txBody>
                    <a:bodyPr/>
                    <a:lstStyle/>
                    <a:p>
                      <a:r>
                        <a:rPr sz="1200">
                          <a:solidFill>
                            <a:srgbClr val="000000"/>
                          </a:solidFill>
                        </a:rPr>
                        <a:t>Many-particle dynamics</a:t>
                      </a:r>
                    </a:p>
                  </a:txBody>
                  <a:tcPr marL="91440" marR="91440" marT="45720" marB="45720"/>
                </a:tc>
              </a:tr>
              <a:tr h="514350">
                <a:tc>
                  <a:txBody>
                    <a:bodyPr/>
                    <a:lstStyle/>
                    <a:p>
                      <a:r>
                        <a:rPr sz="1200">
                          <a:solidFill>
                            <a:srgbClr val="000000"/>
                          </a:solidFill>
                        </a:rPr>
                        <a:t>Learned closure</a:t>
                      </a:r>
                    </a:p>
                  </a:txBody>
                  <a:tcPr marL="91440" marR="91440" marT="45720" marB="45720">
                    <a:solidFill>
                      <a:srgbClr val="F6F7F8"/>
                    </a:solidFill>
                  </a:tcPr>
                </a:tc>
                <a:tc>
                  <a:txBody>
                    <a:bodyPr/>
                    <a:lstStyle/>
                    <a:p>
                      <a:r>
                        <a:rPr sz="1200">
                          <a:solidFill>
                            <a:srgbClr val="000000"/>
                          </a:solidFill>
                        </a:rPr>
                        <a:t>Identified residual</a:t>
                      </a:r>
                    </a:p>
                  </a:txBody>
                  <a:tcPr marL="91440" marR="91440" marT="45720" marB="45720">
                    <a:solidFill>
                      <a:srgbClr val="F6F7F8"/>
                    </a:solidFill>
                  </a:tcPr>
                </a:tc>
                <a:tc>
                  <a:txBody>
                    <a:bodyPr/>
                    <a:lstStyle/>
                    <a:p>
                      <a:r>
                        <a:rPr sz="1200">
                          <a:solidFill>
                            <a:srgbClr val="000000"/>
                          </a:solidFill>
                        </a:rPr>
                        <a:t>Closure targets / indirect loss</a:t>
                      </a:r>
                    </a:p>
                  </a:txBody>
                  <a:tcPr marL="91440" marR="91440" marT="45720" marB="45720">
                    <a:solidFill>
                      <a:srgbClr val="F6F7F8"/>
                    </a:solidFill>
                  </a:tcPr>
                </a:tc>
                <a:tc>
                  <a:txBody>
                    <a:bodyPr/>
                    <a:lstStyle/>
                    <a:p>
                      <a:r>
                        <a:rPr sz="1200">
                          <a:solidFill>
                            <a:srgbClr val="000000"/>
                          </a:solidFill>
                        </a:rPr>
                        <a:t>Embedded reduced solver</a:t>
                      </a:r>
                    </a:p>
                  </a:txBody>
                  <a:tcPr marL="91440" marR="91440" marT="45720" marB="45720">
                    <a:solidFill>
                      <a:srgbClr val="F6F7F8"/>
                    </a:solidFill>
                  </a:tcPr>
                </a:tc>
              </a:tr>
              <a:tr h="514350">
                <a:tc>
                  <a:txBody>
                    <a:bodyPr/>
                    <a:lstStyle/>
                    <a:p>
                      <a:r>
                        <a:rPr sz="1200">
                          <a:solidFill>
                            <a:srgbClr val="000000"/>
                          </a:solidFill>
                        </a:rPr>
                        <a:t>Structured dynamics</a:t>
                      </a:r>
                    </a:p>
                  </a:txBody>
                  <a:tcPr marL="91440" marR="91440" marT="45720" marB="45720"/>
                </a:tc>
                <a:tc>
                  <a:txBody>
                    <a:bodyPr/>
                    <a:lstStyle/>
                    <a:p>
                      <a:r>
                        <a:rPr sz="1200">
                          <a:solidFill>
                            <a:srgbClr val="000000"/>
                          </a:solidFill>
                        </a:rPr>
                        <a:t>Vector field / flow map</a:t>
                      </a:r>
                    </a:p>
                  </a:txBody>
                  <a:tcPr marL="91440" marR="91440" marT="45720" marB="45720"/>
                </a:tc>
                <a:tc>
                  <a:txBody>
                    <a:bodyPr/>
                    <a:lstStyle/>
                    <a:p>
                      <a:r>
                        <a:rPr sz="1200">
                          <a:solidFill>
                            <a:srgbClr val="000000"/>
                          </a:solidFill>
                        </a:rPr>
                        <a:t>Trajectories + hard structure</a:t>
                      </a:r>
                    </a:p>
                  </a:txBody>
                  <a:tcPr marL="91440" marR="91440" marT="45720" marB="45720"/>
                </a:tc>
                <a:tc>
                  <a:txBody>
                    <a:bodyPr/>
                    <a:lstStyle/>
                    <a:p>
                      <a:r>
                        <a:rPr sz="1200">
                          <a:solidFill>
                            <a:srgbClr val="000000"/>
                          </a:solidFill>
                        </a:rPr>
                        <a:t>Stable recursive rollout</a:t>
                      </a:r>
                    </a:p>
                  </a:txBody>
                  <a:tcPr marL="91440" marR="91440" marT="45720" marB="45720"/>
                </a:tc>
              </a:tr>
              <a:tr h="514350">
                <a:tc>
                  <a:txBody>
                    <a:bodyPr/>
                    <a:lstStyle/>
                    <a:p>
                      <a:r>
                        <a:rPr sz="1200">
                          <a:solidFill>
                            <a:srgbClr val="000000"/>
                          </a:solidFill>
                        </a:rPr>
                        <a:t>World model</a:t>
                      </a:r>
                    </a:p>
                  </a:txBody>
                  <a:tcPr marL="91440" marR="91440" marT="45720" marB="45720">
                    <a:solidFill>
                      <a:srgbClr val="F6F7F8"/>
                    </a:solidFill>
                  </a:tcPr>
                </a:tc>
                <a:tc>
                  <a:txBody>
                    <a:bodyPr/>
                    <a:lstStyle/>
                    <a:p>
                      <a:r>
                        <a:rPr sz="1200">
                          <a:solidFill>
                            <a:srgbClr val="000000"/>
                          </a:solidFill>
                        </a:rPr>
                        <a:t>Action-conditioned transition</a:t>
                      </a:r>
                    </a:p>
                  </a:txBody>
                  <a:tcPr marL="91440" marR="91440" marT="45720" marB="45720">
                    <a:solidFill>
                      <a:srgbClr val="F6F7F8"/>
                    </a:solidFill>
                  </a:tcPr>
                </a:tc>
                <a:tc>
                  <a:txBody>
                    <a:bodyPr/>
                    <a:lstStyle/>
                    <a:p>
                      <a:r>
                        <a:rPr sz="1200">
                          <a:solidFill>
                            <a:srgbClr val="000000"/>
                          </a:solidFill>
                        </a:rPr>
                        <a:t>Controlled trajectories</a:t>
                      </a:r>
                    </a:p>
                  </a:txBody>
                  <a:tcPr marL="91440" marR="91440" marT="45720" marB="45720">
                    <a:solidFill>
                      <a:srgbClr val="F6F7F8"/>
                    </a:solidFill>
                  </a:tcPr>
                </a:tc>
                <a:tc>
                  <a:txBody>
                    <a:bodyPr/>
                    <a:lstStyle/>
                    <a:p>
                      <a:r>
                        <a:rPr sz="1200">
                          <a:solidFill>
                            <a:srgbClr val="000000"/>
                          </a:solidFill>
                        </a:rPr>
                        <a:t>Planning / counterfactuals</a:t>
                      </a:r>
                    </a:p>
                  </a:txBody>
                  <a:tcPr marL="91440" marR="91440" marT="45720" marB="45720">
                    <a:solidFill>
                      <a:srgbClr val="F6F7F8"/>
                    </a:solidFill>
                  </a:tcPr>
                </a:tc>
              </a:tr>
            </a:tbl>
          </a:graphicData>
        </a:graphic>
      </p:graphicFrame>
    </p:spTree>
    <p:extLst>
      <p:ext uri="{BB962C8B-B14F-4D97-AF65-F5344CB8AC3E}">
        <p14:creationId xmlns:p14="http://schemas.microsoft.com/office/powerpoint/2010/main" val="206979433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1706C70-54C2-43B1-9C34-0ABD41A88395}"/>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E19F2236-969B-4237-8E1A-3E50A0985A12}"/>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The harness separates science from scaffolding</a:t>
            </a:r>
          </a:p>
        </p:txBody>
      </p:sp>
      <p:cxnSp>
        <p:nvCxnSpPr>
          <p:cNvPr id="40"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1AD079FF-7F24-4FD5-BDB6-B91F96FC9F59}"/>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19</a:t>
            </a:r>
          </a:p>
        </p:txBody>
      </p:sp>
      <p:cxnSp>
        <p:nvCxnSpPr>
          <p:cNvPr id="42" name=""/>
          <p:cNvCxnSpPr/>
          <p:nvPr/>
        </p:nvCxnSpPr>
        <p:spPr>
          <a:xfrm xmlns:a="http://schemas.openxmlformats.org/drawingml/2006/main">
            <a:off x="809625" y="2847975"/>
            <a:ext cx="10144125" cy="953"/>
          </a:xfrm>
          <a:prstGeom xmlns:a="http://schemas.openxmlformats.org/drawingml/2006/main" prst="straightConnector1">
            <a:avLst/>
          </a:prstGeom>
          <a:ln xmlns:a="http://schemas.openxmlformats.org/drawingml/2006/main" w="19050">
            <a:solidFill>
              <a:srgbClr val="000000"/>
            </a:solidFill>
            <a:prstDash val="solid"/>
          </a:ln>
        </p:spPr>
      </p:cxnSp>
      <p:sp>
        <p:nvSpPr>
          <p:cNvPr id="6" name="">
            <a:extLst xmlns:a="http://schemas.openxmlformats.org/drawingml/2006/main">
              <a:ext uri="{FF2B5EF4-FFF2-40B4-BE49-F238E27FC236}">
                <a16:creationId xmlns:a16="http://schemas.microsoft.com/office/drawing/2014/main" id="{EFE7E23E-9F8C-48AE-A987-0D950B40B47D}"/>
              </a:ext>
            </a:extLst>
          </p:cNvPr>
          <p:cNvSpPr>
            <a:spLocks xmlns:a="http://schemas.openxmlformats.org/drawingml/2006/main" noGrp="1"/>
          </p:cNvSpPr>
          <p:nvPr/>
        </p:nvSpPr>
        <p:spPr>
          <a:xfrm xmlns:a="http://schemas.openxmlformats.org/drawingml/2006/main">
            <a:off x="809625" y="2695575"/>
            <a:ext cx="304800" cy="304800"/>
          </a:xfrm>
          <a:prstGeom xmlns:a="http://schemas.openxmlformats.org/drawingml/2006/main" prst="ellipse">
            <a:avLst/>
          </a:prstGeom>
          <a:solidFill xmlns:a="http://schemas.openxmlformats.org/drawingml/2006/main">
            <a:srgbClr val="3D8DFF"/>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FCB3EBBA-FBF5-4671-844B-9BD30ACC1684}"/>
              </a:ext>
            </a:extLst>
          </p:cNvPr>
          <p:cNvSpPr>
            <a:spLocks xmlns:a="http://schemas.openxmlformats.org/drawingml/2006/main" noGrp="1"/>
          </p:cNvSpPr>
          <p:nvPr/>
        </p:nvSpPr>
        <p:spPr>
          <a:xfrm xmlns:a="http://schemas.openxmlformats.org/drawingml/2006/main">
            <a:off x="771525" y="22955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1C856314-1A40-4A07-955A-3B8503C9265F}"/>
              </a:ext>
            </a:extLst>
          </p:cNvPr>
          <p:cNvSpPr>
            <a:spLocks xmlns:a="http://schemas.openxmlformats.org/drawingml/2006/main" noGrp="1"/>
          </p:cNvSpPr>
          <p:nvPr/>
        </p:nvSpPr>
        <p:spPr>
          <a:xfrm xmlns:a="http://schemas.openxmlformats.org/drawingml/2006/main">
            <a:off x="771525" y="3314700"/>
            <a:ext cx="1866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buNone/>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Versioned problems</a:t>
            </a:r>
          </a:p>
        </p:txBody>
      </p:sp>
      <p:sp>
        <p:nvSpPr>
          <p:cNvPr id="9" name="">
            <a:extLst xmlns:a="http://schemas.openxmlformats.org/drawingml/2006/main">
              <a:ext uri="{FF2B5EF4-FFF2-40B4-BE49-F238E27FC236}">
                <a16:creationId xmlns:a16="http://schemas.microsoft.com/office/drawing/2014/main" id="{08DAED7B-064B-4E35-8135-0EF145534D14}"/>
              </a:ext>
            </a:extLst>
          </p:cNvPr>
          <p:cNvSpPr>
            <a:spLocks xmlns:a="http://schemas.openxmlformats.org/drawingml/2006/main" noGrp="1"/>
          </p:cNvSpPr>
          <p:nvPr/>
        </p:nvSpPr>
        <p:spPr>
          <a:xfrm xmlns:a="http://schemas.openxmlformats.org/drawingml/2006/main">
            <a:off x="771525" y="4114800"/>
            <a:ext cx="190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5B6472"/>
                </a:solidFill>
                <a:latin typeface="Helvetica Neue"/>
                <a:ea typeface="Helvetica Neue"/>
                <a:cs typeface="Helvetica Neue"/>
              </a:defRPr>
            </a:pPr>
            <a:r>
              <a:rPr sz="1425" b="0" i="0">
                <a:solidFill>
                  <a:srgbClr val="5B6472"/>
                </a:solidFill>
                <a:latin typeface="Helvetica Neue"/>
                <a:ea typeface="Helvetica Neue"/>
                <a:cs typeface="Helvetica Neue"/>
              </a:rPr>
              <a:t>regimes · splits · manifests</a:t>
            </a:r>
          </a:p>
        </p:txBody>
      </p:sp>
      <p:sp>
        <p:nvSpPr>
          <p:cNvPr id="10" name="">
            <a:extLst xmlns:a="http://schemas.openxmlformats.org/drawingml/2006/main">
              <a:ext uri="{FF2B5EF4-FFF2-40B4-BE49-F238E27FC236}">
                <a16:creationId xmlns:a16="http://schemas.microsoft.com/office/drawing/2014/main" id="{DBEF5F5B-9C17-46F0-91AC-18B60D36039B}"/>
              </a:ext>
            </a:extLst>
          </p:cNvPr>
          <p:cNvSpPr>
            <a:spLocks xmlns:a="http://schemas.openxmlformats.org/drawingml/2006/main" noGrp="1"/>
          </p:cNvSpPr>
          <p:nvPr/>
        </p:nvSpPr>
        <p:spPr>
          <a:xfrm xmlns:a="http://schemas.openxmlformats.org/drawingml/2006/main">
            <a:off x="2981325" y="2695575"/>
            <a:ext cx="304800" cy="304800"/>
          </a:xfrm>
          <a:prstGeom xmlns:a="http://schemas.openxmlformats.org/drawingml/2006/main" prst="ellipse">
            <a:avLst/>
          </a:prstGeom>
          <a:solidFill xmlns:a="http://schemas.openxmlformats.org/drawingml/2006/main">
            <a:srgbClr val="3D8DFF"/>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1DF14CCD-06E2-4DA3-A2BD-3E514060E115}"/>
              </a:ext>
            </a:extLst>
          </p:cNvPr>
          <p:cNvSpPr>
            <a:spLocks xmlns:a="http://schemas.openxmlformats.org/drawingml/2006/main" noGrp="1"/>
          </p:cNvSpPr>
          <p:nvPr/>
        </p:nvSpPr>
        <p:spPr>
          <a:xfrm xmlns:a="http://schemas.openxmlformats.org/drawingml/2006/main">
            <a:off x="2943225" y="22955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57C8FC24-D550-4F61-8F98-59214953EFB7}"/>
              </a:ext>
            </a:extLst>
          </p:cNvPr>
          <p:cNvSpPr>
            <a:spLocks xmlns:a="http://schemas.openxmlformats.org/drawingml/2006/main" noGrp="1"/>
          </p:cNvSpPr>
          <p:nvPr/>
        </p:nvSpPr>
        <p:spPr>
          <a:xfrm xmlns:a="http://schemas.openxmlformats.org/drawingml/2006/main">
            <a:off x="2943225" y="3314700"/>
            <a:ext cx="1866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buNone/>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Common interface</a:t>
            </a:r>
          </a:p>
        </p:txBody>
      </p:sp>
      <p:sp>
        <p:nvSpPr>
          <p:cNvPr id="13" name="">
            <a:extLst xmlns:a="http://schemas.openxmlformats.org/drawingml/2006/main">
              <a:ext uri="{FF2B5EF4-FFF2-40B4-BE49-F238E27FC236}">
                <a16:creationId xmlns:a16="http://schemas.microsoft.com/office/drawing/2014/main" id="{995DEE2C-E853-4B2D-B2B1-2A9668CDCDA1}"/>
              </a:ext>
            </a:extLst>
          </p:cNvPr>
          <p:cNvSpPr>
            <a:spLocks xmlns:a="http://schemas.openxmlformats.org/drawingml/2006/main" noGrp="1"/>
          </p:cNvSpPr>
          <p:nvPr/>
        </p:nvSpPr>
        <p:spPr>
          <a:xfrm xmlns:a="http://schemas.openxmlformats.org/drawingml/2006/main">
            <a:off x="2943225" y="4114800"/>
            <a:ext cx="190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5B6472"/>
                </a:solidFill>
                <a:latin typeface="Helvetica Neue"/>
                <a:ea typeface="Helvetica Neue"/>
                <a:cs typeface="Helvetica Neue"/>
              </a:defRPr>
            </a:pPr>
            <a:r>
              <a:rPr sz="1425" b="0" i="0">
                <a:solidFill>
                  <a:srgbClr val="5B6472"/>
                </a:solidFill>
                <a:latin typeface="Helvetica Neue"/>
                <a:ea typeface="Helvetica Neue"/>
                <a:cs typeface="Helvetica Neue"/>
              </a:rPr>
              <a:t>analytic · learned · hybrid</a:t>
            </a:r>
          </a:p>
        </p:txBody>
      </p:sp>
      <p:sp>
        <p:nvSpPr>
          <p:cNvPr id="14" name="">
            <a:extLst xmlns:a="http://schemas.openxmlformats.org/drawingml/2006/main">
              <a:ext uri="{FF2B5EF4-FFF2-40B4-BE49-F238E27FC236}">
                <a16:creationId xmlns:a16="http://schemas.microsoft.com/office/drawing/2014/main" id="{BE40ED4D-81D7-411F-AA5B-59530FED2640}"/>
              </a:ext>
            </a:extLst>
          </p:cNvPr>
          <p:cNvSpPr>
            <a:spLocks xmlns:a="http://schemas.openxmlformats.org/drawingml/2006/main" noGrp="1"/>
          </p:cNvSpPr>
          <p:nvPr/>
        </p:nvSpPr>
        <p:spPr>
          <a:xfrm xmlns:a="http://schemas.openxmlformats.org/drawingml/2006/main">
            <a:off x="5153025" y="2695575"/>
            <a:ext cx="304800" cy="304800"/>
          </a:xfrm>
          <a:prstGeom xmlns:a="http://schemas.openxmlformats.org/drawingml/2006/main" prst="ellipse">
            <a:avLst/>
          </a:prstGeom>
          <a:solidFill xmlns:a="http://schemas.openxmlformats.org/drawingml/2006/main">
            <a:srgbClr val="18AEB5"/>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A9C404DB-0983-4DB4-A34D-1724A4D09C55}"/>
              </a:ext>
            </a:extLst>
          </p:cNvPr>
          <p:cNvSpPr>
            <a:spLocks xmlns:a="http://schemas.openxmlformats.org/drawingml/2006/main" noGrp="1"/>
          </p:cNvSpPr>
          <p:nvPr/>
        </p:nvSpPr>
        <p:spPr>
          <a:xfrm xmlns:a="http://schemas.openxmlformats.org/drawingml/2006/main">
            <a:off x="5114925" y="22955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EE92779B-3A83-4E71-A740-6E84E0735D6D}"/>
              </a:ext>
            </a:extLst>
          </p:cNvPr>
          <p:cNvSpPr>
            <a:spLocks xmlns:a="http://schemas.openxmlformats.org/drawingml/2006/main" noGrp="1"/>
          </p:cNvSpPr>
          <p:nvPr/>
        </p:nvSpPr>
        <p:spPr>
          <a:xfrm xmlns:a="http://schemas.openxmlformats.org/drawingml/2006/main">
            <a:off x="5114925" y="3314700"/>
            <a:ext cx="1866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buNone/>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Solver embedding</a:t>
            </a:r>
          </a:p>
        </p:txBody>
      </p:sp>
      <p:sp>
        <p:nvSpPr>
          <p:cNvPr id="17" name="">
            <a:extLst xmlns:a="http://schemas.openxmlformats.org/drawingml/2006/main">
              <a:ext uri="{FF2B5EF4-FFF2-40B4-BE49-F238E27FC236}">
                <a16:creationId xmlns:a16="http://schemas.microsoft.com/office/drawing/2014/main" id="{13EA0330-638C-4FC6-99DA-41F9E0D39130}"/>
              </a:ext>
            </a:extLst>
          </p:cNvPr>
          <p:cNvSpPr>
            <a:spLocks xmlns:a="http://schemas.openxmlformats.org/drawingml/2006/main" noGrp="1"/>
          </p:cNvSpPr>
          <p:nvPr/>
        </p:nvSpPr>
        <p:spPr>
          <a:xfrm xmlns:a="http://schemas.openxmlformats.org/drawingml/2006/main">
            <a:off x="5114925" y="4114800"/>
            <a:ext cx="190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5B6472"/>
                </a:solidFill>
                <a:latin typeface="Helvetica Neue"/>
                <a:ea typeface="Helvetica Neue"/>
                <a:cs typeface="Helvetica Neue"/>
              </a:defRPr>
            </a:pPr>
            <a:r>
              <a:rPr sz="1425" b="0" i="0">
                <a:solidFill>
                  <a:srgbClr val="5B6472"/>
                </a:solidFill>
                <a:latin typeface="Helvetica Neue"/>
                <a:ea typeface="Helvetica Neue"/>
                <a:cs typeface="Helvetica Neue"/>
              </a:rPr>
              <a:t>a priori + a posteriori</a:t>
            </a:r>
          </a:p>
        </p:txBody>
      </p:sp>
      <p:sp>
        <p:nvSpPr>
          <p:cNvPr id="18" name="">
            <a:extLst xmlns:a="http://schemas.openxmlformats.org/drawingml/2006/main">
              <a:ext uri="{FF2B5EF4-FFF2-40B4-BE49-F238E27FC236}">
                <a16:creationId xmlns:a16="http://schemas.microsoft.com/office/drawing/2014/main" id="{8A8CC3CA-1003-4F98-9089-31EB2738552E}"/>
              </a:ext>
            </a:extLst>
          </p:cNvPr>
          <p:cNvSpPr>
            <a:spLocks xmlns:a="http://schemas.openxmlformats.org/drawingml/2006/main" noGrp="1"/>
          </p:cNvSpPr>
          <p:nvPr/>
        </p:nvSpPr>
        <p:spPr>
          <a:xfrm xmlns:a="http://schemas.openxmlformats.org/drawingml/2006/main">
            <a:off x="7324725" y="2695575"/>
            <a:ext cx="304800" cy="304800"/>
          </a:xfrm>
          <a:prstGeom xmlns:a="http://schemas.openxmlformats.org/drawingml/2006/main" prst="ellipse">
            <a:avLst/>
          </a:prstGeom>
          <a:solidFill xmlns:a="http://schemas.openxmlformats.org/drawingml/2006/main">
            <a:srgbClr val="3D8DFF"/>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3398937B-B074-4277-B279-C47DCD1659FA}"/>
              </a:ext>
            </a:extLst>
          </p:cNvPr>
          <p:cNvSpPr>
            <a:spLocks xmlns:a="http://schemas.openxmlformats.org/drawingml/2006/main" noGrp="1"/>
          </p:cNvSpPr>
          <p:nvPr/>
        </p:nvSpPr>
        <p:spPr>
          <a:xfrm xmlns:a="http://schemas.openxmlformats.org/drawingml/2006/main">
            <a:off x="7286625" y="22955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04</a:t>
            </a:r>
          </a:p>
        </p:txBody>
      </p:sp>
      <p:sp>
        <p:nvSpPr>
          <p:cNvPr id="20" name="">
            <a:extLst xmlns:a="http://schemas.openxmlformats.org/drawingml/2006/main">
              <a:ext uri="{FF2B5EF4-FFF2-40B4-BE49-F238E27FC236}">
                <a16:creationId xmlns:a16="http://schemas.microsoft.com/office/drawing/2014/main" id="{DBC91875-921D-47F8-868B-C910D3EF20E8}"/>
              </a:ext>
            </a:extLst>
          </p:cNvPr>
          <p:cNvSpPr>
            <a:spLocks xmlns:a="http://schemas.openxmlformats.org/drawingml/2006/main" noGrp="1"/>
          </p:cNvSpPr>
          <p:nvPr/>
        </p:nvSpPr>
        <p:spPr>
          <a:xfrm xmlns:a="http://schemas.openxmlformats.org/drawingml/2006/main">
            <a:off x="7286625" y="3314700"/>
            <a:ext cx="1866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buNone/>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Shared scorecards</a:t>
            </a:r>
          </a:p>
        </p:txBody>
      </p:sp>
      <p:sp>
        <p:nvSpPr>
          <p:cNvPr id="21" name="">
            <a:extLst xmlns:a="http://schemas.openxmlformats.org/drawingml/2006/main">
              <a:ext uri="{FF2B5EF4-FFF2-40B4-BE49-F238E27FC236}">
                <a16:creationId xmlns:a16="http://schemas.microsoft.com/office/drawing/2014/main" id="{2E675493-A153-4DB6-BA00-F44B72C63FAC}"/>
              </a:ext>
            </a:extLst>
          </p:cNvPr>
          <p:cNvSpPr>
            <a:spLocks xmlns:a="http://schemas.openxmlformats.org/drawingml/2006/main" noGrp="1"/>
          </p:cNvSpPr>
          <p:nvPr/>
        </p:nvSpPr>
        <p:spPr>
          <a:xfrm xmlns:a="http://schemas.openxmlformats.org/drawingml/2006/main">
            <a:off x="7286625" y="4114800"/>
            <a:ext cx="190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5B6472"/>
                </a:solidFill>
                <a:latin typeface="Helvetica Neue"/>
                <a:ea typeface="Helvetica Neue"/>
                <a:cs typeface="Helvetica Neue"/>
              </a:defRPr>
            </a:pPr>
            <a:r>
              <a:rPr sz="1425" b="0" i="0">
                <a:solidFill>
                  <a:srgbClr val="5B6472"/>
                </a:solidFill>
                <a:latin typeface="Helvetica Neue"/>
                <a:ea typeface="Helvetica Neue"/>
                <a:cs typeface="Helvetica Neue"/>
              </a:rPr>
              <a:t>accuracy · validity · cost</a:t>
            </a:r>
          </a:p>
        </p:txBody>
      </p:sp>
      <p:sp>
        <p:nvSpPr>
          <p:cNvPr id="22" name="">
            <a:extLst xmlns:a="http://schemas.openxmlformats.org/drawingml/2006/main">
              <a:ext uri="{FF2B5EF4-FFF2-40B4-BE49-F238E27FC236}">
                <a16:creationId xmlns:a16="http://schemas.microsoft.com/office/drawing/2014/main" id="{8807787E-0646-45A1-AB26-CA27B67747B0}"/>
              </a:ext>
            </a:extLst>
          </p:cNvPr>
          <p:cNvSpPr>
            <a:spLocks xmlns:a="http://schemas.openxmlformats.org/drawingml/2006/main" noGrp="1"/>
          </p:cNvSpPr>
          <p:nvPr/>
        </p:nvSpPr>
        <p:spPr>
          <a:xfrm xmlns:a="http://schemas.openxmlformats.org/drawingml/2006/main">
            <a:off x="9496425" y="2695575"/>
            <a:ext cx="304800" cy="304800"/>
          </a:xfrm>
          <a:prstGeom xmlns:a="http://schemas.openxmlformats.org/drawingml/2006/main" prst="ellipse">
            <a:avLst/>
          </a:prstGeom>
          <a:solidFill xmlns:a="http://schemas.openxmlformats.org/drawingml/2006/main">
            <a:srgbClr val="3D8DFF"/>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CDE9996E-BD19-43BB-8FC0-2C09E6168C56}"/>
              </a:ext>
            </a:extLst>
          </p:cNvPr>
          <p:cNvSpPr>
            <a:spLocks xmlns:a="http://schemas.openxmlformats.org/drawingml/2006/main" noGrp="1"/>
          </p:cNvSpPr>
          <p:nvPr/>
        </p:nvSpPr>
        <p:spPr>
          <a:xfrm xmlns:a="http://schemas.openxmlformats.org/drawingml/2006/main">
            <a:off x="9458325" y="2295525"/>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05</a:t>
            </a:r>
          </a:p>
        </p:txBody>
      </p:sp>
      <p:sp>
        <p:nvSpPr>
          <p:cNvPr id="24" name="">
            <a:extLst xmlns:a="http://schemas.openxmlformats.org/drawingml/2006/main">
              <a:ext uri="{FF2B5EF4-FFF2-40B4-BE49-F238E27FC236}">
                <a16:creationId xmlns:a16="http://schemas.microsoft.com/office/drawing/2014/main" id="{778A7B00-8847-4F02-B179-EAEB49A3F9B3}"/>
              </a:ext>
            </a:extLst>
          </p:cNvPr>
          <p:cNvSpPr>
            <a:spLocks xmlns:a="http://schemas.openxmlformats.org/drawingml/2006/main" noGrp="1"/>
          </p:cNvSpPr>
          <p:nvPr/>
        </p:nvSpPr>
        <p:spPr>
          <a:xfrm xmlns:a="http://schemas.openxmlformats.org/drawingml/2006/main">
            <a:off x="9458325" y="3314700"/>
            <a:ext cx="1866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buNone/>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Reproducible report</a:t>
            </a:r>
          </a:p>
        </p:txBody>
      </p:sp>
      <p:sp>
        <p:nvSpPr>
          <p:cNvPr id="25" name="">
            <a:extLst xmlns:a="http://schemas.openxmlformats.org/drawingml/2006/main">
              <a:ext uri="{FF2B5EF4-FFF2-40B4-BE49-F238E27FC236}">
                <a16:creationId xmlns:a16="http://schemas.microsoft.com/office/drawing/2014/main" id="{CB28087D-E44D-4445-8DE3-7FB9F6B52C21}"/>
              </a:ext>
            </a:extLst>
          </p:cNvPr>
          <p:cNvSpPr>
            <a:spLocks xmlns:a="http://schemas.openxmlformats.org/drawingml/2006/main" noGrp="1"/>
          </p:cNvSpPr>
          <p:nvPr/>
        </p:nvSpPr>
        <p:spPr>
          <a:xfrm xmlns:a="http://schemas.openxmlformats.org/drawingml/2006/main">
            <a:off x="9458325" y="4114800"/>
            <a:ext cx="190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5B6472"/>
                </a:solidFill>
                <a:latin typeface="Helvetica Neue"/>
                <a:ea typeface="Helvetica Neue"/>
                <a:cs typeface="Helvetica Neue"/>
              </a:defRPr>
            </a:pPr>
            <a:r>
              <a:rPr sz="1425" b="0" i="0">
                <a:solidFill>
                  <a:srgbClr val="5B6472"/>
                </a:solidFill>
                <a:latin typeface="Helvetica Neue"/>
                <a:ea typeface="Helvetica Neue"/>
                <a:cs typeface="Helvetica Neue"/>
              </a:rPr>
              <a:t>metrics → figures → claims</a:t>
            </a:r>
          </a:p>
        </p:txBody>
      </p:sp>
      <p:sp>
        <p:nvSpPr>
          <p:cNvPr id="26" name="">
            <a:extLst xmlns:a="http://schemas.openxmlformats.org/drawingml/2006/main">
              <a:ext uri="{FF2B5EF4-FFF2-40B4-BE49-F238E27FC236}">
                <a16:creationId xmlns:a16="http://schemas.microsoft.com/office/drawing/2014/main" id="{F0AFA62A-3E38-42AA-AD92-41207129B4C3}"/>
              </a:ext>
            </a:extLst>
          </p:cNvPr>
          <p:cNvSpPr>
            <a:spLocks xmlns:a="http://schemas.openxmlformats.org/drawingml/2006/main" noGrp="1"/>
          </p:cNvSpPr>
          <p:nvPr/>
        </p:nvSpPr>
        <p:spPr>
          <a:xfrm xmlns:a="http://schemas.openxmlformats.org/drawingml/2006/main">
            <a:off x="2238375" y="5429250"/>
            <a:ext cx="7715250" cy="63817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DA38B2D0-E1DF-4D1F-A6A8-F437DE32844A}"/>
              </a:ext>
            </a:extLst>
          </p:cNvPr>
          <p:cNvSpPr>
            <a:spLocks xmlns:a="http://schemas.openxmlformats.org/drawingml/2006/main" noGrp="1"/>
          </p:cNvSpPr>
          <p:nvPr/>
        </p:nvSpPr>
        <p:spPr>
          <a:xfrm xmlns:a="http://schemas.openxmlformats.org/drawingml/2006/main">
            <a:off x="2476500" y="556260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807"/>
          </a:bodyPr>
          <a:lstStyle xmlns:a="http://schemas.openxmlformats.org/drawingml/2006/main"/>
          <a:p xmlns:a="http://schemas.openxmlformats.org/drawingml/2006/main">
            <a:pPr algn="ctr">
              <a:buNone/>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Adding a method means implementing one interface — not rewriting data, integration, scoring, or plotting.</a:t>
            </a:r>
          </a:p>
        </p:txBody>
      </p:sp>
    </p:spTree>
    <p:extLst>
      <p:ext uri="{BB962C8B-B14F-4D97-AF65-F5344CB8AC3E}">
        <p14:creationId xmlns:p14="http://schemas.microsoft.com/office/powerpoint/2010/main" val="9111042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358BB43-3F0C-452F-A232-6E545694760C}"/>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52D4EB03-3349-48FF-9A87-328F924BB0A5}"/>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Scorecards replace a universal winner</a:t>
            </a:r>
          </a:p>
        </p:txBody>
      </p:sp>
      <p:cxnSp>
        <p:nvCxnSpPr>
          <p:cNvPr id="82"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D4648D33-9BC4-4C6F-9CE0-515DEB32CD48}"/>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A40C7041-7AA1-43A6-8CA0-D6F0F8B49F9D}"/>
              </a:ext>
            </a:extLst>
          </p:cNvPr>
          <p:cNvSpPr>
            <a:spLocks xmlns:a="http://schemas.openxmlformats.org/drawingml/2006/main" noGrp="1"/>
          </p:cNvSpPr>
          <p:nvPr/>
        </p:nvSpPr>
        <p:spPr>
          <a:xfrm xmlns:a="http://schemas.openxmlformats.org/drawingml/2006/main">
            <a:off x="400050" y="15049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88E54245-7676-471A-9CA8-8786C8C98B12}"/>
              </a:ext>
            </a:extLst>
          </p:cNvPr>
          <p:cNvSpPr>
            <a:spLocks xmlns:a="http://schemas.openxmlformats.org/drawingml/2006/main" noGrp="1"/>
          </p:cNvSpPr>
          <p:nvPr/>
        </p:nvSpPr>
        <p:spPr>
          <a:xfrm xmlns:a="http://schemas.openxmlformats.org/drawingml/2006/main">
            <a:off x="971550" y="1504950"/>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Target accuracy + identifiability</a:t>
            </a:r>
          </a:p>
        </p:txBody>
      </p:sp>
      <p:cxnSp>
        <p:nvCxnSpPr>
          <p:cNvPr id="86" name=""/>
          <p:cNvCxnSpPr/>
          <p:nvPr/>
        </p:nvCxnSpPr>
        <p:spPr>
          <a:xfrm xmlns:a="http://schemas.openxmlformats.org/drawingml/2006/main">
            <a:off x="400050" y="1924050"/>
            <a:ext cx="5238750"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7713771C-7B58-45B8-9F72-0C5163ACF71C}"/>
              </a:ext>
            </a:extLst>
          </p:cNvPr>
          <p:cNvSpPr>
            <a:spLocks xmlns:a="http://schemas.openxmlformats.org/drawingml/2006/main" noGrp="1"/>
          </p:cNvSpPr>
          <p:nvPr/>
        </p:nvSpPr>
        <p:spPr>
          <a:xfrm xmlns:a="http://schemas.openxmlformats.org/drawingml/2006/main">
            <a:off x="400050" y="21717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6A360E77-73D5-4625-BD04-CE71E9E97A03}"/>
              </a:ext>
            </a:extLst>
          </p:cNvPr>
          <p:cNvSpPr>
            <a:spLocks xmlns:a="http://schemas.openxmlformats.org/drawingml/2006/main" noGrp="1"/>
          </p:cNvSpPr>
          <p:nvPr/>
        </p:nvSpPr>
        <p:spPr>
          <a:xfrm xmlns:a="http://schemas.openxmlformats.org/drawingml/2006/main">
            <a:off x="971550" y="2171700"/>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Dynamics + reliability</a:t>
            </a:r>
          </a:p>
        </p:txBody>
      </p:sp>
      <p:cxnSp>
        <p:nvCxnSpPr>
          <p:cNvPr id="89" name=""/>
          <p:cNvCxnSpPr/>
          <p:nvPr/>
        </p:nvCxnSpPr>
        <p:spPr>
          <a:xfrm xmlns:a="http://schemas.openxmlformats.org/drawingml/2006/main">
            <a:off x="400050" y="2590800"/>
            <a:ext cx="5238750" cy="953"/>
          </a:xfrm>
          <a:prstGeom xmlns:a="http://schemas.openxmlformats.org/drawingml/2006/main" prst="straightConnector1">
            <a:avLst/>
          </a:prstGeom>
          <a:ln xmlns:a="http://schemas.openxmlformats.org/drawingml/2006/main" w="9525">
            <a:solidFill>
              <a:srgbClr val="B8BCC4"/>
            </a:solidFill>
            <a:prstDash val="solid"/>
          </a:ln>
        </p:spPr>
      </p:cxnSp>
      <p:sp>
        <p:nvSpPr>
          <p:cNvPr id="11" name="">
            <a:extLst xmlns:a="http://schemas.openxmlformats.org/drawingml/2006/main">
              <a:ext uri="{FF2B5EF4-FFF2-40B4-BE49-F238E27FC236}">
                <a16:creationId xmlns:a16="http://schemas.microsoft.com/office/drawing/2014/main" id="{B52E5DDF-6A5D-40EF-8327-7D93D308E2BC}"/>
              </a:ext>
            </a:extLst>
          </p:cNvPr>
          <p:cNvSpPr>
            <a:spLocks xmlns:a="http://schemas.openxmlformats.org/drawingml/2006/main" noGrp="1"/>
          </p:cNvSpPr>
          <p:nvPr/>
        </p:nvSpPr>
        <p:spPr>
          <a:xfrm xmlns:a="http://schemas.openxmlformats.org/drawingml/2006/main">
            <a:off x="400050" y="2838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B8BF78B4-694A-4F04-A33E-E2AC6FC7541E}"/>
              </a:ext>
            </a:extLst>
          </p:cNvPr>
          <p:cNvSpPr>
            <a:spLocks xmlns:a="http://schemas.openxmlformats.org/drawingml/2006/main" noGrp="1"/>
          </p:cNvSpPr>
          <p:nvPr/>
        </p:nvSpPr>
        <p:spPr>
          <a:xfrm xmlns:a="http://schemas.openxmlformats.org/drawingml/2006/main">
            <a:off x="971550" y="2838450"/>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Closure diagnosis</a:t>
            </a:r>
          </a:p>
        </p:txBody>
      </p:sp>
      <p:cxnSp>
        <p:nvCxnSpPr>
          <p:cNvPr id="92" name=""/>
          <p:cNvCxnSpPr/>
          <p:nvPr/>
        </p:nvCxnSpPr>
        <p:spPr>
          <a:xfrm xmlns:a="http://schemas.openxmlformats.org/drawingml/2006/main">
            <a:off x="400050" y="3257550"/>
            <a:ext cx="5238750" cy="953"/>
          </a:xfrm>
          <a:prstGeom xmlns:a="http://schemas.openxmlformats.org/drawingml/2006/main" prst="straightConnector1">
            <a:avLst/>
          </a:prstGeom>
          <a:ln xmlns:a="http://schemas.openxmlformats.org/drawingml/2006/main" w="9525">
            <a:solidFill>
              <a:srgbClr val="B8BCC4"/>
            </a:solidFill>
            <a:prstDash val="solid"/>
          </a:ln>
        </p:spPr>
      </p:cxnSp>
      <p:sp>
        <p:nvSpPr>
          <p:cNvPr id="14" name="">
            <a:extLst xmlns:a="http://schemas.openxmlformats.org/drawingml/2006/main">
              <a:ext uri="{FF2B5EF4-FFF2-40B4-BE49-F238E27FC236}">
                <a16:creationId xmlns:a16="http://schemas.microsoft.com/office/drawing/2014/main" id="{051D20DB-4A4E-48FE-AE85-49A55D901DCA}"/>
              </a:ext>
            </a:extLst>
          </p:cNvPr>
          <p:cNvSpPr>
            <a:spLocks xmlns:a="http://schemas.openxmlformats.org/drawingml/2006/main" noGrp="1"/>
          </p:cNvSpPr>
          <p:nvPr/>
        </p:nvSpPr>
        <p:spPr>
          <a:xfrm xmlns:a="http://schemas.openxmlformats.org/drawingml/2006/main">
            <a:off x="400050" y="35052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8AEB5"/>
                </a:solidFill>
                <a:latin typeface="Helvetica Neue"/>
                <a:ea typeface="Helvetica Neue"/>
                <a:cs typeface="Helvetica Neue"/>
              </a:defRPr>
            </a:pPr>
            <a:r>
              <a:rPr sz="1350" b="1" i="0">
                <a:solidFill>
                  <a:srgbClr val="18AEB5"/>
                </a:solidFill>
                <a:latin typeface="Helvetica Neue"/>
                <a:ea typeface="Helvetica Neue"/>
                <a:cs typeface="Helvetica Neue"/>
              </a:rPr>
              <a:t>04</a:t>
            </a:r>
          </a:p>
        </p:txBody>
      </p:sp>
      <p:sp>
        <p:nvSpPr>
          <p:cNvPr id="15" name="">
            <a:extLst xmlns:a="http://schemas.openxmlformats.org/drawingml/2006/main">
              <a:ext uri="{FF2B5EF4-FFF2-40B4-BE49-F238E27FC236}">
                <a16:creationId xmlns:a16="http://schemas.microsoft.com/office/drawing/2014/main" id="{04D178D5-7797-46F9-9BB7-CECD88417A49}"/>
              </a:ext>
            </a:extLst>
          </p:cNvPr>
          <p:cNvSpPr>
            <a:spLocks xmlns:a="http://schemas.openxmlformats.org/drawingml/2006/main" noGrp="1"/>
          </p:cNvSpPr>
          <p:nvPr/>
        </p:nvSpPr>
        <p:spPr>
          <a:xfrm xmlns:a="http://schemas.openxmlformats.org/drawingml/2006/main">
            <a:off x="971550" y="3505200"/>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Physical / mathematical validity</a:t>
            </a:r>
          </a:p>
        </p:txBody>
      </p:sp>
      <p:cxnSp>
        <p:nvCxnSpPr>
          <p:cNvPr id="95" name=""/>
          <p:cNvCxnSpPr/>
          <p:nvPr/>
        </p:nvCxnSpPr>
        <p:spPr>
          <a:xfrm xmlns:a="http://schemas.openxmlformats.org/drawingml/2006/main">
            <a:off x="400050" y="3924300"/>
            <a:ext cx="5238750" cy="953"/>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2205BB8B-70FC-4D0E-AC00-B24D121CCEC2}"/>
              </a:ext>
            </a:extLst>
          </p:cNvPr>
          <p:cNvSpPr>
            <a:spLocks xmlns:a="http://schemas.openxmlformats.org/drawingml/2006/main" noGrp="1"/>
          </p:cNvSpPr>
          <p:nvPr/>
        </p:nvSpPr>
        <p:spPr>
          <a:xfrm xmlns:a="http://schemas.openxmlformats.org/drawingml/2006/main">
            <a:off x="400050" y="41719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8AEB5"/>
                </a:solidFill>
                <a:latin typeface="Helvetica Neue"/>
                <a:ea typeface="Helvetica Neue"/>
                <a:cs typeface="Helvetica Neue"/>
              </a:defRPr>
            </a:pPr>
            <a:r>
              <a:rPr sz="1350" b="1" i="0">
                <a:solidFill>
                  <a:srgbClr val="18AEB5"/>
                </a:solidFill>
                <a:latin typeface="Helvetica Neue"/>
                <a:ea typeface="Helvetica Neue"/>
                <a:cs typeface="Helvetica Neue"/>
              </a:rPr>
              <a:t>05</a:t>
            </a:r>
          </a:p>
        </p:txBody>
      </p:sp>
      <p:sp>
        <p:nvSpPr>
          <p:cNvPr id="18" name="">
            <a:extLst xmlns:a="http://schemas.openxmlformats.org/drawingml/2006/main">
              <a:ext uri="{FF2B5EF4-FFF2-40B4-BE49-F238E27FC236}">
                <a16:creationId xmlns:a16="http://schemas.microsoft.com/office/drawing/2014/main" id="{4184E44C-06F5-4954-AA18-5F7638D7BD0F}"/>
              </a:ext>
            </a:extLst>
          </p:cNvPr>
          <p:cNvSpPr>
            <a:spLocks xmlns:a="http://schemas.openxmlformats.org/drawingml/2006/main" noGrp="1"/>
          </p:cNvSpPr>
          <p:nvPr/>
        </p:nvSpPr>
        <p:spPr>
          <a:xfrm xmlns:a="http://schemas.openxmlformats.org/drawingml/2006/main">
            <a:off x="971550" y="4171950"/>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Limits + transfer</a:t>
            </a:r>
          </a:p>
        </p:txBody>
      </p:sp>
      <p:cxnSp>
        <p:nvCxnSpPr>
          <p:cNvPr id="98" name=""/>
          <p:cNvCxnSpPr/>
          <p:nvPr/>
        </p:nvCxnSpPr>
        <p:spPr>
          <a:xfrm xmlns:a="http://schemas.openxmlformats.org/drawingml/2006/main">
            <a:off x="400050" y="4591050"/>
            <a:ext cx="5238750" cy="953"/>
          </a:xfrm>
          <a:prstGeom xmlns:a="http://schemas.openxmlformats.org/drawingml/2006/main" prst="straightConnector1">
            <a:avLst/>
          </a:prstGeom>
          <a:ln xmlns:a="http://schemas.openxmlformats.org/drawingml/2006/main" w="9525">
            <a:solidFill>
              <a:srgbClr val="B8BCC4"/>
            </a:solidFill>
            <a:prstDash val="solid"/>
          </a:ln>
        </p:spPr>
      </p:cxnSp>
      <p:sp>
        <p:nvSpPr>
          <p:cNvPr id="20" name="">
            <a:extLst xmlns:a="http://schemas.openxmlformats.org/drawingml/2006/main">
              <a:ext uri="{FF2B5EF4-FFF2-40B4-BE49-F238E27FC236}">
                <a16:creationId xmlns:a16="http://schemas.microsoft.com/office/drawing/2014/main" id="{E63CCCDD-49F5-4643-BDD3-3D38FA7F12FA}"/>
              </a:ext>
            </a:extLst>
          </p:cNvPr>
          <p:cNvSpPr>
            <a:spLocks xmlns:a="http://schemas.openxmlformats.org/drawingml/2006/main" noGrp="1"/>
          </p:cNvSpPr>
          <p:nvPr/>
        </p:nvSpPr>
        <p:spPr>
          <a:xfrm xmlns:a="http://schemas.openxmlformats.org/drawingml/2006/main">
            <a:off x="400050" y="483870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i="0">
                <a:solidFill>
                  <a:srgbClr val="18AEB5"/>
                </a:solidFill>
                <a:latin typeface="Helvetica Neue"/>
                <a:ea typeface="Helvetica Neue"/>
                <a:cs typeface="Helvetica Neue"/>
              </a:defRPr>
            </a:pPr>
            <a:r>
              <a:rPr sz="1350" b="1" i="0">
                <a:solidFill>
                  <a:srgbClr val="18AEB5"/>
                </a:solidFill>
                <a:latin typeface="Helvetica Neue"/>
                <a:ea typeface="Helvetica Neue"/>
                <a:cs typeface="Helvetica Neue"/>
              </a:rPr>
              <a:t>06</a:t>
            </a:r>
          </a:p>
        </p:txBody>
      </p:sp>
      <p:sp>
        <p:nvSpPr>
          <p:cNvPr id="21" name="">
            <a:extLst xmlns:a="http://schemas.openxmlformats.org/drawingml/2006/main">
              <a:ext uri="{FF2B5EF4-FFF2-40B4-BE49-F238E27FC236}">
                <a16:creationId xmlns:a16="http://schemas.microsoft.com/office/drawing/2014/main" id="{5090FEC8-C10C-4ECE-B77C-E3D6A3E0BCBA}"/>
              </a:ext>
            </a:extLst>
          </p:cNvPr>
          <p:cNvSpPr>
            <a:spLocks xmlns:a="http://schemas.openxmlformats.org/drawingml/2006/main" noGrp="1"/>
          </p:cNvSpPr>
          <p:nvPr/>
        </p:nvSpPr>
        <p:spPr>
          <a:xfrm xmlns:a="http://schemas.openxmlformats.org/drawingml/2006/main">
            <a:off x="971550" y="4838700"/>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i="0">
                <a:solidFill>
                  <a:srgbClr val="000000"/>
                </a:solidFill>
                <a:latin typeface="Helvetica Neue"/>
                <a:ea typeface="Helvetica Neue"/>
                <a:cs typeface="Helvetica Neue"/>
              </a:defRPr>
            </a:pPr>
            <a:r>
              <a:rPr sz="1725" b="1" i="0">
                <a:solidFill>
                  <a:srgbClr val="000000"/>
                </a:solidFill>
                <a:latin typeface="Helvetica Neue"/>
                <a:ea typeface="Helvetica Neue"/>
                <a:cs typeface="Helvetica Neue"/>
              </a:rPr>
              <a:t>Information + total cost</a:t>
            </a:r>
          </a:p>
        </p:txBody>
      </p:sp>
      <p:cxnSp>
        <p:nvCxnSpPr>
          <p:cNvPr id="101" name=""/>
          <p:cNvCxnSpPr/>
          <p:nvPr/>
        </p:nvCxnSpPr>
        <p:spPr>
          <a:xfrm xmlns:a="http://schemas.openxmlformats.org/drawingml/2006/main">
            <a:off x="400050" y="5257800"/>
            <a:ext cx="5238750" cy="953"/>
          </a:xfrm>
          <a:prstGeom xmlns:a="http://schemas.openxmlformats.org/drawingml/2006/main" prst="straightConnector1">
            <a:avLst/>
          </a:prstGeom>
          <a:ln xmlns:a="http://schemas.openxmlformats.org/drawingml/2006/main" w="9525">
            <a:solidFill>
              <a:srgbClr val="B8BCC4"/>
            </a:solidFill>
            <a:prstDash val="solid"/>
          </a:ln>
        </p:spPr>
      </p:cxnSp>
      <p:sp>
        <p:nvSpPr>
          <p:cNvPr id="23" name="">
            <a:extLst xmlns:a="http://schemas.openxmlformats.org/drawingml/2006/main">
              <a:ext uri="{FF2B5EF4-FFF2-40B4-BE49-F238E27FC236}">
                <a16:creationId xmlns:a16="http://schemas.microsoft.com/office/drawing/2014/main" id="{F7739EE7-ADFE-43D6-8C0E-6D86A540397E}"/>
              </a:ext>
            </a:extLst>
          </p:cNvPr>
          <p:cNvSpPr>
            <a:spLocks xmlns:a="http://schemas.openxmlformats.org/drawingml/2006/main" noGrp="1"/>
          </p:cNvSpPr>
          <p:nvPr/>
        </p:nvSpPr>
        <p:spPr>
          <a:xfrm xmlns:a="http://schemas.openxmlformats.org/drawingml/2006/main">
            <a:off x="6229350" y="1495425"/>
            <a:ext cx="5562600" cy="3933825"/>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2D0B2542-CF10-4B03-B422-4CFB699EECF2}"/>
              </a:ext>
            </a:extLst>
          </p:cNvPr>
          <p:cNvSpPr>
            <a:spLocks xmlns:a="http://schemas.openxmlformats.org/drawingml/2006/main" noGrp="1"/>
          </p:cNvSpPr>
          <p:nvPr/>
        </p:nvSpPr>
        <p:spPr>
          <a:xfrm xmlns:a="http://schemas.openxmlformats.org/drawingml/2006/main">
            <a:off x="6534150" y="1771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143A72"/>
                </a:solidFill>
                <a:latin typeface="Helvetica Neue"/>
                <a:ea typeface="Helvetica Neue"/>
                <a:cs typeface="Helvetica Neue"/>
              </a:defRPr>
            </a:pPr>
            <a:r>
              <a:rPr sz="1275" b="1" i="0">
                <a:solidFill>
                  <a:srgbClr val="143A72"/>
                </a:solidFill>
                <a:latin typeface="Helvetica Neue"/>
                <a:ea typeface="Helvetica Neue"/>
                <a:cs typeface="Helvetica Neue"/>
              </a:rPr>
              <a:t>FAIRNESS RULES</a:t>
            </a:r>
          </a:p>
        </p:txBody>
      </p:sp>
      <p:sp>
        <p:nvSpPr>
          <p:cNvPr id="25" name="">
            <a:extLst xmlns:a="http://schemas.openxmlformats.org/drawingml/2006/main">
              <a:ext uri="{FF2B5EF4-FFF2-40B4-BE49-F238E27FC236}">
                <a16:creationId xmlns:a16="http://schemas.microsoft.com/office/drawing/2014/main" id="{B18F1874-E7C1-4DEB-BDBA-4444D9A92313}"/>
              </a:ext>
            </a:extLst>
          </p:cNvPr>
          <p:cNvSpPr>
            <a:spLocks xmlns:a="http://schemas.openxmlformats.org/drawingml/2006/main" noGrp="1"/>
          </p:cNvSpPr>
          <p:nvPr/>
        </p:nvSpPr>
        <p:spPr>
          <a:xfrm xmlns:a="http://schemas.openxmlformats.org/drawingml/2006/main">
            <a:off x="6534150" y="23241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43A72"/>
                </a:solidFill>
                <a:latin typeface="Helvetica Neue"/>
                <a:ea typeface="Helvetica Neue"/>
                <a:cs typeface="Helvetica Neue"/>
              </a:defRPr>
            </a:pPr>
            <a:r>
              <a:rPr sz="1500" b="1" i="0">
                <a:solidFill>
                  <a:srgbClr val="143A72"/>
                </a:solidFill>
                <a:latin typeface="Helvetica Neue"/>
                <a:ea typeface="Helvetica Neue"/>
                <a:cs typeface="Helvetica Neue"/>
              </a:rPr>
              <a:t>•</a:t>
            </a:r>
          </a:p>
        </p:txBody>
      </p:sp>
      <p:sp>
        <p:nvSpPr>
          <p:cNvPr id="26" name="">
            <a:extLst xmlns:a="http://schemas.openxmlformats.org/drawingml/2006/main">
              <a:ext uri="{FF2B5EF4-FFF2-40B4-BE49-F238E27FC236}">
                <a16:creationId xmlns:a16="http://schemas.microsoft.com/office/drawing/2014/main" id="{5675CE56-98DE-460C-993E-4804A5D5D930}"/>
              </a:ext>
            </a:extLst>
          </p:cNvPr>
          <p:cNvSpPr>
            <a:spLocks xmlns:a="http://schemas.openxmlformats.org/drawingml/2006/main" noGrp="1"/>
          </p:cNvSpPr>
          <p:nvPr/>
        </p:nvSpPr>
        <p:spPr>
          <a:xfrm xmlns:a="http://schemas.openxmlformats.org/drawingml/2006/main">
            <a:off x="6819900" y="2324100"/>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Match high-fidelity calls and ensemble members</a:t>
            </a:r>
          </a:p>
        </p:txBody>
      </p:sp>
      <p:sp>
        <p:nvSpPr>
          <p:cNvPr id="27" name="">
            <a:extLst xmlns:a="http://schemas.openxmlformats.org/drawingml/2006/main">
              <a:ext uri="{FF2B5EF4-FFF2-40B4-BE49-F238E27FC236}">
                <a16:creationId xmlns:a16="http://schemas.microsoft.com/office/drawing/2014/main" id="{7D8C8677-71FA-4C7B-AAEE-6FB857418A0D}"/>
              </a:ext>
            </a:extLst>
          </p:cNvPr>
          <p:cNvSpPr>
            <a:spLocks xmlns:a="http://schemas.openxmlformats.org/drawingml/2006/main" noGrp="1"/>
          </p:cNvSpPr>
          <p:nvPr/>
        </p:nvSpPr>
        <p:spPr>
          <a:xfrm xmlns:a="http://schemas.openxmlformats.org/drawingml/2006/main">
            <a:off x="6534150" y="28670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43A72"/>
                </a:solidFill>
                <a:latin typeface="Helvetica Neue"/>
                <a:ea typeface="Helvetica Neue"/>
                <a:cs typeface="Helvetica Neue"/>
              </a:defRPr>
            </a:pPr>
            <a:r>
              <a:rPr sz="1500" b="1" i="0">
                <a:solidFill>
                  <a:srgbClr val="143A72"/>
                </a:solidFill>
                <a:latin typeface="Helvetica Neue"/>
                <a:ea typeface="Helvetica Neue"/>
                <a:cs typeface="Helvetica Neue"/>
              </a:rPr>
              <a:t>•</a:t>
            </a:r>
          </a:p>
        </p:txBody>
      </p:sp>
      <p:sp>
        <p:nvSpPr>
          <p:cNvPr id="28" name="">
            <a:extLst xmlns:a="http://schemas.openxmlformats.org/drawingml/2006/main">
              <a:ext uri="{FF2B5EF4-FFF2-40B4-BE49-F238E27FC236}">
                <a16:creationId xmlns:a16="http://schemas.microsoft.com/office/drawing/2014/main" id="{8857D6B9-14A8-42B8-9ABD-1BE99D3081C4}"/>
              </a:ext>
            </a:extLst>
          </p:cNvPr>
          <p:cNvSpPr>
            <a:spLocks xmlns:a="http://schemas.openxmlformats.org/drawingml/2006/main" noGrp="1"/>
          </p:cNvSpPr>
          <p:nvPr/>
        </p:nvSpPr>
        <p:spPr>
          <a:xfrm xmlns:a="http://schemas.openxmlformats.org/drawingml/2006/main">
            <a:off x="6819900" y="2867025"/>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Match retained state, history, and compute</a:t>
            </a:r>
          </a:p>
        </p:txBody>
      </p:sp>
      <p:sp>
        <p:nvSpPr>
          <p:cNvPr id="29" name="">
            <a:extLst xmlns:a="http://schemas.openxmlformats.org/drawingml/2006/main">
              <a:ext uri="{FF2B5EF4-FFF2-40B4-BE49-F238E27FC236}">
                <a16:creationId xmlns:a16="http://schemas.microsoft.com/office/drawing/2014/main" id="{2754F11F-B14E-46AF-BA2C-D808F81C308A}"/>
              </a:ext>
            </a:extLst>
          </p:cNvPr>
          <p:cNvSpPr>
            <a:spLocks xmlns:a="http://schemas.openxmlformats.org/drawingml/2006/main" noGrp="1"/>
          </p:cNvSpPr>
          <p:nvPr/>
        </p:nvSpPr>
        <p:spPr>
          <a:xfrm xmlns:a="http://schemas.openxmlformats.org/drawingml/2006/main">
            <a:off x="6534150" y="34099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43A72"/>
                </a:solidFill>
                <a:latin typeface="Helvetica Neue"/>
                <a:ea typeface="Helvetica Neue"/>
                <a:cs typeface="Helvetica Neue"/>
              </a:defRPr>
            </a:pPr>
            <a:r>
              <a:rPr sz="1500" b="1" i="0">
                <a:solidFill>
                  <a:srgbClr val="143A72"/>
                </a:solidFill>
                <a:latin typeface="Helvetica Neue"/>
                <a:ea typeface="Helvetica Neue"/>
                <a:cs typeface="Helvetica Neue"/>
              </a:rPr>
              <a:t>•</a:t>
            </a:r>
          </a:p>
        </p:txBody>
      </p:sp>
      <p:sp>
        <p:nvSpPr>
          <p:cNvPr id="30" name="">
            <a:extLst xmlns:a="http://schemas.openxmlformats.org/drawingml/2006/main">
              <a:ext uri="{FF2B5EF4-FFF2-40B4-BE49-F238E27FC236}">
                <a16:creationId xmlns:a16="http://schemas.microsoft.com/office/drawing/2014/main" id="{5797DE42-F82F-4116-A522-E582CD3A98EC}"/>
              </a:ext>
            </a:extLst>
          </p:cNvPr>
          <p:cNvSpPr>
            <a:spLocks xmlns:a="http://schemas.openxmlformats.org/drawingml/2006/main" noGrp="1"/>
          </p:cNvSpPr>
          <p:nvPr/>
        </p:nvSpPr>
        <p:spPr>
          <a:xfrm xmlns:a="http://schemas.openxmlformats.org/drawingml/2006/main">
            <a:off x="6819900" y="3409950"/>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Count equation and residual access</a:t>
            </a:r>
          </a:p>
        </p:txBody>
      </p:sp>
      <p:sp>
        <p:nvSpPr>
          <p:cNvPr id="31" name="">
            <a:extLst xmlns:a="http://schemas.openxmlformats.org/drawingml/2006/main">
              <a:ext uri="{FF2B5EF4-FFF2-40B4-BE49-F238E27FC236}">
                <a16:creationId xmlns:a16="http://schemas.microsoft.com/office/drawing/2014/main" id="{BA17D80F-6DFF-474D-B9F9-7B6BC5B92DCD}"/>
              </a:ext>
            </a:extLst>
          </p:cNvPr>
          <p:cNvSpPr>
            <a:spLocks xmlns:a="http://schemas.openxmlformats.org/drawingml/2006/main" noGrp="1"/>
          </p:cNvSpPr>
          <p:nvPr/>
        </p:nvSpPr>
        <p:spPr>
          <a:xfrm xmlns:a="http://schemas.openxmlformats.org/drawingml/2006/main">
            <a:off x="6534150" y="39528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43A72"/>
                </a:solidFill>
                <a:latin typeface="Helvetica Neue"/>
                <a:ea typeface="Helvetica Neue"/>
                <a:cs typeface="Helvetica Neue"/>
              </a:defRPr>
            </a:pPr>
            <a:r>
              <a:rPr sz="1500" b="1" i="0">
                <a:solidFill>
                  <a:srgbClr val="143A72"/>
                </a:solidFill>
                <a:latin typeface="Helvetica Neue"/>
                <a:ea typeface="Helvetica Neue"/>
                <a:cs typeface="Helvetica Neue"/>
              </a:rPr>
              <a:t>•</a:t>
            </a:r>
          </a:p>
        </p:txBody>
      </p:sp>
      <p:sp>
        <p:nvSpPr>
          <p:cNvPr id="32" name="">
            <a:extLst xmlns:a="http://schemas.openxmlformats.org/drawingml/2006/main">
              <a:ext uri="{FF2B5EF4-FFF2-40B4-BE49-F238E27FC236}">
                <a16:creationId xmlns:a16="http://schemas.microsoft.com/office/drawing/2014/main" id="{3D0F682D-9088-408D-B980-385DACF1D1F2}"/>
              </a:ext>
            </a:extLst>
          </p:cNvPr>
          <p:cNvSpPr>
            <a:spLocks xmlns:a="http://schemas.openxmlformats.org/drawingml/2006/main" noGrp="1"/>
          </p:cNvSpPr>
          <p:nvPr/>
        </p:nvSpPr>
        <p:spPr>
          <a:xfrm xmlns:a="http://schemas.openxmlformats.org/drawingml/2006/main">
            <a:off x="6819900" y="3952875"/>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Price online cumulant and memory estimation</a:t>
            </a:r>
          </a:p>
        </p:txBody>
      </p:sp>
      <p:sp>
        <p:nvSpPr>
          <p:cNvPr id="33" name="">
            <a:extLst xmlns:a="http://schemas.openxmlformats.org/drawingml/2006/main">
              <a:ext uri="{FF2B5EF4-FFF2-40B4-BE49-F238E27FC236}">
                <a16:creationId xmlns:a16="http://schemas.microsoft.com/office/drawing/2014/main" id="{65B40EF2-98B3-413F-A93F-29BCB4FC8CE6}"/>
              </a:ext>
            </a:extLst>
          </p:cNvPr>
          <p:cNvSpPr>
            <a:spLocks xmlns:a="http://schemas.openxmlformats.org/drawingml/2006/main" noGrp="1"/>
          </p:cNvSpPr>
          <p:nvPr/>
        </p:nvSpPr>
        <p:spPr>
          <a:xfrm xmlns:a="http://schemas.openxmlformats.org/drawingml/2006/main">
            <a:off x="6534150" y="44958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00" b="1" i="0">
                <a:solidFill>
                  <a:srgbClr val="143A72"/>
                </a:solidFill>
                <a:latin typeface="Helvetica Neue"/>
                <a:ea typeface="Helvetica Neue"/>
                <a:cs typeface="Helvetica Neue"/>
              </a:defRPr>
            </a:pPr>
            <a:r>
              <a:rPr sz="1500" b="1" i="0">
                <a:solidFill>
                  <a:srgbClr val="143A72"/>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04A18598-D4E9-4373-91E8-8ACE24D47911}"/>
              </a:ext>
            </a:extLst>
          </p:cNvPr>
          <p:cNvSpPr>
            <a:spLocks xmlns:a="http://schemas.openxmlformats.org/drawingml/2006/main" noGrp="1"/>
          </p:cNvSpPr>
          <p:nvPr/>
        </p:nvSpPr>
        <p:spPr>
          <a:xfrm xmlns:a="http://schemas.openxmlformats.org/drawingml/2006/main">
            <a:off x="6819900" y="4495800"/>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000000"/>
                </a:solidFill>
                <a:latin typeface="Helvetica Neue"/>
                <a:ea typeface="Helvetica Neue"/>
                <a:cs typeface="Helvetica Neue"/>
              </a:defRPr>
            </a:pPr>
            <a:r>
              <a:rPr sz="1500" b="0" i="0">
                <a:solidFill>
                  <a:srgbClr val="000000"/>
                </a:solidFill>
                <a:latin typeface="Helvetica Neue"/>
                <a:ea typeface="Helvetica Neue"/>
                <a:cs typeface="Helvetica Neue"/>
              </a:rPr>
              <a:t>Keep failed and nonconverged runs</a:t>
            </a:r>
          </a:p>
        </p:txBody>
      </p:sp>
      <p:sp>
        <p:nvSpPr>
          <p:cNvPr id="35" name="">
            <a:extLst xmlns:a="http://schemas.openxmlformats.org/drawingml/2006/main">
              <a:ext uri="{FF2B5EF4-FFF2-40B4-BE49-F238E27FC236}">
                <a16:creationId xmlns:a16="http://schemas.microsoft.com/office/drawing/2014/main" id="{B95F1BEB-1508-4A3C-8C4E-B54F6F9FE0A0}"/>
              </a:ext>
            </a:extLst>
          </p:cNvPr>
          <p:cNvSpPr>
            <a:spLocks xmlns:a="http://schemas.openxmlformats.org/drawingml/2006/main" noGrp="1"/>
          </p:cNvSpPr>
          <p:nvPr/>
        </p:nvSpPr>
        <p:spPr>
          <a:xfrm xmlns:a="http://schemas.openxmlformats.org/drawingml/2006/main">
            <a:off x="1790700" y="5762625"/>
            <a:ext cx="8610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439"/>
          </a:bodyPr>
          <a:lstStyle xmlns:a="http://schemas.openxmlformats.org/drawingml/2006/main"/>
          <a:p xmlns:a="http://schemas.openxmlformats.org/drawingml/2006/main">
            <a:pPr algn="ctr">
              <a:buNone/>
              <a:defRPr sz="1650" b="1" i="0">
                <a:solidFill>
                  <a:srgbClr val="143A72"/>
                </a:solidFill>
                <a:latin typeface="Helvetica Neue"/>
                <a:ea typeface="Helvetica Neue"/>
                <a:cs typeface="Helvetica Neue"/>
              </a:defRPr>
            </a:pPr>
            <a:r>
              <a:rPr sz="1650" b="1" i="0">
                <a:solidFill>
                  <a:srgbClr val="143A72"/>
                </a:solidFill>
                <a:latin typeface="Helvetica Neue"/>
                <a:ea typeface="Helvetica Neue"/>
                <a:cs typeface="Helvetica Neue"/>
              </a:rPr>
              <a:t>Cross-stage synthesis: identify the smallest sufficient information set in each regime.</a:t>
            </a:r>
          </a:p>
        </p:txBody>
      </p:sp>
    </p:spTree>
    <p:extLst>
      <p:ext uri="{BB962C8B-B14F-4D97-AF65-F5344CB8AC3E}">
        <p14:creationId xmlns:p14="http://schemas.microsoft.com/office/powerpoint/2010/main" val="49428342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75539F8-DA24-46B5-9E3B-DB130B351248}"/>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7D5C7CF9-2211-4716-BA0E-047F66660EB8}"/>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The 90-day pilot ends in a gate decision</a:t>
            </a:r>
          </a:p>
        </p:txBody>
      </p:sp>
      <p:cxnSp>
        <p:nvCxnSpPr>
          <p:cNvPr id="32"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57E65F49-FEBF-4348-928E-453705F80F07}"/>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21</a:t>
            </a:r>
          </a:p>
        </p:txBody>
      </p:sp>
      <p:cxnSp>
        <p:nvCxnSpPr>
          <p:cNvPr id="34" name=""/>
          <p:cNvCxnSpPr/>
          <p:nvPr/>
        </p:nvCxnSpPr>
        <p:spPr>
          <a:xfrm xmlns:a="http://schemas.openxmlformats.org/drawingml/2006/main">
            <a:off x="800100" y="2819400"/>
            <a:ext cx="10382250" cy="953"/>
          </a:xfrm>
          <a:prstGeom xmlns:a="http://schemas.openxmlformats.org/drawingml/2006/main" prst="straightConnector1">
            <a:avLst/>
          </a:prstGeom>
          <a:ln xmlns:a="http://schemas.openxmlformats.org/drawingml/2006/main" w="19050">
            <a:solidFill>
              <a:srgbClr val="000000"/>
            </a:solidFill>
            <a:prstDash val="solid"/>
          </a:ln>
        </p:spPr>
      </p:cxnSp>
      <p:sp>
        <p:nvSpPr>
          <p:cNvPr id="6" name="">
            <a:extLst xmlns:a="http://schemas.openxmlformats.org/drawingml/2006/main">
              <a:ext uri="{FF2B5EF4-FFF2-40B4-BE49-F238E27FC236}">
                <a16:creationId xmlns:a16="http://schemas.microsoft.com/office/drawing/2014/main" id="{617B0F7D-A3C3-4F60-AF37-7761A43F14FF}"/>
              </a:ext>
            </a:extLst>
          </p:cNvPr>
          <p:cNvSpPr>
            <a:spLocks xmlns:a="http://schemas.openxmlformats.org/drawingml/2006/main" noGrp="1"/>
          </p:cNvSpPr>
          <p:nvPr/>
        </p:nvSpPr>
        <p:spPr>
          <a:xfrm xmlns:a="http://schemas.openxmlformats.org/drawingml/2006/main">
            <a:off x="800100" y="2724150"/>
            <a:ext cx="190500" cy="190500"/>
          </a:xfrm>
          <a:prstGeom xmlns:a="http://schemas.openxmlformats.org/drawingml/2006/main" prst="ellipse">
            <a:avLst/>
          </a:prstGeom>
          <a:solidFill xmlns:a="http://schemas.openxmlformats.org/drawingml/2006/main">
            <a:srgbClr val="3D8DFF"/>
          </a:solidFill>
          <a:ln xmlns:a="http://schemas.openxmlformats.org/drawingml/2006/main" w="4763">
            <a:solidFill>
              <a:srgbClr val="000000"/>
            </a:solidFill>
            <a:prstDash val="solid"/>
          </a:ln>
        </p:spPr>
      </p:sp>
      <p:sp>
        <p:nvSpPr>
          <p:cNvPr id="7" name="">
            <a:extLst xmlns:a="http://schemas.openxmlformats.org/drawingml/2006/main">
              <a:ext uri="{FF2B5EF4-FFF2-40B4-BE49-F238E27FC236}">
                <a16:creationId xmlns:a16="http://schemas.microsoft.com/office/drawing/2014/main" id="{5D5C89E8-9FB6-4F2B-BEA1-C6258741012C}"/>
              </a:ext>
            </a:extLst>
          </p:cNvPr>
          <p:cNvSpPr>
            <a:spLocks xmlns:a="http://schemas.openxmlformats.org/drawingml/2006/main" noGrp="1"/>
          </p:cNvSpPr>
          <p:nvPr/>
        </p:nvSpPr>
        <p:spPr>
          <a:xfrm xmlns:a="http://schemas.openxmlformats.org/drawingml/2006/main">
            <a:off x="8001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WEEKS 1–3</a:t>
            </a:r>
          </a:p>
        </p:txBody>
      </p:sp>
      <p:sp>
        <p:nvSpPr>
          <p:cNvPr id="8" name="">
            <a:extLst xmlns:a="http://schemas.openxmlformats.org/drawingml/2006/main">
              <a:ext uri="{FF2B5EF4-FFF2-40B4-BE49-F238E27FC236}">
                <a16:creationId xmlns:a16="http://schemas.microsoft.com/office/drawing/2014/main" id="{FC56B12F-CAD2-48C5-97E9-A953EF077665}"/>
              </a:ext>
            </a:extLst>
          </p:cNvPr>
          <p:cNvSpPr>
            <a:spLocks xmlns:a="http://schemas.openxmlformats.org/drawingml/2006/main" noGrp="1"/>
          </p:cNvSpPr>
          <p:nvPr/>
        </p:nvSpPr>
        <p:spPr>
          <a:xfrm xmlns:a="http://schemas.openxmlformats.org/drawingml/2006/main">
            <a:off x="800100" y="3276600"/>
            <a:ext cx="300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Freeze the contract</a:t>
            </a:r>
          </a:p>
        </p:txBody>
      </p:sp>
      <p:sp>
        <p:nvSpPr>
          <p:cNvPr id="9" name="">
            <a:extLst xmlns:a="http://schemas.openxmlformats.org/drawingml/2006/main">
              <a:ext uri="{FF2B5EF4-FFF2-40B4-BE49-F238E27FC236}">
                <a16:creationId xmlns:a16="http://schemas.microsoft.com/office/drawing/2014/main" id="{2458712A-F0A1-4C92-B5FC-93224669C7E5}"/>
              </a:ext>
            </a:extLst>
          </p:cNvPr>
          <p:cNvSpPr>
            <a:spLocks xmlns:a="http://schemas.openxmlformats.org/drawingml/2006/main" noGrp="1"/>
          </p:cNvSpPr>
          <p:nvPr/>
        </p:nvSpPr>
        <p:spPr>
          <a:xfrm xmlns:a="http://schemas.openxmlformats.org/drawingml/2006/main">
            <a:off x="800100" y="4019550"/>
            <a:ext cx="30003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States, closure defects, owners, references, observables, budgets</a:t>
            </a:r>
          </a:p>
        </p:txBody>
      </p:sp>
      <p:sp>
        <p:nvSpPr>
          <p:cNvPr id="10" name="">
            <a:extLst xmlns:a="http://schemas.openxmlformats.org/drawingml/2006/main">
              <a:ext uri="{FF2B5EF4-FFF2-40B4-BE49-F238E27FC236}">
                <a16:creationId xmlns:a16="http://schemas.microsoft.com/office/drawing/2014/main" id="{6C69D259-0685-4AF9-8433-AFD6DB20B160}"/>
              </a:ext>
            </a:extLst>
          </p:cNvPr>
          <p:cNvSpPr>
            <a:spLocks xmlns:a="http://schemas.openxmlformats.org/drawingml/2006/main" noGrp="1"/>
          </p:cNvSpPr>
          <p:nvPr/>
        </p:nvSpPr>
        <p:spPr>
          <a:xfrm xmlns:a="http://schemas.openxmlformats.org/drawingml/2006/main">
            <a:off x="4438650" y="2724150"/>
            <a:ext cx="190500" cy="190500"/>
          </a:xfrm>
          <a:prstGeom xmlns:a="http://schemas.openxmlformats.org/drawingml/2006/main" prst="ellipse">
            <a:avLst/>
          </a:prstGeom>
          <a:solidFill xmlns:a="http://schemas.openxmlformats.org/drawingml/2006/main">
            <a:srgbClr val="3D8DFF"/>
          </a:solidFill>
          <a:ln xmlns:a="http://schemas.openxmlformats.org/drawingml/2006/main" w="4763">
            <a:solidFill>
              <a:srgbClr val="000000"/>
            </a:solidFill>
            <a:prstDash val="solid"/>
          </a:ln>
        </p:spPr>
      </p:sp>
      <p:sp>
        <p:nvSpPr>
          <p:cNvPr id="11" name="">
            <a:extLst xmlns:a="http://schemas.openxmlformats.org/drawingml/2006/main">
              <a:ext uri="{FF2B5EF4-FFF2-40B4-BE49-F238E27FC236}">
                <a16:creationId xmlns:a16="http://schemas.microsoft.com/office/drawing/2014/main" id="{C6443FC1-C54E-447A-9A38-C8090E345FC6}"/>
              </a:ext>
            </a:extLst>
          </p:cNvPr>
          <p:cNvSpPr>
            <a:spLocks xmlns:a="http://schemas.openxmlformats.org/drawingml/2006/main" noGrp="1"/>
          </p:cNvSpPr>
          <p:nvPr/>
        </p:nvSpPr>
        <p:spPr>
          <a:xfrm xmlns:a="http://schemas.openxmlformats.org/drawingml/2006/main">
            <a:off x="443865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WEEKS 4–10</a:t>
            </a:r>
          </a:p>
        </p:txBody>
      </p:sp>
      <p:sp>
        <p:nvSpPr>
          <p:cNvPr id="12" name="">
            <a:extLst xmlns:a="http://schemas.openxmlformats.org/drawingml/2006/main">
              <a:ext uri="{FF2B5EF4-FFF2-40B4-BE49-F238E27FC236}">
                <a16:creationId xmlns:a16="http://schemas.microsoft.com/office/drawing/2014/main" id="{5A900ED1-9A0C-4CB6-A010-9847A71D887D}"/>
              </a:ext>
            </a:extLst>
          </p:cNvPr>
          <p:cNvSpPr>
            <a:spLocks xmlns:a="http://schemas.openxmlformats.org/drawingml/2006/main" noGrp="1"/>
          </p:cNvSpPr>
          <p:nvPr/>
        </p:nvSpPr>
        <p:spPr>
          <a:xfrm xmlns:a="http://schemas.openxmlformats.org/drawingml/2006/main">
            <a:off x="4438650" y="3276600"/>
            <a:ext cx="300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15"/>
          </a:bodyPr>
          <a:lstStyle xmlns:a="http://schemas.openxmlformats.org/drawingml/2006/main"/>
          <a:p xmlns:a="http://schemas.openxmlformats.org/drawingml/2006/main">
            <a:pPr algn="l">
              <a:buNone/>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Verify generators + estimators</a:t>
            </a:r>
          </a:p>
        </p:txBody>
      </p:sp>
      <p:sp>
        <p:nvSpPr>
          <p:cNvPr id="13" name="">
            <a:extLst xmlns:a="http://schemas.openxmlformats.org/drawingml/2006/main">
              <a:ext uri="{FF2B5EF4-FFF2-40B4-BE49-F238E27FC236}">
                <a16:creationId xmlns:a16="http://schemas.microsoft.com/office/drawing/2014/main" id="{C1E54029-9D89-499E-830B-3E6C4965EA67}"/>
              </a:ext>
            </a:extLst>
          </p:cNvPr>
          <p:cNvSpPr>
            <a:spLocks xmlns:a="http://schemas.openxmlformats.org/drawingml/2006/main" noGrp="1"/>
          </p:cNvSpPr>
          <p:nvPr/>
        </p:nvSpPr>
        <p:spPr>
          <a:xfrm xmlns:a="http://schemas.openxmlformats.org/drawingml/2006/main">
            <a:off x="4438650" y="4019550"/>
            <a:ext cx="30003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Small canonical ensembles, convergence, cumulants, history diagnostics</a:t>
            </a:r>
          </a:p>
        </p:txBody>
      </p:sp>
      <p:sp>
        <p:nvSpPr>
          <p:cNvPr id="14" name="">
            <a:extLst xmlns:a="http://schemas.openxmlformats.org/drawingml/2006/main">
              <a:ext uri="{FF2B5EF4-FFF2-40B4-BE49-F238E27FC236}">
                <a16:creationId xmlns:a16="http://schemas.microsoft.com/office/drawing/2014/main" id="{357577C5-CAFF-413C-AB61-FDE5FB1492DC}"/>
              </a:ext>
            </a:extLst>
          </p:cNvPr>
          <p:cNvSpPr>
            <a:spLocks xmlns:a="http://schemas.openxmlformats.org/drawingml/2006/main" noGrp="1"/>
          </p:cNvSpPr>
          <p:nvPr/>
        </p:nvSpPr>
        <p:spPr>
          <a:xfrm xmlns:a="http://schemas.openxmlformats.org/drawingml/2006/main">
            <a:off x="8077200" y="2724150"/>
            <a:ext cx="190500" cy="190500"/>
          </a:xfrm>
          <a:prstGeom xmlns:a="http://schemas.openxmlformats.org/drawingml/2006/main" prst="ellipse">
            <a:avLst/>
          </a:prstGeom>
          <a:solidFill xmlns:a="http://schemas.openxmlformats.org/drawingml/2006/main">
            <a:srgbClr val="F06A3C"/>
          </a:solidFill>
          <a:ln xmlns:a="http://schemas.openxmlformats.org/drawingml/2006/main" w="4763">
            <a:solidFill>
              <a:srgbClr val="000000"/>
            </a:solidFill>
            <a:prstDash val="solid"/>
          </a:ln>
        </p:spPr>
      </p:sp>
      <p:sp>
        <p:nvSpPr>
          <p:cNvPr id="15" name="">
            <a:extLst xmlns:a="http://schemas.openxmlformats.org/drawingml/2006/main">
              <a:ext uri="{FF2B5EF4-FFF2-40B4-BE49-F238E27FC236}">
                <a16:creationId xmlns:a16="http://schemas.microsoft.com/office/drawing/2014/main" id="{2B5381FA-2452-41BC-9CCF-8593E15EE358}"/>
              </a:ext>
            </a:extLst>
          </p:cNvPr>
          <p:cNvSpPr>
            <a:spLocks xmlns:a="http://schemas.openxmlformats.org/drawingml/2006/main" noGrp="1"/>
          </p:cNvSpPr>
          <p:nvPr/>
        </p:nvSpPr>
        <p:spPr>
          <a:xfrm xmlns:a="http://schemas.openxmlformats.org/drawingml/2006/main">
            <a:off x="8077200" y="21907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5B6472"/>
                </a:solidFill>
                <a:latin typeface="Helvetica Neue"/>
                <a:ea typeface="Helvetica Neue"/>
                <a:cs typeface="Helvetica Neue"/>
              </a:defRPr>
            </a:pPr>
            <a:r>
              <a:rPr sz="1275" b="1" i="0">
                <a:solidFill>
                  <a:srgbClr val="5B6472"/>
                </a:solidFill>
                <a:latin typeface="Helvetica Neue"/>
                <a:ea typeface="Helvetica Neue"/>
                <a:cs typeface="Helvetica Neue"/>
              </a:rPr>
              <a:t>WEEKS 11–13</a:t>
            </a:r>
          </a:p>
        </p:txBody>
      </p:sp>
      <p:sp>
        <p:nvSpPr>
          <p:cNvPr id="16" name="">
            <a:extLst xmlns:a="http://schemas.openxmlformats.org/drawingml/2006/main">
              <a:ext uri="{FF2B5EF4-FFF2-40B4-BE49-F238E27FC236}">
                <a16:creationId xmlns:a16="http://schemas.microsoft.com/office/drawing/2014/main" id="{373F2E86-2A67-4ECB-96E8-19FCBEEC8E1E}"/>
              </a:ext>
            </a:extLst>
          </p:cNvPr>
          <p:cNvSpPr>
            <a:spLocks xmlns:a="http://schemas.openxmlformats.org/drawingml/2006/main" noGrp="1"/>
          </p:cNvSpPr>
          <p:nvPr/>
        </p:nvSpPr>
        <p:spPr>
          <a:xfrm xmlns:a="http://schemas.openxmlformats.org/drawingml/2006/main">
            <a:off x="8077200" y="3276600"/>
            <a:ext cx="300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Continue, narrow, or stop</a:t>
            </a:r>
          </a:p>
        </p:txBody>
      </p:sp>
      <p:sp>
        <p:nvSpPr>
          <p:cNvPr id="17" name="">
            <a:extLst xmlns:a="http://schemas.openxmlformats.org/drawingml/2006/main">
              <a:ext uri="{FF2B5EF4-FFF2-40B4-BE49-F238E27FC236}">
                <a16:creationId xmlns:a16="http://schemas.microsoft.com/office/drawing/2014/main" id="{43207FF0-5EE7-403D-8610-F8FB73AF510F}"/>
              </a:ext>
            </a:extLst>
          </p:cNvPr>
          <p:cNvSpPr>
            <a:spLocks xmlns:a="http://schemas.openxmlformats.org/drawingml/2006/main" noGrp="1"/>
          </p:cNvSpPr>
          <p:nvPr/>
        </p:nvSpPr>
        <p:spPr>
          <a:xfrm xmlns:a="http://schemas.openxmlformats.org/drawingml/2006/main">
            <a:off x="8077200" y="4019550"/>
            <a:ext cx="30003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i="0">
                <a:solidFill>
                  <a:srgbClr val="5B6472"/>
                </a:solidFill>
                <a:latin typeface="Helvetica Neue"/>
                <a:ea typeface="Helvetica Neue"/>
                <a:cs typeface="Helvetica Neue"/>
              </a:defRPr>
            </a:pPr>
            <a:r>
              <a:rPr sz="1500" b="0" i="0">
                <a:solidFill>
                  <a:srgbClr val="5B6472"/>
                </a:solidFill>
                <a:latin typeface="Helvetica Neue"/>
                <a:ea typeface="Helvetica Neue"/>
                <a:cs typeface="Helvetica Neue"/>
              </a:rPr>
              <a:t>Gate dusty-plasma and supernova pilot targets</a:t>
            </a:r>
          </a:p>
        </p:txBody>
      </p:sp>
      <p:sp>
        <p:nvSpPr>
          <p:cNvPr id="18" name="">
            <a:extLst xmlns:a="http://schemas.openxmlformats.org/drawingml/2006/main">
              <a:ext uri="{FF2B5EF4-FFF2-40B4-BE49-F238E27FC236}">
                <a16:creationId xmlns:a16="http://schemas.microsoft.com/office/drawing/2014/main" id="{BE6A7831-3011-4E42-B58A-7A050FBDFAB6}"/>
              </a:ext>
            </a:extLst>
          </p:cNvPr>
          <p:cNvSpPr>
            <a:spLocks xmlns:a="http://schemas.openxmlformats.org/drawingml/2006/main" noGrp="1"/>
          </p:cNvSpPr>
          <p:nvPr/>
        </p:nvSpPr>
        <p:spPr>
          <a:xfrm xmlns:a="http://schemas.openxmlformats.org/drawingml/2006/main">
            <a:off x="400050" y="5391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i="0">
                <a:solidFill>
                  <a:srgbClr val="143A72"/>
                </a:solidFill>
                <a:latin typeface="Helvetica Neue"/>
                <a:ea typeface="Helvetica Neue"/>
                <a:cs typeface="Helvetica Neue"/>
              </a:defRPr>
            </a:pPr>
            <a:r>
              <a:rPr sz="1275" b="1" i="0">
                <a:solidFill>
                  <a:srgbClr val="143A72"/>
                </a:solidFill>
                <a:latin typeface="Helvetica Neue"/>
                <a:ea typeface="Helvetica Neue"/>
                <a:cs typeface="Helvetica Neue"/>
              </a:rPr>
              <a:t>DECISIONS NEEDED NOW</a:t>
            </a:r>
          </a:p>
        </p:txBody>
      </p:sp>
      <p:sp>
        <p:nvSpPr>
          <p:cNvPr id="19" name="">
            <a:extLst xmlns:a="http://schemas.openxmlformats.org/drawingml/2006/main">
              <a:ext uri="{FF2B5EF4-FFF2-40B4-BE49-F238E27FC236}">
                <a16:creationId xmlns:a16="http://schemas.microsoft.com/office/drawing/2014/main" id="{A4DE177A-B7BF-4E9D-8D58-CD72BA2A1A77}"/>
              </a:ext>
            </a:extLst>
          </p:cNvPr>
          <p:cNvSpPr>
            <a:spLocks xmlns:a="http://schemas.openxmlformats.org/drawingml/2006/main" noGrp="1"/>
          </p:cNvSpPr>
          <p:nvPr/>
        </p:nvSpPr>
        <p:spPr>
          <a:xfrm xmlns:a="http://schemas.openxmlformats.org/drawingml/2006/main">
            <a:off x="400050" y="5772150"/>
            <a:ext cx="10934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solver owners  ·  cumulant/history estimators  ·  3D projection + 1D carrier  ·  application observables</a:t>
            </a:r>
          </a:p>
        </p:txBody>
      </p:sp>
    </p:spTree>
    <p:extLst>
      <p:ext uri="{BB962C8B-B14F-4D97-AF65-F5344CB8AC3E}">
        <p14:creationId xmlns:p14="http://schemas.microsoft.com/office/powerpoint/2010/main" val="203404150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9D32CEDA-D12F-4181-96E4-6BF82418D43B}"/>
              </a:ext>
            </a:extLst>
          </p:cNvPr>
          <p:cNvSpPr>
            <a:spLocks xmlns:a="http://schemas.openxmlformats.org/drawingml/2006/main" noGrp="1"/>
          </p:cNvSpPr>
          <p:nvPr/>
        </p:nvSpPr>
        <p:spPr>
          <a:xfrm xmlns:a="http://schemas.openxmlformats.org/drawingml/2006/main">
            <a:off x="400050" y="2381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050" b="1" i="0">
                <a:solidFill>
                  <a:srgbClr val="5B6472"/>
                </a:solidFill>
                <a:latin typeface="Helvetica Neue"/>
                <a:ea typeface="Helvetica Neue"/>
                <a:cs typeface="Helvetica Neue"/>
              </a:defRPr>
            </a:pPr>
            <a:r>
              <a:rPr sz="1050" b="1" i="0">
                <a:solidFill>
                  <a:srgbClr val="5B6472"/>
                </a:solidFill>
                <a:latin typeface="Helvetica Neue"/>
                <a:ea typeface="Helvetica Neue"/>
                <a:cs typeface="Helvetica Neue"/>
              </a:rPr>
              <a:t>TEMPEST MATHEMATICAL CLOSURE + AI/ML</a:t>
            </a:r>
          </a:p>
        </p:txBody>
      </p:sp>
      <p:sp>
        <p:nvSpPr>
          <p:cNvPr id="2" name="">
            <a:extLst xmlns:a="http://schemas.openxmlformats.org/drawingml/2006/main">
              <a:ext uri="{FF2B5EF4-FFF2-40B4-BE49-F238E27FC236}">
                <a16:creationId xmlns:a16="http://schemas.microsoft.com/office/drawing/2014/main" id="{9504C1BF-F03D-42EF-A878-3678AD126E26}"/>
              </a:ext>
            </a:extLst>
          </p:cNvPr>
          <p:cNvSpPr>
            <a:spLocks xmlns:a="http://schemas.openxmlformats.org/drawingml/2006/main" noGrp="1"/>
          </p:cNvSpPr>
          <p:nvPr/>
        </p:nvSpPr>
        <p:spPr>
          <a:xfrm xmlns:a="http://schemas.openxmlformats.org/drawingml/2006/main">
            <a:off x="400050" y="495300"/>
            <a:ext cx="11391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000000"/>
                </a:solidFill>
                <a:latin typeface="Helvetica Neue"/>
                <a:ea typeface="Helvetica Neue"/>
                <a:cs typeface="Helvetica Neue"/>
              </a:defRPr>
            </a:pPr>
            <a:r>
              <a:rPr sz="2925" b="1" i="0">
                <a:solidFill>
                  <a:srgbClr val="000000"/>
                </a:solidFill>
                <a:latin typeface="Helvetica Neue"/>
                <a:ea typeface="Helvetica Neue"/>
                <a:cs typeface="Helvetica Neue"/>
              </a:rPr>
              <a:t>SWOT: explicit strengths and failure modes</a:t>
            </a:r>
          </a:p>
        </p:txBody>
      </p:sp>
      <p:cxnSp>
        <p:nvCxnSpPr>
          <p:cNvPr id="53" name=""/>
          <p:cNvCxnSpPr/>
          <p:nvPr/>
        </p:nvCxnSpPr>
        <p:spPr>
          <a:xfrm xmlns:a="http://schemas.openxmlformats.org/drawingml/2006/main">
            <a:off x="400050" y="11525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A9625694-8253-43C2-B16A-665622BC39C2}"/>
              </a:ext>
            </a:extLst>
          </p:cNvPr>
          <p:cNvSpPr>
            <a:spLocks xmlns:a="http://schemas.openxmlformats.org/drawingml/2006/main" noGrp="1"/>
          </p:cNvSpPr>
          <p:nvPr/>
        </p:nvSpPr>
        <p:spPr>
          <a:xfrm xmlns:a="http://schemas.openxmlformats.org/drawingml/2006/main">
            <a:off x="11258550" y="6429375"/>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buNone/>
              <a:defRPr sz="975" b="0" i="0">
                <a:solidFill>
                  <a:srgbClr val="5B6472"/>
                </a:solidFill>
                <a:latin typeface="Helvetica Neue"/>
                <a:ea typeface="Helvetica Neue"/>
                <a:cs typeface="Helvetica Neue"/>
              </a:defRPr>
            </a:pPr>
            <a:r>
              <a:rPr sz="975" b="0" i="0">
                <a:solidFill>
                  <a:srgbClr val="5B647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A7C7CB54-F1DC-4B7F-BD14-C58576F0A3DF}"/>
              </a:ext>
            </a:extLst>
          </p:cNvPr>
          <p:cNvSpPr>
            <a:spLocks xmlns:a="http://schemas.openxmlformats.org/drawingml/2006/main" noGrp="1"/>
          </p:cNvSpPr>
          <p:nvPr/>
        </p:nvSpPr>
        <p:spPr>
          <a:xfrm xmlns:a="http://schemas.openxmlformats.org/drawingml/2006/main">
            <a:off x="400050" y="1438275"/>
            <a:ext cx="5381625" cy="2171700"/>
          </a:xfrm>
          <a:prstGeom xmlns:a="http://schemas.openxmlformats.org/drawingml/2006/main" prst="rect">
            <a:avLst/>
          </a:prstGeom>
          <a:solidFill xmlns:a="http://schemas.openxmlformats.org/drawingml/2006/main">
            <a:srgbClr val="D0EDFA"/>
          </a:solidFill>
          <a:ln xmlns:a="http://schemas.openxmlformats.org/drawingml/2006/main" w="14288">
            <a:solidFill>
              <a:srgbClr val="143A72"/>
            </a:solidFill>
            <a:prstDash val="solid"/>
          </a:ln>
        </p:spPr>
      </p:sp>
      <p:sp>
        <p:nvSpPr>
          <p:cNvPr id="6" name="">
            <a:extLst xmlns:a="http://schemas.openxmlformats.org/drawingml/2006/main">
              <a:ext uri="{FF2B5EF4-FFF2-40B4-BE49-F238E27FC236}">
                <a16:creationId xmlns:a16="http://schemas.microsoft.com/office/drawing/2014/main" id="{534DD731-5F4A-4E70-9282-C440F05DC7CC}"/>
              </a:ext>
            </a:extLst>
          </p:cNvPr>
          <p:cNvSpPr>
            <a:spLocks xmlns:a="http://schemas.openxmlformats.org/drawingml/2006/main" noGrp="1"/>
          </p:cNvSpPr>
          <p:nvPr/>
        </p:nvSpPr>
        <p:spPr>
          <a:xfrm xmlns:a="http://schemas.openxmlformats.org/drawingml/2006/main">
            <a:off x="628650" y="1619250"/>
            <a:ext cx="49244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143A72"/>
                </a:solidFill>
                <a:latin typeface="Helvetica Neue"/>
                <a:ea typeface="Helvetica Neue"/>
                <a:cs typeface="Helvetica Neue"/>
              </a:defRPr>
            </a:pPr>
            <a:r>
              <a:rPr sz="1350" b="1" i="0">
                <a:solidFill>
                  <a:srgbClr val="143A72"/>
                </a:solidFill>
                <a:latin typeface="Helvetica Neue"/>
                <a:ea typeface="Helvetica Neue"/>
                <a:cs typeface="Helvetica Neue"/>
              </a:rPr>
              <a:t>STRENGTHS</a:t>
            </a:r>
          </a:p>
        </p:txBody>
      </p:sp>
      <p:sp>
        <p:nvSpPr>
          <p:cNvPr id="7" name="">
            <a:extLst xmlns:a="http://schemas.openxmlformats.org/drawingml/2006/main">
              <a:ext uri="{FF2B5EF4-FFF2-40B4-BE49-F238E27FC236}">
                <a16:creationId xmlns:a16="http://schemas.microsoft.com/office/drawing/2014/main" id="{CD0B5E21-F38B-4AF9-A90E-E449CCF7D4B3}"/>
              </a:ext>
            </a:extLst>
          </p:cNvPr>
          <p:cNvSpPr>
            <a:spLocks xmlns:a="http://schemas.openxmlformats.org/drawingml/2006/main" noGrp="1"/>
          </p:cNvSpPr>
          <p:nvPr/>
        </p:nvSpPr>
        <p:spPr>
          <a:xfrm xmlns:a="http://schemas.openxmlformats.org/drawingml/2006/main">
            <a:off x="628650" y="20288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143A72"/>
                </a:solidFill>
                <a:latin typeface="Helvetica Neue"/>
                <a:ea typeface="Helvetica Neue"/>
                <a:cs typeface="Helvetica Neue"/>
              </a:defRPr>
            </a:pPr>
            <a:r>
              <a:rPr sz="1425" b="1" i="0">
                <a:solidFill>
                  <a:srgbClr val="143A72"/>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D210A988-4EFE-476E-86E8-76BB123329B2}"/>
              </a:ext>
            </a:extLst>
          </p:cNvPr>
          <p:cNvSpPr>
            <a:spLocks xmlns:a="http://schemas.openxmlformats.org/drawingml/2006/main" noGrp="1"/>
          </p:cNvSpPr>
          <p:nvPr/>
        </p:nvSpPr>
        <p:spPr>
          <a:xfrm xmlns:a="http://schemas.openxmlformats.org/drawingml/2006/main">
            <a:off x="914400" y="2028825"/>
            <a:ext cx="4638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One question across scales</a:t>
            </a:r>
          </a:p>
        </p:txBody>
      </p:sp>
      <p:sp>
        <p:nvSpPr>
          <p:cNvPr id="9" name="">
            <a:extLst xmlns:a="http://schemas.openxmlformats.org/drawingml/2006/main">
              <a:ext uri="{FF2B5EF4-FFF2-40B4-BE49-F238E27FC236}">
                <a16:creationId xmlns:a16="http://schemas.microsoft.com/office/drawing/2014/main" id="{B8CA1809-C29D-4648-B895-1C08FA3A35B2}"/>
              </a:ext>
            </a:extLst>
          </p:cNvPr>
          <p:cNvSpPr>
            <a:spLocks xmlns:a="http://schemas.openxmlformats.org/drawingml/2006/main" noGrp="1"/>
          </p:cNvSpPr>
          <p:nvPr/>
        </p:nvSpPr>
        <p:spPr>
          <a:xfrm xmlns:a="http://schemas.openxmlformats.org/drawingml/2006/main">
            <a:off x="628650" y="24003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143A72"/>
                </a:solidFill>
                <a:latin typeface="Helvetica Neue"/>
                <a:ea typeface="Helvetica Neue"/>
                <a:cs typeface="Helvetica Neue"/>
              </a:defRPr>
            </a:pPr>
            <a:r>
              <a:rPr sz="1425" b="1" i="0">
                <a:solidFill>
                  <a:srgbClr val="143A72"/>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A1FFF60F-6D9C-4D74-ACA0-C5FD3B44D57D}"/>
              </a:ext>
            </a:extLst>
          </p:cNvPr>
          <p:cNvSpPr>
            <a:spLocks xmlns:a="http://schemas.openxmlformats.org/drawingml/2006/main" noGrp="1"/>
          </p:cNvSpPr>
          <p:nvPr/>
        </p:nvSpPr>
        <p:spPr>
          <a:xfrm xmlns:a="http://schemas.openxmlformats.org/drawingml/2006/main">
            <a:off x="914400" y="2400300"/>
            <a:ext cx="4638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Theorem-faithful anchors</a:t>
            </a:r>
          </a:p>
        </p:txBody>
      </p:sp>
      <p:sp>
        <p:nvSpPr>
          <p:cNvPr id="11" name="">
            <a:extLst xmlns:a="http://schemas.openxmlformats.org/drawingml/2006/main">
              <a:ext uri="{FF2B5EF4-FFF2-40B4-BE49-F238E27FC236}">
                <a16:creationId xmlns:a16="http://schemas.microsoft.com/office/drawing/2014/main" id="{94355720-8371-42EE-89E4-9CDD20507529}"/>
              </a:ext>
            </a:extLst>
          </p:cNvPr>
          <p:cNvSpPr>
            <a:spLocks xmlns:a="http://schemas.openxmlformats.org/drawingml/2006/main" noGrp="1"/>
          </p:cNvSpPr>
          <p:nvPr/>
        </p:nvSpPr>
        <p:spPr>
          <a:xfrm xmlns:a="http://schemas.openxmlformats.org/drawingml/2006/main">
            <a:off x="628650" y="27717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143A72"/>
                </a:solidFill>
                <a:latin typeface="Helvetica Neue"/>
                <a:ea typeface="Helvetica Neue"/>
                <a:cs typeface="Helvetica Neue"/>
              </a:defRPr>
            </a:pPr>
            <a:r>
              <a:rPr sz="1425" b="1" i="0">
                <a:solidFill>
                  <a:srgbClr val="143A72"/>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4E4BD9A5-EE0F-42BD-A26F-9F74E898F3F9}"/>
              </a:ext>
            </a:extLst>
          </p:cNvPr>
          <p:cNvSpPr>
            <a:spLocks xmlns:a="http://schemas.openxmlformats.org/drawingml/2006/main" noGrp="1"/>
          </p:cNvSpPr>
          <p:nvPr/>
        </p:nvSpPr>
        <p:spPr>
          <a:xfrm xmlns:a="http://schemas.openxmlformats.org/drawingml/2006/main">
            <a:off x="914400" y="2771775"/>
            <a:ext cx="4638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Fair, reusable evaluation harness</a:t>
            </a:r>
          </a:p>
        </p:txBody>
      </p:sp>
      <p:sp>
        <p:nvSpPr>
          <p:cNvPr id="13" name="">
            <a:extLst xmlns:a="http://schemas.openxmlformats.org/drawingml/2006/main">
              <a:ext uri="{FF2B5EF4-FFF2-40B4-BE49-F238E27FC236}">
                <a16:creationId xmlns:a16="http://schemas.microsoft.com/office/drawing/2014/main" id="{C6D396FE-0369-4DBE-B4A8-AF2FF70F8CF8}"/>
              </a:ext>
            </a:extLst>
          </p:cNvPr>
          <p:cNvSpPr>
            <a:spLocks xmlns:a="http://schemas.openxmlformats.org/drawingml/2006/main" noGrp="1"/>
          </p:cNvSpPr>
          <p:nvPr/>
        </p:nvSpPr>
        <p:spPr>
          <a:xfrm xmlns:a="http://schemas.openxmlformats.org/drawingml/2006/main">
            <a:off x="628650" y="31432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143A72"/>
                </a:solidFill>
                <a:latin typeface="Helvetica Neue"/>
                <a:ea typeface="Helvetica Neue"/>
                <a:cs typeface="Helvetica Neue"/>
              </a:defRPr>
            </a:pPr>
            <a:r>
              <a:rPr sz="1425" b="1" i="0">
                <a:solidFill>
                  <a:srgbClr val="143A72"/>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9E303DCE-1593-4063-97BD-5A119CF3E6B5}"/>
              </a:ext>
            </a:extLst>
          </p:cNvPr>
          <p:cNvSpPr>
            <a:spLocks xmlns:a="http://schemas.openxmlformats.org/drawingml/2006/main" noGrp="1"/>
          </p:cNvSpPr>
          <p:nvPr/>
        </p:nvSpPr>
        <p:spPr>
          <a:xfrm xmlns:a="http://schemas.openxmlformats.org/drawingml/2006/main">
            <a:off x="914400" y="3143250"/>
            <a:ext cx="4638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Negative results remain informative</a:t>
            </a:r>
          </a:p>
        </p:txBody>
      </p:sp>
      <p:sp>
        <p:nvSpPr>
          <p:cNvPr id="15" name="">
            <a:extLst xmlns:a="http://schemas.openxmlformats.org/drawingml/2006/main">
              <a:ext uri="{FF2B5EF4-FFF2-40B4-BE49-F238E27FC236}">
                <a16:creationId xmlns:a16="http://schemas.microsoft.com/office/drawing/2014/main" id="{967D25A3-E4CE-43D1-8FB3-80895925EB3D}"/>
              </a:ext>
            </a:extLst>
          </p:cNvPr>
          <p:cNvSpPr>
            <a:spLocks xmlns:a="http://schemas.openxmlformats.org/drawingml/2006/main" noGrp="1"/>
          </p:cNvSpPr>
          <p:nvPr/>
        </p:nvSpPr>
        <p:spPr>
          <a:xfrm xmlns:a="http://schemas.openxmlformats.org/drawingml/2006/main">
            <a:off x="6010275" y="1438275"/>
            <a:ext cx="5781675" cy="2171700"/>
          </a:xfrm>
          <a:prstGeom xmlns:a="http://schemas.openxmlformats.org/drawingml/2006/main" prst="rect">
            <a:avLst/>
          </a:prstGeom>
          <a:solidFill xmlns:a="http://schemas.openxmlformats.org/drawingml/2006/main">
            <a:srgbClr val="FCE6DE"/>
          </a:solidFill>
          <a:ln xmlns:a="http://schemas.openxmlformats.org/drawingml/2006/main" w="14288">
            <a:solidFill>
              <a:srgbClr val="B83A3A"/>
            </a:solidFill>
            <a:prstDash val="solid"/>
          </a:ln>
        </p:spPr>
      </p:sp>
      <p:sp>
        <p:nvSpPr>
          <p:cNvPr id="16" name="">
            <a:extLst xmlns:a="http://schemas.openxmlformats.org/drawingml/2006/main">
              <a:ext uri="{FF2B5EF4-FFF2-40B4-BE49-F238E27FC236}">
                <a16:creationId xmlns:a16="http://schemas.microsoft.com/office/drawing/2014/main" id="{3DEA2E54-11FE-401F-BF27-8F5940BD23C2}"/>
              </a:ext>
            </a:extLst>
          </p:cNvPr>
          <p:cNvSpPr>
            <a:spLocks xmlns:a="http://schemas.openxmlformats.org/drawingml/2006/main" noGrp="1"/>
          </p:cNvSpPr>
          <p:nvPr/>
        </p:nvSpPr>
        <p:spPr>
          <a:xfrm xmlns:a="http://schemas.openxmlformats.org/drawingml/2006/main">
            <a:off x="6238875" y="1619250"/>
            <a:ext cx="5324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B83A3A"/>
                </a:solidFill>
                <a:latin typeface="Helvetica Neue"/>
                <a:ea typeface="Helvetica Neue"/>
                <a:cs typeface="Helvetica Neue"/>
              </a:defRPr>
            </a:pPr>
            <a:r>
              <a:rPr sz="1350" b="1" i="0">
                <a:solidFill>
                  <a:srgbClr val="B83A3A"/>
                </a:solidFill>
                <a:latin typeface="Helvetica Neue"/>
                <a:ea typeface="Helvetica Neue"/>
                <a:cs typeface="Helvetica Neue"/>
              </a:rPr>
              <a:t>WEAKNESSES</a:t>
            </a:r>
          </a:p>
        </p:txBody>
      </p:sp>
      <p:sp>
        <p:nvSpPr>
          <p:cNvPr id="17" name="">
            <a:extLst xmlns:a="http://schemas.openxmlformats.org/drawingml/2006/main">
              <a:ext uri="{FF2B5EF4-FFF2-40B4-BE49-F238E27FC236}">
                <a16:creationId xmlns:a16="http://schemas.microsoft.com/office/drawing/2014/main" id="{1658A8C9-A79C-45C7-A3B8-E66FABEFA649}"/>
              </a:ext>
            </a:extLst>
          </p:cNvPr>
          <p:cNvSpPr>
            <a:spLocks xmlns:a="http://schemas.openxmlformats.org/drawingml/2006/main" noGrp="1"/>
          </p:cNvSpPr>
          <p:nvPr/>
        </p:nvSpPr>
        <p:spPr>
          <a:xfrm xmlns:a="http://schemas.openxmlformats.org/drawingml/2006/main">
            <a:off x="6238875" y="20288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B83A3A"/>
                </a:solidFill>
                <a:latin typeface="Helvetica Neue"/>
                <a:ea typeface="Helvetica Neue"/>
                <a:cs typeface="Helvetica Neue"/>
              </a:defRPr>
            </a:pPr>
            <a:r>
              <a:rPr sz="1425" b="1" i="0">
                <a:solidFill>
                  <a:srgbClr val="B83A3A"/>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73C19F98-F800-4826-AB05-C3B076772DB6}"/>
              </a:ext>
            </a:extLst>
          </p:cNvPr>
          <p:cNvSpPr>
            <a:spLocks xmlns:a="http://schemas.openxmlformats.org/drawingml/2006/main" noGrp="1"/>
          </p:cNvSpPr>
          <p:nvPr/>
        </p:nvSpPr>
        <p:spPr>
          <a:xfrm xmlns:a="http://schemas.openxmlformats.org/drawingml/2006/main">
            <a:off x="6524625" y="2028825"/>
            <a:ext cx="5038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Many solvers and ensemble costs</a:t>
            </a:r>
          </a:p>
        </p:txBody>
      </p:sp>
      <p:sp>
        <p:nvSpPr>
          <p:cNvPr id="19" name="">
            <a:extLst xmlns:a="http://schemas.openxmlformats.org/drawingml/2006/main">
              <a:ext uri="{FF2B5EF4-FFF2-40B4-BE49-F238E27FC236}">
                <a16:creationId xmlns:a16="http://schemas.microsoft.com/office/drawing/2014/main" id="{F1099F69-A3C1-4EDE-AE49-D8D814A72DF0}"/>
              </a:ext>
            </a:extLst>
          </p:cNvPr>
          <p:cNvSpPr>
            <a:spLocks xmlns:a="http://schemas.openxmlformats.org/drawingml/2006/main" noGrp="1"/>
          </p:cNvSpPr>
          <p:nvPr/>
        </p:nvSpPr>
        <p:spPr>
          <a:xfrm xmlns:a="http://schemas.openxmlformats.org/drawingml/2006/main">
            <a:off x="6238875" y="24003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B83A3A"/>
                </a:solidFill>
                <a:latin typeface="Helvetica Neue"/>
                <a:ea typeface="Helvetica Neue"/>
                <a:cs typeface="Helvetica Neue"/>
              </a:defRPr>
            </a:pPr>
            <a:r>
              <a:rPr sz="1425" b="1" i="0">
                <a:solidFill>
                  <a:srgbClr val="B83A3A"/>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79BB09B8-C6B1-4D83-8DB7-1B61EFDE5D21}"/>
              </a:ext>
            </a:extLst>
          </p:cNvPr>
          <p:cNvSpPr>
            <a:spLocks xmlns:a="http://schemas.openxmlformats.org/drawingml/2006/main" noGrp="1"/>
          </p:cNvSpPr>
          <p:nvPr/>
        </p:nvSpPr>
        <p:spPr>
          <a:xfrm xmlns:a="http://schemas.openxmlformats.org/drawingml/2006/main">
            <a:off x="6524625" y="2400300"/>
            <a:ext cx="5038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Cumulant sample complexity</a:t>
            </a:r>
          </a:p>
        </p:txBody>
      </p:sp>
      <p:sp>
        <p:nvSpPr>
          <p:cNvPr id="21" name="">
            <a:extLst xmlns:a="http://schemas.openxmlformats.org/drawingml/2006/main">
              <a:ext uri="{FF2B5EF4-FFF2-40B4-BE49-F238E27FC236}">
                <a16:creationId xmlns:a16="http://schemas.microsoft.com/office/drawing/2014/main" id="{B5BC5BC8-668B-4DAE-8F8C-168EEBEE9B2C}"/>
              </a:ext>
            </a:extLst>
          </p:cNvPr>
          <p:cNvSpPr>
            <a:spLocks xmlns:a="http://schemas.openxmlformats.org/drawingml/2006/main" noGrp="1"/>
          </p:cNvSpPr>
          <p:nvPr/>
        </p:nvSpPr>
        <p:spPr>
          <a:xfrm xmlns:a="http://schemas.openxmlformats.org/drawingml/2006/main">
            <a:off x="6238875" y="27717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B83A3A"/>
                </a:solidFill>
                <a:latin typeface="Helvetica Neue"/>
                <a:ea typeface="Helvetica Neue"/>
                <a:cs typeface="Helvetica Neue"/>
              </a:defRPr>
            </a:pPr>
            <a:r>
              <a:rPr sz="1425" b="1" i="0">
                <a:solidFill>
                  <a:srgbClr val="B83A3A"/>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6848856B-8D1D-45B1-8166-46EEF5DDFA82}"/>
              </a:ext>
            </a:extLst>
          </p:cNvPr>
          <p:cNvSpPr>
            <a:spLocks xmlns:a="http://schemas.openxmlformats.org/drawingml/2006/main" noGrp="1"/>
          </p:cNvSpPr>
          <p:nvPr/>
        </p:nvSpPr>
        <p:spPr>
          <a:xfrm xmlns:a="http://schemas.openxmlformats.org/drawingml/2006/main">
            <a:off x="6524625" y="2771775"/>
            <a:ext cx="5038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Estimator-sensitive closure targets</a:t>
            </a:r>
          </a:p>
        </p:txBody>
      </p:sp>
      <p:sp>
        <p:nvSpPr>
          <p:cNvPr id="23" name="">
            <a:extLst xmlns:a="http://schemas.openxmlformats.org/drawingml/2006/main">
              <a:ext uri="{FF2B5EF4-FFF2-40B4-BE49-F238E27FC236}">
                <a16:creationId xmlns:a16="http://schemas.microsoft.com/office/drawing/2014/main" id="{8F805F8A-E35B-4D28-8278-114E703A49D7}"/>
              </a:ext>
            </a:extLst>
          </p:cNvPr>
          <p:cNvSpPr>
            <a:spLocks xmlns:a="http://schemas.openxmlformats.org/drawingml/2006/main" noGrp="1"/>
          </p:cNvSpPr>
          <p:nvPr/>
        </p:nvSpPr>
        <p:spPr>
          <a:xfrm xmlns:a="http://schemas.openxmlformats.org/drawingml/2006/main">
            <a:off x="6238875" y="31432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B83A3A"/>
                </a:solidFill>
                <a:latin typeface="Helvetica Neue"/>
                <a:ea typeface="Helvetica Neue"/>
                <a:cs typeface="Helvetica Neue"/>
              </a:defRPr>
            </a:pPr>
            <a:r>
              <a:rPr sz="1425" b="1" i="0">
                <a:solidFill>
                  <a:srgbClr val="B83A3A"/>
                </a:solidFill>
                <a:latin typeface="Helvetica Neue"/>
                <a:ea typeface="Helvetica Neue"/>
                <a:cs typeface="Helvetica Neue"/>
              </a:rPr>
              <a:t>•</a:t>
            </a:r>
          </a:p>
        </p:txBody>
      </p:sp>
      <p:sp>
        <p:nvSpPr>
          <p:cNvPr id="24" name="">
            <a:extLst xmlns:a="http://schemas.openxmlformats.org/drawingml/2006/main">
              <a:ext uri="{FF2B5EF4-FFF2-40B4-BE49-F238E27FC236}">
                <a16:creationId xmlns:a16="http://schemas.microsoft.com/office/drawing/2014/main" id="{BFB19230-D880-4360-8928-5AA0D5A75581}"/>
              </a:ext>
            </a:extLst>
          </p:cNvPr>
          <p:cNvSpPr>
            <a:spLocks xmlns:a="http://schemas.openxmlformats.org/drawingml/2006/main" noGrp="1"/>
          </p:cNvSpPr>
          <p:nvPr/>
        </p:nvSpPr>
        <p:spPr>
          <a:xfrm xmlns:a="http://schemas.openxmlformats.org/drawingml/2006/main">
            <a:off x="6524625" y="3143250"/>
            <a:ext cx="5038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Heavy cross-disciplinary coordination</a:t>
            </a:r>
          </a:p>
        </p:txBody>
      </p:sp>
      <p:sp>
        <p:nvSpPr>
          <p:cNvPr id="25" name="">
            <a:extLst xmlns:a="http://schemas.openxmlformats.org/drawingml/2006/main">
              <a:ext uri="{FF2B5EF4-FFF2-40B4-BE49-F238E27FC236}">
                <a16:creationId xmlns:a16="http://schemas.microsoft.com/office/drawing/2014/main" id="{94C1A9B1-BFE5-4B30-BEF5-1371D35D7D84}"/>
              </a:ext>
            </a:extLst>
          </p:cNvPr>
          <p:cNvSpPr>
            <a:spLocks xmlns:a="http://schemas.openxmlformats.org/drawingml/2006/main" noGrp="1"/>
          </p:cNvSpPr>
          <p:nvPr/>
        </p:nvSpPr>
        <p:spPr>
          <a:xfrm xmlns:a="http://schemas.openxmlformats.org/drawingml/2006/main">
            <a:off x="400050" y="3838575"/>
            <a:ext cx="5381625" cy="2171700"/>
          </a:xfrm>
          <a:prstGeom xmlns:a="http://schemas.openxmlformats.org/drawingml/2006/main" prst="rect">
            <a:avLst/>
          </a:prstGeom>
          <a:solidFill xmlns:a="http://schemas.openxmlformats.org/drawingml/2006/main">
            <a:srgbClr val="DCF6F5"/>
          </a:solidFill>
          <a:ln xmlns:a="http://schemas.openxmlformats.org/drawingml/2006/main" w="14288">
            <a:solidFill>
              <a:srgbClr val="247A55"/>
            </a:solidFill>
            <a:prstDash val="solid"/>
          </a:ln>
        </p:spPr>
      </p:sp>
      <p:sp>
        <p:nvSpPr>
          <p:cNvPr id="26" name="">
            <a:extLst xmlns:a="http://schemas.openxmlformats.org/drawingml/2006/main">
              <a:ext uri="{FF2B5EF4-FFF2-40B4-BE49-F238E27FC236}">
                <a16:creationId xmlns:a16="http://schemas.microsoft.com/office/drawing/2014/main" id="{1B42BBB4-6D67-4D06-930C-B249F85C7B5B}"/>
              </a:ext>
            </a:extLst>
          </p:cNvPr>
          <p:cNvSpPr>
            <a:spLocks xmlns:a="http://schemas.openxmlformats.org/drawingml/2006/main" noGrp="1"/>
          </p:cNvSpPr>
          <p:nvPr/>
        </p:nvSpPr>
        <p:spPr>
          <a:xfrm xmlns:a="http://schemas.openxmlformats.org/drawingml/2006/main">
            <a:off x="628650" y="4019550"/>
            <a:ext cx="49244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247A55"/>
                </a:solidFill>
                <a:latin typeface="Helvetica Neue"/>
                <a:ea typeface="Helvetica Neue"/>
                <a:cs typeface="Helvetica Neue"/>
              </a:defRPr>
            </a:pPr>
            <a:r>
              <a:rPr sz="1350" b="1" i="0">
                <a:solidFill>
                  <a:srgbClr val="247A55"/>
                </a:solidFill>
                <a:latin typeface="Helvetica Neue"/>
                <a:ea typeface="Helvetica Neue"/>
                <a:cs typeface="Helvetica Neue"/>
              </a:rPr>
              <a:t>OPPORTUNITIES</a:t>
            </a:r>
          </a:p>
        </p:txBody>
      </p:sp>
      <p:sp>
        <p:nvSpPr>
          <p:cNvPr id="27" name="">
            <a:extLst xmlns:a="http://schemas.openxmlformats.org/drawingml/2006/main">
              <a:ext uri="{FF2B5EF4-FFF2-40B4-BE49-F238E27FC236}">
                <a16:creationId xmlns:a16="http://schemas.microsoft.com/office/drawing/2014/main" id="{9A0B229C-2FDB-4C51-94DC-76C30E9327CF}"/>
              </a:ext>
            </a:extLst>
          </p:cNvPr>
          <p:cNvSpPr>
            <a:spLocks xmlns:a="http://schemas.openxmlformats.org/drawingml/2006/main" noGrp="1"/>
          </p:cNvSpPr>
          <p:nvPr/>
        </p:nvSpPr>
        <p:spPr>
          <a:xfrm xmlns:a="http://schemas.openxmlformats.org/drawingml/2006/main">
            <a:off x="628650" y="44291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247A55"/>
                </a:solidFill>
                <a:latin typeface="Helvetica Neue"/>
                <a:ea typeface="Helvetica Neue"/>
                <a:cs typeface="Helvetica Neue"/>
              </a:defRPr>
            </a:pPr>
            <a:r>
              <a:rPr sz="1425" b="1" i="0">
                <a:solidFill>
                  <a:srgbClr val="247A55"/>
                </a:solidFill>
                <a:latin typeface="Helvetica Neue"/>
                <a:ea typeface="Helvetica Neue"/>
                <a:cs typeface="Helvetica Neue"/>
              </a:rPr>
              <a:t>•</a:t>
            </a:r>
          </a:p>
        </p:txBody>
      </p:sp>
      <p:sp>
        <p:nvSpPr>
          <p:cNvPr id="28" name="">
            <a:extLst xmlns:a="http://schemas.openxmlformats.org/drawingml/2006/main">
              <a:ext uri="{FF2B5EF4-FFF2-40B4-BE49-F238E27FC236}">
                <a16:creationId xmlns:a16="http://schemas.microsoft.com/office/drawing/2014/main" id="{6FE84287-A017-413E-AAE1-EEAE12569CB2}"/>
              </a:ext>
            </a:extLst>
          </p:cNvPr>
          <p:cNvSpPr>
            <a:spLocks xmlns:a="http://schemas.openxmlformats.org/drawingml/2006/main" noGrp="1"/>
          </p:cNvSpPr>
          <p:nvPr/>
        </p:nvSpPr>
        <p:spPr>
          <a:xfrm xmlns:a="http://schemas.openxmlformats.org/drawingml/2006/main">
            <a:off x="914400" y="4429125"/>
            <a:ext cx="4638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Turn analysis into numerics</a:t>
            </a:r>
          </a:p>
        </p:txBody>
      </p:sp>
      <p:sp>
        <p:nvSpPr>
          <p:cNvPr id="29" name="">
            <a:extLst xmlns:a="http://schemas.openxmlformats.org/drawingml/2006/main">
              <a:ext uri="{FF2B5EF4-FFF2-40B4-BE49-F238E27FC236}">
                <a16:creationId xmlns:a16="http://schemas.microsoft.com/office/drawing/2014/main" id="{8B21A968-FF48-4986-864F-1B9EB2129006}"/>
              </a:ext>
            </a:extLst>
          </p:cNvPr>
          <p:cNvSpPr>
            <a:spLocks xmlns:a="http://schemas.openxmlformats.org/drawingml/2006/main" noGrp="1"/>
          </p:cNvSpPr>
          <p:nvPr/>
        </p:nvSpPr>
        <p:spPr>
          <a:xfrm xmlns:a="http://schemas.openxmlformats.org/drawingml/2006/main">
            <a:off x="628650" y="48006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247A55"/>
                </a:solidFill>
                <a:latin typeface="Helvetica Neue"/>
                <a:ea typeface="Helvetica Neue"/>
                <a:cs typeface="Helvetica Neue"/>
              </a:defRPr>
            </a:pPr>
            <a:r>
              <a:rPr sz="1425" b="1" i="0">
                <a:solidFill>
                  <a:srgbClr val="247A55"/>
                </a:solidFill>
                <a:latin typeface="Helvetica Neue"/>
                <a:ea typeface="Helvetica Neue"/>
                <a:cs typeface="Helvetica Neue"/>
              </a:rPr>
              <a:t>•</a:t>
            </a:r>
          </a:p>
        </p:txBody>
      </p:sp>
      <p:sp>
        <p:nvSpPr>
          <p:cNvPr id="30" name="">
            <a:extLst xmlns:a="http://schemas.openxmlformats.org/drawingml/2006/main">
              <a:ext uri="{FF2B5EF4-FFF2-40B4-BE49-F238E27FC236}">
                <a16:creationId xmlns:a16="http://schemas.microsoft.com/office/drawing/2014/main" id="{D684C2C3-78B4-4E84-B3B7-990946587333}"/>
              </a:ext>
            </a:extLst>
          </p:cNvPr>
          <p:cNvSpPr>
            <a:spLocks xmlns:a="http://schemas.openxmlformats.org/drawingml/2006/main" noGrp="1"/>
          </p:cNvSpPr>
          <p:nvPr/>
        </p:nvSpPr>
        <p:spPr>
          <a:xfrm xmlns:a="http://schemas.openxmlformats.org/drawingml/2006/main">
            <a:off x="914400" y="4800600"/>
            <a:ext cx="4638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Reuse across TEMPEST applications</a:t>
            </a:r>
          </a:p>
        </p:txBody>
      </p:sp>
      <p:sp>
        <p:nvSpPr>
          <p:cNvPr id="31" name="">
            <a:extLst xmlns:a="http://schemas.openxmlformats.org/drawingml/2006/main">
              <a:ext uri="{FF2B5EF4-FFF2-40B4-BE49-F238E27FC236}">
                <a16:creationId xmlns:a16="http://schemas.microsoft.com/office/drawing/2014/main" id="{B57100BF-0B77-494D-BCAD-6085DAED8CEB}"/>
              </a:ext>
            </a:extLst>
          </p:cNvPr>
          <p:cNvSpPr>
            <a:spLocks xmlns:a="http://schemas.openxmlformats.org/drawingml/2006/main" noGrp="1"/>
          </p:cNvSpPr>
          <p:nvPr/>
        </p:nvSpPr>
        <p:spPr>
          <a:xfrm xmlns:a="http://schemas.openxmlformats.org/drawingml/2006/main">
            <a:off x="628650" y="51720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247A55"/>
                </a:solidFill>
                <a:latin typeface="Helvetica Neue"/>
                <a:ea typeface="Helvetica Neue"/>
                <a:cs typeface="Helvetica Neue"/>
              </a:defRPr>
            </a:pPr>
            <a:r>
              <a:rPr sz="1425" b="1" i="0">
                <a:solidFill>
                  <a:srgbClr val="247A55"/>
                </a:solidFill>
                <a:latin typeface="Helvetica Neue"/>
                <a:ea typeface="Helvetica Neue"/>
                <a:cs typeface="Helvetica Neue"/>
              </a:rPr>
              <a:t>•</a:t>
            </a:r>
          </a:p>
        </p:txBody>
      </p:sp>
      <p:sp>
        <p:nvSpPr>
          <p:cNvPr id="32" name="">
            <a:extLst xmlns:a="http://schemas.openxmlformats.org/drawingml/2006/main">
              <a:ext uri="{FF2B5EF4-FFF2-40B4-BE49-F238E27FC236}">
                <a16:creationId xmlns:a16="http://schemas.microsoft.com/office/drawing/2014/main" id="{731922A5-F974-4824-9C06-61F055F17B82}"/>
              </a:ext>
            </a:extLst>
          </p:cNvPr>
          <p:cNvSpPr>
            <a:spLocks xmlns:a="http://schemas.openxmlformats.org/drawingml/2006/main" noGrp="1"/>
          </p:cNvSpPr>
          <p:nvPr/>
        </p:nvSpPr>
        <p:spPr>
          <a:xfrm xmlns:a="http://schemas.openxmlformats.org/drawingml/2006/main">
            <a:off x="914400" y="5172075"/>
            <a:ext cx="4638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Dusty-plasma experimental validation</a:t>
            </a:r>
          </a:p>
        </p:txBody>
      </p:sp>
      <p:sp>
        <p:nvSpPr>
          <p:cNvPr id="33" name="">
            <a:extLst xmlns:a="http://schemas.openxmlformats.org/drawingml/2006/main">
              <a:ext uri="{FF2B5EF4-FFF2-40B4-BE49-F238E27FC236}">
                <a16:creationId xmlns:a16="http://schemas.microsoft.com/office/drawing/2014/main" id="{60482C5D-0644-48E5-8C72-ABC2FDA35CB8}"/>
              </a:ext>
            </a:extLst>
          </p:cNvPr>
          <p:cNvSpPr>
            <a:spLocks xmlns:a="http://schemas.openxmlformats.org/drawingml/2006/main" noGrp="1"/>
          </p:cNvSpPr>
          <p:nvPr/>
        </p:nvSpPr>
        <p:spPr>
          <a:xfrm xmlns:a="http://schemas.openxmlformats.org/drawingml/2006/main">
            <a:off x="628650" y="55435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247A55"/>
                </a:solidFill>
                <a:latin typeface="Helvetica Neue"/>
                <a:ea typeface="Helvetica Neue"/>
                <a:cs typeface="Helvetica Neue"/>
              </a:defRPr>
            </a:pPr>
            <a:r>
              <a:rPr sz="1425" b="1" i="0">
                <a:solidFill>
                  <a:srgbClr val="247A55"/>
                </a:solidFill>
                <a:latin typeface="Helvetica Neue"/>
                <a:ea typeface="Helvetica Neue"/>
                <a:cs typeface="Helvetica Neue"/>
              </a:rPr>
              <a:t>•</a:t>
            </a:r>
          </a:p>
        </p:txBody>
      </p:sp>
      <p:sp>
        <p:nvSpPr>
          <p:cNvPr id="34" name="">
            <a:extLst xmlns:a="http://schemas.openxmlformats.org/drawingml/2006/main">
              <a:ext uri="{FF2B5EF4-FFF2-40B4-BE49-F238E27FC236}">
                <a16:creationId xmlns:a16="http://schemas.microsoft.com/office/drawing/2014/main" id="{A34F0DAF-D446-4006-9C80-45906D6C13DC}"/>
              </a:ext>
            </a:extLst>
          </p:cNvPr>
          <p:cNvSpPr>
            <a:spLocks xmlns:a="http://schemas.openxmlformats.org/drawingml/2006/main" noGrp="1"/>
          </p:cNvSpPr>
          <p:nvPr/>
        </p:nvSpPr>
        <p:spPr>
          <a:xfrm xmlns:a="http://schemas.openxmlformats.org/drawingml/2006/main">
            <a:off x="914400" y="5543550"/>
            <a:ext cx="4638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Dusty + supernova cross-validation</a:t>
            </a:r>
          </a:p>
        </p:txBody>
      </p:sp>
      <p:sp>
        <p:nvSpPr>
          <p:cNvPr id="35" name="">
            <a:extLst xmlns:a="http://schemas.openxmlformats.org/drawingml/2006/main">
              <a:ext uri="{FF2B5EF4-FFF2-40B4-BE49-F238E27FC236}">
                <a16:creationId xmlns:a16="http://schemas.microsoft.com/office/drawing/2014/main" id="{8C1751AD-5859-48A6-8AFB-6297B048B79B}"/>
              </a:ext>
            </a:extLst>
          </p:cNvPr>
          <p:cNvSpPr>
            <a:spLocks xmlns:a="http://schemas.openxmlformats.org/drawingml/2006/main" noGrp="1"/>
          </p:cNvSpPr>
          <p:nvPr/>
        </p:nvSpPr>
        <p:spPr>
          <a:xfrm xmlns:a="http://schemas.openxmlformats.org/drawingml/2006/main">
            <a:off x="6010275" y="3838575"/>
            <a:ext cx="5781675" cy="2171700"/>
          </a:xfrm>
          <a:prstGeom xmlns:a="http://schemas.openxmlformats.org/drawingml/2006/main" prst="rect">
            <a:avLst/>
          </a:prstGeom>
          <a:solidFill xmlns:a="http://schemas.openxmlformats.org/drawingml/2006/main">
            <a:srgbClr val="F6F7F8"/>
          </a:solidFill>
          <a:ln xmlns:a="http://schemas.openxmlformats.org/drawingml/2006/main" w="14288">
            <a:solidFill>
              <a:srgbClr val="F06A3C"/>
            </a:solidFill>
            <a:prstDash val="solid"/>
          </a:ln>
        </p:spPr>
      </p:sp>
      <p:sp>
        <p:nvSpPr>
          <p:cNvPr id="36" name="">
            <a:extLst xmlns:a="http://schemas.openxmlformats.org/drawingml/2006/main">
              <a:ext uri="{FF2B5EF4-FFF2-40B4-BE49-F238E27FC236}">
                <a16:creationId xmlns:a16="http://schemas.microsoft.com/office/drawing/2014/main" id="{F41AF32C-E12C-4EC4-A52A-AD9A07ACC995}"/>
              </a:ext>
            </a:extLst>
          </p:cNvPr>
          <p:cNvSpPr>
            <a:spLocks xmlns:a="http://schemas.openxmlformats.org/drawingml/2006/main" noGrp="1"/>
          </p:cNvSpPr>
          <p:nvPr/>
        </p:nvSpPr>
        <p:spPr>
          <a:xfrm xmlns:a="http://schemas.openxmlformats.org/drawingml/2006/main">
            <a:off x="6238875" y="4019550"/>
            <a:ext cx="5324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i="0">
                <a:solidFill>
                  <a:srgbClr val="F06A3C"/>
                </a:solidFill>
                <a:latin typeface="Helvetica Neue"/>
                <a:ea typeface="Helvetica Neue"/>
                <a:cs typeface="Helvetica Neue"/>
              </a:defRPr>
            </a:pPr>
            <a:r>
              <a:rPr sz="1350" b="1" i="0">
                <a:solidFill>
                  <a:srgbClr val="F06A3C"/>
                </a:solidFill>
                <a:latin typeface="Helvetica Neue"/>
                <a:ea typeface="Helvetica Neue"/>
                <a:cs typeface="Helvetica Neue"/>
              </a:rPr>
              <a:t>THREATS</a:t>
            </a:r>
          </a:p>
        </p:txBody>
      </p:sp>
      <p:sp>
        <p:nvSpPr>
          <p:cNvPr id="37" name="">
            <a:extLst xmlns:a="http://schemas.openxmlformats.org/drawingml/2006/main">
              <a:ext uri="{FF2B5EF4-FFF2-40B4-BE49-F238E27FC236}">
                <a16:creationId xmlns:a16="http://schemas.microsoft.com/office/drawing/2014/main" id="{7006013A-5636-4132-8E7F-619967D5D321}"/>
              </a:ext>
            </a:extLst>
          </p:cNvPr>
          <p:cNvSpPr>
            <a:spLocks xmlns:a="http://schemas.openxmlformats.org/drawingml/2006/main" noGrp="1"/>
          </p:cNvSpPr>
          <p:nvPr/>
        </p:nvSpPr>
        <p:spPr>
          <a:xfrm xmlns:a="http://schemas.openxmlformats.org/drawingml/2006/main">
            <a:off x="6238875" y="442912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F06A3C"/>
                </a:solidFill>
                <a:latin typeface="Helvetica Neue"/>
                <a:ea typeface="Helvetica Neue"/>
                <a:cs typeface="Helvetica Neue"/>
              </a:defRPr>
            </a:pPr>
            <a:r>
              <a:rPr sz="1425" b="1" i="0">
                <a:solidFill>
                  <a:srgbClr val="F06A3C"/>
                </a:solidFill>
                <a:latin typeface="Helvetica Neue"/>
                <a:ea typeface="Helvetica Neue"/>
                <a:cs typeface="Helvetica Neue"/>
              </a:rPr>
              <a:t>•</a:t>
            </a:r>
          </a:p>
        </p:txBody>
      </p:sp>
      <p:sp>
        <p:nvSpPr>
          <p:cNvPr id="38" name="">
            <a:extLst xmlns:a="http://schemas.openxmlformats.org/drawingml/2006/main">
              <a:ext uri="{FF2B5EF4-FFF2-40B4-BE49-F238E27FC236}">
                <a16:creationId xmlns:a16="http://schemas.microsoft.com/office/drawing/2014/main" id="{2BC9DAB9-D46A-46D8-B826-73E711B22548}"/>
              </a:ext>
            </a:extLst>
          </p:cNvPr>
          <p:cNvSpPr>
            <a:spLocks xmlns:a="http://schemas.openxmlformats.org/drawingml/2006/main" noGrp="1"/>
          </p:cNvSpPr>
          <p:nvPr/>
        </p:nvSpPr>
        <p:spPr>
          <a:xfrm xmlns:a="http://schemas.openxmlformats.org/drawingml/2006/main">
            <a:off x="6524625" y="4429125"/>
            <a:ext cx="5038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Supernova projection error dominates target</a:t>
            </a:r>
          </a:p>
        </p:txBody>
      </p:sp>
      <p:sp>
        <p:nvSpPr>
          <p:cNvPr id="39" name="">
            <a:extLst xmlns:a="http://schemas.openxmlformats.org/drawingml/2006/main">
              <a:ext uri="{FF2B5EF4-FFF2-40B4-BE49-F238E27FC236}">
                <a16:creationId xmlns:a16="http://schemas.microsoft.com/office/drawing/2014/main" id="{AB0878FB-54A6-4BCA-9098-C1712C7E4BAA}"/>
              </a:ext>
            </a:extLst>
          </p:cNvPr>
          <p:cNvSpPr>
            <a:spLocks xmlns:a="http://schemas.openxmlformats.org/drawingml/2006/main" noGrp="1"/>
          </p:cNvSpPr>
          <p:nvPr/>
        </p:nvSpPr>
        <p:spPr>
          <a:xfrm xmlns:a="http://schemas.openxmlformats.org/drawingml/2006/main">
            <a:off x="6238875" y="480060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F06A3C"/>
                </a:solidFill>
                <a:latin typeface="Helvetica Neue"/>
                <a:ea typeface="Helvetica Neue"/>
                <a:cs typeface="Helvetica Neue"/>
              </a:defRPr>
            </a:pPr>
            <a:r>
              <a:rPr sz="1425" b="1" i="0">
                <a:solidFill>
                  <a:srgbClr val="F06A3C"/>
                </a:solidFill>
                <a:latin typeface="Helvetica Neue"/>
                <a:ea typeface="Helvetica Neue"/>
                <a:cs typeface="Helvetica Neue"/>
              </a:rPr>
              <a:t>•</a:t>
            </a:r>
          </a:p>
        </p:txBody>
      </p:sp>
      <p:sp>
        <p:nvSpPr>
          <p:cNvPr id="40" name="">
            <a:extLst xmlns:a="http://schemas.openxmlformats.org/drawingml/2006/main">
              <a:ext uri="{FF2B5EF4-FFF2-40B4-BE49-F238E27FC236}">
                <a16:creationId xmlns:a16="http://schemas.microsoft.com/office/drawing/2014/main" id="{5F14EB11-DECD-4B4C-BF33-B91463A9EB4F}"/>
              </a:ext>
            </a:extLst>
          </p:cNvPr>
          <p:cNvSpPr>
            <a:spLocks xmlns:a="http://schemas.openxmlformats.org/drawingml/2006/main" noGrp="1"/>
          </p:cNvSpPr>
          <p:nvPr/>
        </p:nvSpPr>
        <p:spPr>
          <a:xfrm xmlns:a="http://schemas.openxmlformats.org/drawingml/2006/main">
            <a:off x="6524625" y="4800600"/>
            <a:ext cx="5038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Pair / memory state not compressible</a:t>
            </a:r>
          </a:p>
        </p:txBody>
      </p:sp>
      <p:sp>
        <p:nvSpPr>
          <p:cNvPr id="41" name="">
            <a:extLst xmlns:a="http://schemas.openxmlformats.org/drawingml/2006/main">
              <a:ext uri="{FF2B5EF4-FFF2-40B4-BE49-F238E27FC236}">
                <a16:creationId xmlns:a16="http://schemas.microsoft.com/office/drawing/2014/main" id="{55E841EC-7831-4471-9B56-B7D48A51C646}"/>
              </a:ext>
            </a:extLst>
          </p:cNvPr>
          <p:cNvSpPr>
            <a:spLocks xmlns:a="http://schemas.openxmlformats.org/drawingml/2006/main" noGrp="1"/>
          </p:cNvSpPr>
          <p:nvPr/>
        </p:nvSpPr>
        <p:spPr>
          <a:xfrm xmlns:a="http://schemas.openxmlformats.org/drawingml/2006/main">
            <a:off x="6238875" y="5172075"/>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F06A3C"/>
                </a:solidFill>
                <a:latin typeface="Helvetica Neue"/>
                <a:ea typeface="Helvetica Neue"/>
                <a:cs typeface="Helvetica Neue"/>
              </a:defRPr>
            </a:pPr>
            <a:r>
              <a:rPr sz="1425" b="1" i="0">
                <a:solidFill>
                  <a:srgbClr val="F06A3C"/>
                </a:solidFill>
                <a:latin typeface="Helvetica Neue"/>
                <a:ea typeface="Helvetica Neue"/>
                <a:cs typeface="Helvetica Neue"/>
              </a:rPr>
              <a:t>•</a:t>
            </a:r>
          </a:p>
        </p:txBody>
      </p:sp>
      <p:sp>
        <p:nvSpPr>
          <p:cNvPr id="42" name="">
            <a:extLst xmlns:a="http://schemas.openxmlformats.org/drawingml/2006/main">
              <a:ext uri="{FF2B5EF4-FFF2-40B4-BE49-F238E27FC236}">
                <a16:creationId xmlns:a16="http://schemas.microsoft.com/office/drawing/2014/main" id="{9D077757-312E-4A47-8203-D989E3AA9553}"/>
              </a:ext>
            </a:extLst>
          </p:cNvPr>
          <p:cNvSpPr>
            <a:spLocks xmlns:a="http://schemas.openxmlformats.org/drawingml/2006/main" noGrp="1"/>
          </p:cNvSpPr>
          <p:nvPr/>
        </p:nvSpPr>
        <p:spPr>
          <a:xfrm xmlns:a="http://schemas.openxmlformats.org/drawingml/2006/main">
            <a:off x="6524625" y="5172075"/>
            <a:ext cx="5038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A-priori gains fail after embedding</a:t>
            </a:r>
          </a:p>
        </p:txBody>
      </p:sp>
      <p:sp>
        <p:nvSpPr>
          <p:cNvPr id="43" name="">
            <a:extLst xmlns:a="http://schemas.openxmlformats.org/drawingml/2006/main">
              <a:ext uri="{FF2B5EF4-FFF2-40B4-BE49-F238E27FC236}">
                <a16:creationId xmlns:a16="http://schemas.microsoft.com/office/drawing/2014/main" id="{212BAEBF-1FEC-48AF-A5A8-9FA6BCE5B8E1}"/>
              </a:ext>
            </a:extLst>
          </p:cNvPr>
          <p:cNvSpPr>
            <a:spLocks xmlns:a="http://schemas.openxmlformats.org/drawingml/2006/main" noGrp="1"/>
          </p:cNvSpPr>
          <p:nvPr/>
        </p:nvSpPr>
        <p:spPr>
          <a:xfrm xmlns:a="http://schemas.openxmlformats.org/drawingml/2006/main">
            <a:off x="6238875" y="55435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i="0">
                <a:solidFill>
                  <a:srgbClr val="F06A3C"/>
                </a:solidFill>
                <a:latin typeface="Helvetica Neue"/>
                <a:ea typeface="Helvetica Neue"/>
                <a:cs typeface="Helvetica Neue"/>
              </a:defRPr>
            </a:pPr>
            <a:r>
              <a:rPr sz="1425" b="1" i="0">
                <a:solidFill>
                  <a:srgbClr val="F06A3C"/>
                </a:solidFill>
                <a:latin typeface="Helvetica Neue"/>
                <a:ea typeface="Helvetica Neue"/>
                <a:cs typeface="Helvetica Neue"/>
              </a:rPr>
              <a:t>•</a:t>
            </a:r>
          </a:p>
        </p:txBody>
      </p:sp>
      <p:sp>
        <p:nvSpPr>
          <p:cNvPr id="44" name="">
            <a:extLst xmlns:a="http://schemas.openxmlformats.org/drawingml/2006/main">
              <a:ext uri="{FF2B5EF4-FFF2-40B4-BE49-F238E27FC236}">
                <a16:creationId xmlns:a16="http://schemas.microsoft.com/office/drawing/2014/main" id="{DDF3CA55-1A17-4C08-B615-8ED57BE70FB9}"/>
              </a:ext>
            </a:extLst>
          </p:cNvPr>
          <p:cNvSpPr>
            <a:spLocks xmlns:a="http://schemas.openxmlformats.org/drawingml/2006/main" noGrp="1"/>
          </p:cNvSpPr>
          <p:nvPr/>
        </p:nvSpPr>
        <p:spPr>
          <a:xfrm xmlns:a="http://schemas.openxmlformats.org/drawingml/2006/main">
            <a:off x="6524625" y="5543550"/>
            <a:ext cx="5038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i="0">
                <a:solidFill>
                  <a:srgbClr val="000000"/>
                </a:solidFill>
                <a:latin typeface="Helvetica Neue"/>
                <a:ea typeface="Helvetica Neue"/>
                <a:cs typeface="Helvetica Neue"/>
              </a:defRPr>
            </a:pPr>
            <a:r>
              <a:rPr sz="1425" b="0" i="0">
                <a:solidFill>
                  <a:srgbClr val="000000"/>
                </a:solidFill>
                <a:latin typeface="Helvetica Neue"/>
                <a:ea typeface="Helvetica Neue"/>
                <a:cs typeface="Helvetica Neue"/>
              </a:rPr>
              <a:t>Application scope outruns the pilot</a:t>
            </a:r>
          </a:p>
        </p:txBody>
      </p:sp>
    </p:spTree>
    <p:extLst>
      <p:ext uri="{BB962C8B-B14F-4D97-AF65-F5344CB8AC3E}">
        <p14:creationId xmlns:p14="http://schemas.microsoft.com/office/powerpoint/2010/main" val="1662650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2026-08-31T17:18:56.5140000Z</dcterms:created>
  <dcterms:modified xsi:type="dcterms:W3CDTF">2026-08-31T17:18:56.5140000Z</dcterms:modified>
</coreProperties>
</file>