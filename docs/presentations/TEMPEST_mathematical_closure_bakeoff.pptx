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project as a computational evaluation harness for closure science: fixed test problems and forcing regimes, one model interface, and uniform accuracy, stability, reliability, and cost metrics. MTF is the first application profile, not the definition of the framework.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docs/PROJECT_BRIEF.md</a:t>
            </a:r>
          </a:p>
          <a:p>
            <a:r>
              <a:t>- docs/benchmark_specification.md</a:t>
            </a:r>
          </a:p>
          <a:p>
            <a:r>
              <a:t>- docs/evaluation_protocol.md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background chapter's unifying move is to classify methods by the mathematical object being approximated and by the information each method receives.</a:t>
            </a:r>
          </a:p>
          <a:p>
            <a:endParaRPr/>
          </a:p>
          <a:p>
            <a:r>
              <a:t>[Sources]</a:t>
            </a:r>
          </a:p>
          <a:p>
            <a:r>
              <a:t>- references/closure_pinns_operators_world_models.pdf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papers are rigorous scale-limit results, not ready-made MTF closures. Their computational value is the organization of discarded correlations, histories, and remainder terms.</a:t>
            </a:r>
          </a:p>
          <a:p>
            <a:endParaRPr/>
          </a:p>
          <a:p>
            <a:r>
              <a:t>[Sources]</a:t>
            </a:r>
          </a:p>
          <a:p>
            <a:r>
              <a:t>- https://arxiv.org/abs/2408.07818</a:t>
            </a:r>
          </a:p>
          <a:p>
            <a:r>
              <a:t>- https://arxiv.org/abs/2503.01800</a:t>
            </a:r>
          </a:p>
          <a:p>
            <a:r>
              <a:t>- https://arxiv.org/abs/2311.10082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canonical results and TEMPEST applications do not share a physical regime. The reusable object is the diagnostic and evaluation harness. Each application replaces the equations, state, scalings, constraints, architecture, and trained coefficients.</a:t>
            </a:r>
          </a:p>
          <a:p>
            <a:endParaRPr/>
          </a:p>
          <a:p>
            <a:r>
              <a:t>[Sources]</a:t>
            </a:r>
          </a:p>
          <a:p>
            <a:r>
              <a:t>- docs/mathematical_closure_program.md</a:t>
            </a:r>
          </a:p>
          <a:p>
            <a:r>
              <a:t>- docs/benchmark_specification.md</a:t>
            </a:r>
          </a:p>
          <a:p>
            <a:r>
              <a:t>- docs/evaluation_protocol.md</a:t>
            </a:r>
          </a:p>
          <a:p>
            <a:r>
              <a:t>- https://arxiv.org/abs/2408.07818</a:t>
            </a:r>
          </a:p>
          <a:p>
            <a:r>
              <a:t>- https://arxiv.org/abs/2503.01800</a:t>
            </a:r>
          </a:p>
          <a:p>
            <a:r>
              <a:t>- https://arxiv.org/abs/2311.10082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Detectability, compressibility, finite memory, and transfer become uniform tests in the harness. Failure of any hypothesis is a scientific result, not a reason to discard a run.</a:t>
            </a:r>
          </a:p>
          <a:p>
            <a:endParaRPr/>
          </a:p>
          <a:p>
            <a:r>
              <a:t>[Sources]</a:t>
            </a:r>
          </a:p>
          <a:p>
            <a:r>
              <a:t>- docs/mathematical_closure_program.md</a:t>
            </a:r>
          </a:p>
          <a:p>
            <a:r>
              <a:t>- docs/benchmark_specification.md</a:t>
            </a:r>
          </a:p>
          <a:p>
            <a:r>
              <a:t>- docs/evaluation_protocol.md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computational evaluation harness: a fixed suite of problems and forcing regimes, a common interface for analytic, learned, and hybrid closures, and a standardized battery of accuracy, stability, reliability, structure, and cost metrics. Data handling, integration, scoring, and report generation remain shared scaffolding.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docs/PROJECT_BRIEF.md</a:t>
            </a:r>
          </a:p>
          <a:p>
            <a:r>
              <a:t>- docs/benchmark_specification.md</a:t>
            </a:r>
          </a:p>
          <a:p>
            <a:r>
              <a:t>- docs/evaluation_protocol.md</a:t>
            </a:r>
          </a:p>
          <a:p>
            <a:r>
              <a:t>- docs/DECISIONS.md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shared harness makes fairness an engineering property rather than a promise. Every result records equation access, data, online state, solver calls, actions, observables, compute, and failures.</a:t>
            </a:r>
          </a:p>
          <a:p>
            <a:endParaRPr/>
          </a:p>
          <a:p>
            <a:r>
              <a:t>[Sources]</a:t>
            </a:r>
          </a:p>
          <a:p>
            <a:r>
              <a:t>- docs/information_budgets.md</a:t>
            </a:r>
          </a:p>
          <a:p>
            <a:r>
              <a:t>- docs/evaluation_protocol.md</a:t>
            </a:r>
          </a:p>
          <a:p>
            <a:r>
              <a:t>- docs/DECISIONS.md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evaluation harness transfers across applications; the physical model does not. Each application supplies a physics map that replaces equations, state, scalings, constraints, observables, architecture, and coefficients before the science test.</a:t>
            </a:r>
          </a:p>
          <a:p>
            <a:endParaRPr/>
          </a:p>
          <a:p>
            <a:r>
              <a:t>[Sources]</a:t>
            </a:r>
          </a:p>
          <a:p>
            <a:r>
              <a:t>- docs/PROJECT_BRIEF.md</a:t>
            </a:r>
          </a:p>
          <a:p>
            <a:r>
              <a:t>- docs/mathematical_closure_program.md</a:t>
            </a:r>
          </a:p>
          <a:p>
            <a:r>
              <a:t>- docs/benchmark_specification.md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MTF is Application Profile 1. The shared harness supplies data handling, integration, scoring, and provenance; the MTF physics map supplies the 1D2V kinetic reference, Braginskii carrier, nonlocal heat-flux target, constraints, and design observable.</a:t>
            </a:r>
          </a:p>
          <a:p>
            <a:endParaRPr/>
          </a:p>
          <a:p>
            <a:r>
              <a:t>[Sources]</a:t>
            </a:r>
          </a:p>
          <a:p>
            <a:r>
              <a:t>- references/TEMPEST_Line_of_Sight_to_Magnetic_Target_Fusion_Andrew.pdf, pages 8-10</a:t>
            </a:r>
          </a:p>
          <a:p>
            <a:r>
              <a:t>- references/TEMPEST_proposal.pdf</a:t>
            </a:r>
          </a:p>
          <a:p>
            <a:r>
              <a:t>- docs/benchmark_options_memo.md</a:t>
            </a:r>
          </a:p>
          <a:p>
            <a:r>
              <a:t>- docs/benchmark_specification.md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CE3B75CF-FE46-407C-8FD4-C6FEBB565ED3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mathematical closure
bake-off for TEMPEST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BBBE6303-0F3C-4510-B4D9-5333F568E532}"/>
              </a:ext>
            </a:extLst>
          </p:cNvPr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computational evaluation harness for analytic, learned, and hybrid closures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14C8259A-4289-48C6-B6E0-2A13B44E472F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TEMPEST DESIGN DISCUSSION</a:t>
            </a:r>
          </a:p>
        </p:txBody>
      </p:sp>
    </p:spTree>
    <p:extLst>
      <p:ext uri="{BB962C8B-B14F-4D97-AF65-F5344CB8AC3E}">
        <p14:creationId xmlns:p14="http://schemas.microsoft.com/office/powerpoint/2010/main" val="69349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-Shape-532-p58-2">
            <a:extLst>
              <a:ext uri="{FF2B5EF4-FFF2-40B4-BE49-F238E27FC236}">
                <a16:creationId xmlns:a16="http://schemas.microsoft.com/office/drawing/2014/main" id="{F0077BDA-1FBE-4965-953A-0A7B27F70DF1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17DE416B-BA4B-4D9A-B9CA-141F0038D7D7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First ask: what mathematical object does the method learn?</a:t>
            </a:r>
            <a:endParaRPr lang="en-US" sz="29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(Methods = PINNs, neural ops, ROD, neural ODEs, world models, etc.</a:t>
            </a:r>
            <a:r>
              <a:rPr lang="en-US" sz="29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)</a:t>
            </a:r>
            <a:endParaRPr sz="29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Google-Shape-534-p58-4">
            <a:extLst>
              <a:ext uri="{FF2B5EF4-FFF2-40B4-BE49-F238E27FC236}">
                <a16:creationId xmlns:a16="http://schemas.microsoft.com/office/drawing/2014/main" id="{6C8B2E50-B1F8-409F-9DBD-C88CC7F2FD8F}"/>
              </a:ext>
            </a:extLst>
          </p:cNvPr>
          <p:cNvSpPr>
            <a:spLocks noGrp="1"/>
          </p:cNvSpPr>
          <p:nvPr/>
        </p:nvSpPr>
        <p:spPr>
          <a:xfrm>
            <a:off x="393668" y="3365468"/>
            <a:ext cx="3568732" cy="2628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solution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PINN
One PDE instance from residuals, conditions, and optional observations.</a:t>
            </a:r>
          </a:p>
        </p:txBody>
      </p:sp>
      <p:sp>
        <p:nvSpPr>
          <p:cNvPr id="4" name="Content-Placeholder-1-5">
            <a:extLst>
              <a:ext uri="{FF2B5EF4-FFF2-40B4-BE49-F238E27FC236}">
                <a16:creationId xmlns:a16="http://schemas.microsoft.com/office/drawing/2014/main" id="{998099F7-40CD-480E-B98E-311E93411E52}"/>
              </a:ext>
            </a:extLst>
          </p:cNvPr>
          <p:cNvSpPr>
            <a:spLocks noGrp="1"/>
          </p:cNvSpPr>
          <p:nvPr/>
        </p:nvSpPr>
        <p:spPr>
          <a:xfrm>
            <a:off x="8229600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Reduced dynamics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Closure / neural ODE / world model
A closure, vector field, flow map, memory state, or controlled simulator.</a:t>
            </a:r>
          </a:p>
        </p:txBody>
      </p:sp>
      <p:sp>
        <p:nvSpPr>
          <p:cNvPr id="5" name="Content-Placeholder-2-6">
            <a:extLst>
              <a:ext uri="{FF2B5EF4-FFF2-40B4-BE49-F238E27FC236}">
                <a16:creationId xmlns:a16="http://schemas.microsoft.com/office/drawing/2014/main" id="{167CFD0A-1CFB-404E-8CED-20464B60D792}"/>
              </a:ext>
            </a:extLst>
          </p:cNvPr>
          <p:cNvSpPr>
            <a:spLocks noGrp="1"/>
          </p:cNvSpPr>
          <p:nvPr/>
        </p:nvSpPr>
        <p:spPr>
          <a:xfrm>
            <a:off x="4311682" y="3365468"/>
            <a:ext cx="3568732" cy="26289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solution operator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Neural operator / PINO
A family of solution maps from paired simulations, optionally with residuals.</a:t>
            </a:r>
          </a:p>
        </p:txBody>
      </p:sp>
    </p:spTree>
    <p:extLst>
      <p:ext uri="{BB962C8B-B14F-4D97-AF65-F5344CB8AC3E}">
        <p14:creationId xmlns:p14="http://schemas.microsoft.com/office/powerpoint/2010/main" val="97297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D615700D-9525-4F56-A442-29AFC209424A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FE555C48-D365-4573-95E0-E0D82CEFEE1E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Mathematical work/theory to</a:t>
            </a: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organize the discarded information</a:t>
            </a:r>
            <a:endParaRPr lang="en-US" sz="29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(Currently using Hani, et al. to rigorously define and prove these triple closures)</a:t>
            </a:r>
            <a:endParaRPr sz="16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cxnSp>
        <p:nvCxnSpPr>
          <p:cNvPr id="27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CFE178FB-D281-4B3B-993B-7257F68ED3BE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0CFC1567-F0E2-4DB1-BACA-637654D2D015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3CD14D0F-2956-499F-A6D5-7EEB0E760204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21422905-B319-42ED-A133-2411920187F2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PARTICLE -&gt; KINETIC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F9BD04CB-4F00-473E-88DC-777D34659D76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KINETIC -&gt; FLUID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73FB781D-8700-41E4-9EC3-DF5368320ACA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WAVE -&gt; KINETIC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5831CCAC-0EA8-4331-BC31-42DF6D03BC2F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Boltzmann -&gt; fluid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One linked limit tracks error across both reductions.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6CDE61ED-143E-4C9A-836A-BDA5D67917CB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 spheres -&gt; Boltzmann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Collision cumulants encode connected recollisions.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2E24386E-5B50-4E60-B64B-BF6D233EECBA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NLS -&gt; WKE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Spectral cumulants and layered gardens encode resonant history.</a:t>
            </a:r>
          </a:p>
        </p:txBody>
      </p:sp>
    </p:spTree>
    <p:extLst>
      <p:ext uri="{BB962C8B-B14F-4D97-AF65-F5344CB8AC3E}">
        <p14:creationId xmlns:p14="http://schemas.microsoft.com/office/powerpoint/2010/main" val="1539845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Number-Placeholder-1-2">
            <a:extLst>
              <a:ext uri="{FF2B5EF4-FFF2-40B4-BE49-F238E27FC236}">
                <a16:creationId xmlns:a16="http://schemas.microsoft.com/office/drawing/2014/main" id="{29C0627B-A1E0-4148-A68C-AA6E84C7A5D6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8224CC7A-F6D5-41EC-B5C2-20BC598B7AD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Transfer the diagnostics</a:t>
            </a:r>
            <a:r>
              <a:rPr lang="en-US"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of Hani, et al.</a:t>
            </a: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—not the physics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DFDE7027-2009-4805-A57D-6D475B4B3344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Controlled scaling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Dilute particles or weak waves admit a clean small parameter and a provable limit.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9C315E4A-D0B2-4736-9B21-0F54D8C5423B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Idealized structure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Controlled geometry and interactions make discarded cumulants asymptotically small.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67536361-A59D-4ADC-9875-BE9ED916070E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TEMPEST physics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Magnetized, driven, bounded multiphysics adds long-range forces, shocks, interfaces, and nonlocal transport.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55AD244D-6B8E-45E3-833A-214F819B0014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Closure failure is the target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Correlations and memory may remain order one—and must be measured.</a:t>
            </a:r>
          </a:p>
        </p:txBody>
      </p:sp>
      <p:sp>
        <p:nvSpPr>
          <p:cNvPr id="7" name="closure-hierarchy-formula">
            <a:extLst>
              <a:ext uri="{FF2B5EF4-FFF2-40B4-BE49-F238E27FC236}">
                <a16:creationId xmlns:a16="http://schemas.microsoft.com/office/drawing/2014/main" id="{DEB5700A-63D4-4A7D-9256-6967FAE4B58B}"/>
              </a:ext>
            </a:extLst>
          </p:cNvPr>
          <p:cNvSpPr>
            <a:spLocks noGrp="1"/>
          </p:cNvSpPr>
          <p:nvPr/>
        </p:nvSpPr>
        <p:spPr>
          <a:xfrm>
            <a:off x="476250" y="57721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Reuse the harness; replace the equations, assumptions, state, and coefficients.</a:t>
            </a:r>
          </a:p>
        </p:txBody>
      </p:sp>
    </p:spTree>
    <p:extLst>
      <p:ext uri="{BB962C8B-B14F-4D97-AF65-F5344CB8AC3E}">
        <p14:creationId xmlns:p14="http://schemas.microsoft.com/office/powerpoint/2010/main" val="165971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Number-Placeholder-1-2">
            <a:extLst>
              <a:ext uri="{FF2B5EF4-FFF2-40B4-BE49-F238E27FC236}">
                <a16:creationId xmlns:a16="http://schemas.microsoft.com/office/drawing/2014/main" id="{29C0627B-A1E0-4148-A68C-AA6E84C7A5D6}"/>
              </a:ext>
            </a:extLst>
          </p:cNvPr>
          <p:cNvSpPr>
            <a:spLocks noGrp="1"/>
          </p:cNvSpPr>
          <p:nvPr/>
        </p:nvSpPr>
        <p:spPr>
          <a:xfrm>
            <a:off x="11279219" y="6278594"/>
            <a:ext cx="519113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>
              <a:ext uri="{FF2B5EF4-FFF2-40B4-BE49-F238E27FC236}">
                <a16:creationId xmlns:a16="http://schemas.microsoft.com/office/drawing/2014/main" id="{8224CC7A-F6D5-41EC-B5C2-20BC598B7AD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Hani, et al. proofs provide </a:t>
            </a: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testable hypotheses</a:t>
            </a:r>
          </a:p>
        </p:txBody>
      </p:sp>
      <p:sp>
        <p:nvSpPr>
          <p:cNvPr id="3" name="Content-Placeholder-9-4">
            <a:extLst>
              <a:ext uri="{FF2B5EF4-FFF2-40B4-BE49-F238E27FC236}">
                <a16:creationId xmlns:a16="http://schemas.microsoft.com/office/drawing/2014/main" id="{DFDE7027-2009-4805-A57D-6D475B4B3344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Detectability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Correlation diagnostics precede resolved-model error.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9C315E4A-D0B2-4736-9B21-0F54D8C5423B}"/>
              </a:ext>
            </a:extLst>
          </p:cNvPr>
          <p:cNvSpPr>
            <a:spLocks noGrp="1"/>
          </p:cNvSpPr>
          <p:nvPr/>
        </p:nvSpPr>
        <p:spPr>
          <a:xfrm>
            <a:off x="6256592" y="2031968"/>
            <a:ext cx="5537168" cy="1643063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Compressibility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compact cumulant state explains closure error.</a:t>
            </a:r>
          </a:p>
        </p:txBody>
      </p:sp>
      <p:sp>
        <p:nvSpPr>
          <p:cNvPr id="5" name="Content-Placeholder-9-6">
            <a:extLst>
              <a:ext uri="{FF2B5EF4-FFF2-40B4-BE49-F238E27FC236}">
                <a16:creationId xmlns:a16="http://schemas.microsoft.com/office/drawing/2014/main" id="{67536361-A59D-4ADC-9875-BE9ED916070E}"/>
              </a:ext>
            </a:extLst>
          </p:cNvPr>
          <p:cNvSpPr>
            <a:spLocks noGrp="1"/>
          </p:cNvSpPr>
          <p:nvPr/>
        </p:nvSpPr>
        <p:spPr>
          <a:xfrm>
            <a:off x="393668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Finite memory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matched dimension, bounded history beats a Markov correction.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55AD244D-6B8E-45E3-833A-214F819B0014}"/>
              </a:ext>
            </a:extLst>
          </p:cNvPr>
          <p:cNvSpPr>
            <a:spLocks noGrp="1"/>
          </p:cNvSpPr>
          <p:nvPr/>
        </p:nvSpPr>
        <p:spPr>
          <a:xfrm>
            <a:off x="6256592" y="4016978"/>
            <a:ext cx="5537168" cy="164315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Transfer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 physics-specific adaptation, the harness recovers closure state and failure regimes.</a:t>
            </a:r>
          </a:p>
        </p:txBody>
      </p:sp>
      <p:sp>
        <p:nvSpPr>
          <p:cNvPr id="7" name="closure-hierarchy-formula">
            <a:extLst>
              <a:ext uri="{FF2B5EF4-FFF2-40B4-BE49-F238E27FC236}">
                <a16:creationId xmlns:a16="http://schemas.microsoft.com/office/drawing/2014/main" id="{DEB5700A-63D4-4A7D-9256-6967FAE4B58B}"/>
              </a:ext>
            </a:extLst>
          </p:cNvPr>
          <p:cNvSpPr>
            <a:spLocks noGrp="1"/>
          </p:cNvSpPr>
          <p:nvPr/>
        </p:nvSpPr>
        <p:spPr>
          <a:xfrm>
            <a:off x="476250" y="57721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f2 = f1 f1 + g2     |     partial_t f1 = L f1 + C[f1] + R[g2, g3, ...]</a:t>
            </a:r>
          </a:p>
        </p:txBody>
      </p:sp>
    </p:spTree>
    <p:extLst>
      <p:ext uri="{BB962C8B-B14F-4D97-AF65-F5344CB8AC3E}">
        <p14:creationId xmlns:p14="http://schemas.microsoft.com/office/powerpoint/2010/main" val="165971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Number-Placeholder-3-2">
            <a:extLst>
              <a:ext uri="{FF2B5EF4-FFF2-40B4-BE49-F238E27FC236}">
                <a16:creationId xmlns:a16="http://schemas.microsoft.com/office/drawing/2014/main" id="{22BEFAFF-3223-49C1-A04B-FC6BA835D6CB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C4C71033-7F63-4DFA-8A46-19F2B9582534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Design: one </a:t>
            </a: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computational harness, many closure strategies</a:t>
            </a:r>
            <a:r>
              <a:rPr lang="en-US"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plug in</a:t>
            </a:r>
            <a:endParaRPr sz="29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cxnSp>
        <p:nvCxnSpPr>
          <p:cNvPr id="30" name="Google-Shape-2259-p159-4"/>
          <p:cNvCxnSpPr/>
          <p:nvPr/>
        </p:nvCxnSpPr>
        <p:spPr>
          <a:xfrm>
            <a:off x="337757" y="5341620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7C959A20-59B5-4F4D-B8CE-7B5622FE84EB}"/>
              </a:ext>
            </a:extLst>
          </p:cNvPr>
          <p:cNvSpPr>
            <a:spLocks noGrp="1"/>
          </p:cNvSpPr>
          <p:nvPr/>
        </p:nvSpPr>
        <p:spPr>
          <a:xfrm>
            <a:off x="337757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EB3E9B29-394A-4986-AE75-3A7AFBE10007}"/>
              </a:ext>
            </a:extLst>
          </p:cNvPr>
          <p:cNvSpPr>
            <a:spLocks noGrp="1"/>
          </p:cNvSpPr>
          <p:nvPr/>
        </p:nvSpPr>
        <p:spPr>
          <a:xfrm>
            <a:off x="4251770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54904C2E-4960-40B1-B27D-7204895464B8}"/>
              </a:ext>
            </a:extLst>
          </p:cNvPr>
          <p:cNvSpPr>
            <a:spLocks noGrp="1"/>
          </p:cNvSpPr>
          <p:nvPr/>
        </p:nvSpPr>
        <p:spPr>
          <a:xfrm>
            <a:off x="8176070" y="5288089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Rounded-Rectangle-19-8">
            <a:extLst>
              <a:ext uri="{FF2B5EF4-FFF2-40B4-BE49-F238E27FC236}">
                <a16:creationId xmlns:a16="http://schemas.microsoft.com/office/drawing/2014/main" id="{BFCACBED-60E4-42EE-B279-C8E6F4B7DD6B}"/>
              </a:ext>
            </a:extLst>
          </p:cNvPr>
          <p:cNvSpPr>
            <a:spLocks noGrp="1"/>
          </p:cNvSpPr>
          <p:nvPr/>
        </p:nvSpPr>
        <p:spPr>
          <a:xfrm>
            <a:off x="393668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Content-Placeholder-8-9">
            <a:extLst>
              <a:ext uri="{FF2B5EF4-FFF2-40B4-BE49-F238E27FC236}">
                <a16:creationId xmlns:a16="http://schemas.microsoft.com/office/drawing/2014/main" id="{0934AEC8-2C44-4BEE-8C91-82A4F63B5EEF}"/>
              </a:ext>
            </a:extLst>
          </p:cNvPr>
          <p:cNvSpPr>
            <a:spLocks noGrp="1"/>
          </p:cNvSpPr>
          <p:nvPr/>
        </p:nvSpPr>
        <p:spPr>
          <a:xfrm>
            <a:off x="703421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Fixed test suite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and application problems span valid and controlled-breakdown regimes.</a:t>
            </a:r>
          </a:p>
        </p:txBody>
      </p:sp>
      <p:sp>
        <p:nvSpPr>
          <p:cNvPr id="9" name="Rounded-Rectangle-21-10">
            <a:extLst>
              <a:ext uri="{FF2B5EF4-FFF2-40B4-BE49-F238E27FC236}">
                <a16:creationId xmlns:a16="http://schemas.microsoft.com/office/drawing/2014/main" id="{471DD836-A1E9-4A16-BF83-741A335CEA3B}"/>
              </a:ext>
            </a:extLst>
          </p:cNvPr>
          <p:cNvSpPr>
            <a:spLocks noGrp="1"/>
          </p:cNvSpPr>
          <p:nvPr/>
        </p:nvSpPr>
        <p:spPr>
          <a:xfrm>
            <a:off x="4308443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Content-Placeholder-8-11">
            <a:extLst>
              <a:ext uri="{FF2B5EF4-FFF2-40B4-BE49-F238E27FC236}">
                <a16:creationId xmlns:a16="http://schemas.microsoft.com/office/drawing/2014/main" id="{BBAF3215-F8F0-4D27-8A6E-EAAEA303CD12}"/>
              </a:ext>
            </a:extLst>
          </p:cNvPr>
          <p:cNvSpPr>
            <a:spLocks noGrp="1"/>
          </p:cNvSpPr>
          <p:nvPr/>
        </p:nvSpPr>
        <p:spPr>
          <a:xfrm>
            <a:off x="4618196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Common interface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Invoke analytic, learned, and hybrid closures through the same adapter.</a:t>
            </a:r>
          </a:p>
        </p:txBody>
      </p:sp>
      <p:sp>
        <p:nvSpPr>
          <p:cNvPr id="11" name="Rounded-Rectangle-23-12">
            <a:extLst>
              <a:ext uri="{FF2B5EF4-FFF2-40B4-BE49-F238E27FC236}">
                <a16:creationId xmlns:a16="http://schemas.microsoft.com/office/drawing/2014/main" id="{30F3A54E-1BAB-4A30-9DC2-D46497352F6A}"/>
              </a:ext>
            </a:extLst>
          </p:cNvPr>
          <p:cNvSpPr>
            <a:spLocks noGrp="1"/>
          </p:cNvSpPr>
          <p:nvPr/>
        </p:nvSpPr>
        <p:spPr>
          <a:xfrm>
            <a:off x="8237506" y="1401794"/>
            <a:ext cx="3568732" cy="3619500"/>
          </a:xfrm>
          <a:prstGeom prst="roundRect">
            <a:avLst>
              <a:gd name="adj" fmla="val 2135"/>
            </a:avLst>
          </a:prstGeom>
          <a:solidFill>
            <a:srgbClr val="F2F2F2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Content-Placeholder-8-13">
            <a:extLst>
              <a:ext uri="{FF2B5EF4-FFF2-40B4-BE49-F238E27FC236}">
                <a16:creationId xmlns:a16="http://schemas.microsoft.com/office/drawing/2014/main" id="{131D5360-1748-4743-B8A1-C8FD75A02C9A}"/>
              </a:ext>
            </a:extLst>
          </p:cNvPr>
          <p:cNvSpPr>
            <a:spLocks noGrp="1"/>
          </p:cNvSpPr>
          <p:nvPr/>
        </p:nvSpPr>
        <p:spPr>
          <a:xfrm>
            <a:off x="8547259" y="1806797"/>
            <a:ext cx="2949321" cy="2566797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Uniform evaluation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accuracy, stability, reliability, structure, and cost with shared code.</a:t>
            </a:r>
          </a:p>
        </p:txBody>
      </p:sp>
      <p:sp>
        <p:nvSpPr>
          <p:cNvPr id="13" name="Text-Placeholder-16-14">
            <a:extLst>
              <a:ext uri="{FF2B5EF4-FFF2-40B4-BE49-F238E27FC236}">
                <a16:creationId xmlns:a16="http://schemas.microsoft.com/office/drawing/2014/main" id="{08E8C3BC-5C93-4DE4-9105-6929DC9E00D1}"/>
              </a:ext>
            </a:extLst>
          </p:cNvPr>
          <p:cNvSpPr>
            <a:spLocks noGrp="1"/>
          </p:cNvSpPr>
          <p:nvPr/>
        </p:nvSpPr>
        <p:spPr>
          <a:xfrm>
            <a:off x="4251770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INVOKE</a:t>
            </a:r>
          </a:p>
        </p:txBody>
      </p:sp>
      <p:sp>
        <p:nvSpPr>
          <p:cNvPr id="14" name="Text-Placeholder-16-15">
            <a:extLst>
              <a:ext uri="{FF2B5EF4-FFF2-40B4-BE49-F238E27FC236}">
                <a16:creationId xmlns:a16="http://schemas.microsoft.com/office/drawing/2014/main" id="{D58C7948-4051-4694-A179-3EC09997A1F5}"/>
              </a:ext>
            </a:extLst>
          </p:cNvPr>
          <p:cNvSpPr>
            <a:spLocks noGrp="1"/>
          </p:cNvSpPr>
          <p:nvPr/>
        </p:nvSpPr>
        <p:spPr>
          <a:xfrm>
            <a:off x="390906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15" name="Text-Placeholder-16-16">
            <a:extLst>
              <a:ext uri="{FF2B5EF4-FFF2-40B4-BE49-F238E27FC236}">
                <a16:creationId xmlns:a16="http://schemas.microsoft.com/office/drawing/2014/main" id="{FDE439A1-2461-4441-B5E3-5F8541CD9737}"/>
              </a:ext>
            </a:extLst>
          </p:cNvPr>
          <p:cNvSpPr>
            <a:spLocks noGrp="1"/>
          </p:cNvSpPr>
          <p:nvPr/>
        </p:nvSpPr>
        <p:spPr>
          <a:xfrm>
            <a:off x="8225409" y="5602414"/>
            <a:ext cx="2595944" cy="39195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</p:spTree>
    <p:extLst>
      <p:ext uri="{BB962C8B-B14F-4D97-AF65-F5344CB8AC3E}">
        <p14:creationId xmlns:p14="http://schemas.microsoft.com/office/powerpoint/2010/main" val="157014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-Shape-532-p58-2">
            <a:extLst>
              <a:ext uri="{FF2B5EF4-FFF2-40B4-BE49-F238E27FC236}">
                <a16:creationId xmlns:a16="http://schemas.microsoft.com/office/drawing/2014/main" id="{7F22B476-8465-4495-8313-ABD41CD662C9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91094451-39F0-4500-93E4-C75E3E154526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Fair by construction: match information and compute</a:t>
            </a:r>
            <a:r>
              <a:rPr lang="en-US"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16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(some methods assume PDEs, some require all data)</a:t>
            </a:r>
            <a:endParaRPr sz="160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10-4">
            <a:extLst>
              <a:ext uri="{FF2B5EF4-FFF2-40B4-BE49-F238E27FC236}">
                <a16:creationId xmlns:a16="http://schemas.microsoft.com/office/drawing/2014/main" id="{50157116-65F2-4D6F-983B-D5B6BE46ADE5}"/>
              </a:ext>
            </a:extLst>
          </p:cNvPr>
          <p:cNvSpPr>
            <a:spLocks noGrp="1"/>
          </p:cNvSpPr>
          <p:nvPr/>
        </p:nvSpPr>
        <p:spPr>
          <a:xfrm>
            <a:off x="6972300" y="23748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 / partial / none</a:t>
            </a:r>
          </a:p>
        </p:txBody>
      </p:sp>
      <p:sp>
        <p:nvSpPr>
          <p:cNvPr id="4" name="Content-Placeholder-10-5">
            <a:extLst>
              <a:ext uri="{FF2B5EF4-FFF2-40B4-BE49-F238E27FC236}">
                <a16:creationId xmlns:a16="http://schemas.microsoft.com/office/drawing/2014/main" id="{9F201C7C-E9CC-432C-AB21-D389324175B6}"/>
              </a:ext>
            </a:extLst>
          </p:cNvPr>
          <p:cNvSpPr>
            <a:spLocks noGrp="1"/>
          </p:cNvSpPr>
          <p:nvPr/>
        </p:nvSpPr>
        <p:spPr>
          <a:xfrm>
            <a:off x="4851368" y="23748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Equations</a:t>
            </a:r>
          </a:p>
        </p:txBody>
      </p:sp>
      <p:sp>
        <p:nvSpPr>
          <p:cNvPr id="5" name="Content-Placeholder-10-6">
            <a:extLst>
              <a:ext uri="{FF2B5EF4-FFF2-40B4-BE49-F238E27FC236}">
                <a16:creationId xmlns:a16="http://schemas.microsoft.com/office/drawing/2014/main" id="{44D557C6-5B18-4451-A3EE-0275B647A676}"/>
              </a:ext>
            </a:extLst>
          </p:cNvPr>
          <p:cNvSpPr>
            <a:spLocks noGrp="1"/>
          </p:cNvSpPr>
          <p:nvPr/>
        </p:nvSpPr>
        <p:spPr>
          <a:xfrm>
            <a:off x="6972300" y="33654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Pairs / ensembles / trajectories</a:t>
            </a:r>
          </a:p>
        </p:txBody>
      </p:sp>
      <p:sp>
        <p:nvSpPr>
          <p:cNvPr id="6" name="Content-Placeholder-10-7">
            <a:extLst>
              <a:ext uri="{FF2B5EF4-FFF2-40B4-BE49-F238E27FC236}">
                <a16:creationId xmlns:a16="http://schemas.microsoft.com/office/drawing/2014/main" id="{9CC94E96-1A9D-47CE-9C01-ABECCB9403E0}"/>
              </a:ext>
            </a:extLst>
          </p:cNvPr>
          <p:cNvSpPr>
            <a:spLocks noGrp="1"/>
          </p:cNvSpPr>
          <p:nvPr/>
        </p:nvSpPr>
        <p:spPr>
          <a:xfrm>
            <a:off x="4851368" y="33654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7" name="Content-Placeholder-10-8">
            <a:extLst>
              <a:ext uri="{FF2B5EF4-FFF2-40B4-BE49-F238E27FC236}">
                <a16:creationId xmlns:a16="http://schemas.microsoft.com/office/drawing/2014/main" id="{7F20A5F3-AE2F-4C8C-B8A8-3A85E2AC036E}"/>
              </a:ext>
            </a:extLst>
          </p:cNvPr>
          <p:cNvSpPr>
            <a:spLocks noGrp="1"/>
          </p:cNvSpPr>
          <p:nvPr/>
        </p:nvSpPr>
        <p:spPr>
          <a:xfrm>
            <a:off x="6972300" y="4356068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Cumulants / moments / history</a:t>
            </a:r>
          </a:p>
        </p:txBody>
      </p:sp>
      <p:sp>
        <p:nvSpPr>
          <p:cNvPr id="8" name="Content-Placeholder-10-9">
            <a:extLst>
              <a:ext uri="{FF2B5EF4-FFF2-40B4-BE49-F238E27FC236}">
                <a16:creationId xmlns:a16="http://schemas.microsoft.com/office/drawing/2014/main" id="{5B39D373-B161-44C6-B7D8-4189AC5059AB}"/>
              </a:ext>
            </a:extLst>
          </p:cNvPr>
          <p:cNvSpPr>
            <a:spLocks noGrp="1"/>
          </p:cNvSpPr>
          <p:nvPr/>
        </p:nvSpPr>
        <p:spPr>
          <a:xfrm>
            <a:off x="4851368" y="4356068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Online state</a:t>
            </a:r>
          </a:p>
        </p:txBody>
      </p:sp>
      <p:sp>
        <p:nvSpPr>
          <p:cNvPr id="9" name="Content-Placeholder-10-10">
            <a:extLst>
              <a:ext uri="{FF2B5EF4-FFF2-40B4-BE49-F238E27FC236}">
                <a16:creationId xmlns:a16="http://schemas.microsoft.com/office/drawing/2014/main" id="{4ADDEDB2-714A-4B51-98AD-2D2C3E9CBFBF}"/>
              </a:ext>
            </a:extLst>
          </p:cNvPr>
          <p:cNvSpPr>
            <a:spLocks noGrp="1"/>
          </p:cNvSpPr>
          <p:nvPr/>
        </p:nvSpPr>
        <p:spPr>
          <a:xfrm>
            <a:off x="6972300" y="5359432"/>
            <a:ext cx="4826032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Solver calls / actions / observables</a:t>
            </a:r>
          </a:p>
        </p:txBody>
      </p:sp>
      <p:sp>
        <p:nvSpPr>
          <p:cNvPr id="10" name="Content-Placeholder-10-11">
            <a:extLst>
              <a:ext uri="{FF2B5EF4-FFF2-40B4-BE49-F238E27FC236}">
                <a16:creationId xmlns:a16="http://schemas.microsoft.com/office/drawing/2014/main" id="{DB6BB059-F0AB-4188-8AD3-7F24D07A6346}"/>
              </a:ext>
            </a:extLst>
          </p:cNvPr>
          <p:cNvSpPr>
            <a:spLocks noGrp="1"/>
          </p:cNvSpPr>
          <p:nvPr/>
        </p:nvSpPr>
        <p:spPr>
          <a:xfrm>
            <a:off x="4851368" y="5359432"/>
            <a:ext cx="1866900" cy="6477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Deployment cost</a:t>
            </a:r>
          </a:p>
        </p:txBody>
      </p:sp>
      <p:sp>
        <p:nvSpPr>
          <p:cNvPr id="11" name="Google-Shape-534-p58-12">
            <a:extLst>
              <a:ext uri="{FF2B5EF4-FFF2-40B4-BE49-F238E27FC236}">
                <a16:creationId xmlns:a16="http://schemas.microsoft.com/office/drawing/2014/main" id="{A0109333-8FCC-491B-91DB-57EA76E565CF}"/>
              </a:ext>
            </a:extLst>
          </p:cNvPr>
          <p:cNvSpPr>
            <a:spLocks noGrp="1"/>
          </p:cNvSpPr>
          <p:nvPr/>
        </p:nvSpPr>
        <p:spPr>
          <a:xfrm>
            <a:off x="393668" y="2374868"/>
            <a:ext cx="3568732" cy="3619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run carries an information ledger.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method gets a hidden advantage from closure labels, future history, test-time cumulants, or extra solver calls.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Report matched-information, matched-compute, and unrestricted results separately.</a:t>
            </a:r>
          </a:p>
        </p:txBody>
      </p:sp>
    </p:spTree>
    <p:extLst>
      <p:ext uri="{BB962C8B-B14F-4D97-AF65-F5344CB8AC3E}">
        <p14:creationId xmlns:p14="http://schemas.microsoft.com/office/powerpoint/2010/main" val="1541801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DE373327-36EB-41FD-ACF8-08506C9B368C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90C171B8-9EE0-4040-BD05-BB1C00C70DA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harness transfers</a:t>
            </a:r>
            <a:r>
              <a:rPr lang="en-US"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to any application</a:t>
            </a:r>
            <a:r>
              <a:rPr sz="290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; each application replaces the physics</a:t>
            </a:r>
          </a:p>
        </p:txBody>
      </p:sp>
      <p:cxnSp>
        <p:nvCxnSpPr>
          <p:cNvPr id="27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A28A9373-219E-4CEB-99C5-27EDF46D20BC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AF658BF7-7E3C-47AE-8687-399304A0D4B9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B9AA9012-E965-48F9-8D59-71C785EC9F08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2E45C1CF-82EA-4509-B345-C5B8444592CB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  CANONICAL TESTS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DD0E73C2-3158-4256-B89E-9BEA6E6B1170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  PHYSICS MAP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35D0A5C3-01E6-4AC1-BDA9-D44F1B2F94AD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  SCIENCE TEST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5F9D8536-E103-4AED-8009-070FD21B87FF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Replace the physics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Replace equations, state, scales, constraints, and observables; define the closure defect.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886C4511-B997-4064-93BC-DED718736767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the harness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 limits, correlations, memory, uncertainty, and failure boundaries.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68A4FF74-5A47-4C53-9417-A035CA67A2CA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Make the decision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Retrain, embed, and test a domain quantity at acceptable risk and cost.</a:t>
            </a:r>
          </a:p>
        </p:txBody>
      </p:sp>
    </p:spTree>
    <p:extLst>
      <p:ext uri="{BB962C8B-B14F-4D97-AF65-F5344CB8AC3E}">
        <p14:creationId xmlns:p14="http://schemas.microsoft.com/office/powerpoint/2010/main" val="196471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-Shape-532-p58-2">
            <a:extLst>
              <a:ext uri="{FF2B5EF4-FFF2-40B4-BE49-F238E27FC236}">
                <a16:creationId xmlns:a16="http://schemas.microsoft.com/office/drawing/2014/main" id="{8F5394F6-E175-41A3-824B-634789EE2759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4F4437BD-2522-47F7-9885-61A5E8FB8E42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MTF is Application Profile 1</a:t>
            </a:r>
          </a:p>
        </p:txBody>
      </p:sp>
      <p:sp>
        <p:nvSpPr>
          <p:cNvPr id="3" name="Picture-3-4-backing">
            <a:extLst>
              <a:ext uri="{FF2B5EF4-FFF2-40B4-BE49-F238E27FC236}">
                <a16:creationId xmlns:a16="http://schemas.microsoft.com/office/drawing/2014/main" id="{F64FD6CF-89C3-47E7-BC88-FA29CA65E86F}"/>
              </a:ext>
            </a:extLst>
          </p:cNvPr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-Shape-534-p58-5">
            <a:extLst>
              <a:ext uri="{FF2B5EF4-FFF2-40B4-BE49-F238E27FC236}">
                <a16:creationId xmlns:a16="http://schemas.microsoft.com/office/drawing/2014/main" id="{D1C53B09-25A7-4731-AF60-F5E8EB2AE79F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MTF application profile</a:t>
            </a:r>
          </a:p>
          <a:p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 fidelity  </a:t>
            </a: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1D2V kinetic slab
</a:t>
            </a: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Reduced carrier  </a:t>
            </a: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Braginskii MHD
</a:t>
            </a: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Closure target  </a:t>
            </a: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 = q_Brag + delta q_NL
</a:t>
            </a: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  </a:t>
            </a: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 the local limit; preserve conservation and admissibility; improve a design observable with quantified uncertainty.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69069" y="1476770"/>
            <a:ext cx="5539740" cy="3441354"/>
          </a:xfrm>
          <a:prstGeom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303348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</Words>
  <Application>Microsoft Macintosh PowerPoint</Application>
  <DocSecurity>0</DocSecurity>
  <PresentationFormat>Widescreen</PresentationFormat>
  <Paragraphs>144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Gilbert, Anna</cp:lastModifiedBy>
  <cp:revision>1</cp:revision>
  <dcterms:created xsi:type="dcterms:W3CDTF">2026-08-09T14:37:28Z</dcterms:created>
  <dcterms:modified xsi:type="dcterms:W3CDTF">2026-08-10T20:34:35Z</dcterms:modified>
</cp:coreProperties>
</file>