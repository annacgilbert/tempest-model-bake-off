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3" r:id="rId8"/>
    <p:sldId id="264" r:id="rId9"/>
    <p:sldId id="271" r:id="rId10"/>
    <p:sldId id="269" r:id="rId11"/>
    <p:sldId id="262" r:id="rId12"/>
    <p:sldId id="265" r:id="rId13"/>
    <p:sldId id="266" r:id="rId14"/>
    <p:sldId id="267" r:id="rId15"/>
    <p:sldId id="268" r:id="rId16"/>
    <p:sldId id="274" r:id="rId17"/>
    <p:sldId id="275" r:id="rId18"/>
    <p:sldId id="273" r:id="rId19"/>
    <p:sldId id="272" r:id="rId20"/>
    <p:sldId id="27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AA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7"/>
    <p:restoredTop sz="75205"/>
  </p:normalViewPr>
  <p:slideViewPr>
    <p:cSldViewPr snapToGrid="0">
      <p:cViewPr varScale="1">
        <p:scale>
          <a:sx n="94" d="100"/>
          <a:sy n="94" d="100"/>
        </p:scale>
        <p:origin x="1512" y="184"/>
      </p:cViewPr>
      <p:guideLst/>
    </p:cSldViewPr>
  </p:slideViewPr>
  <p:notesTextViewPr>
    <p:cViewPr>
      <p:scale>
        <a:sx n="1" d="1"/>
        <a:sy n="1" d="1"/>
      </p:scale>
      <p:origin x="0" y="0"/>
    </p:cViewPr>
  </p:notesTextViewPr>
  <p:sorterViewPr>
    <p:cViewPr>
      <p:scale>
        <a:sx n="94" d="100"/>
        <a:sy n="94"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with the research question, not the model list. The central claim is that closure gives TEMPEST a common mathematical language for comparing analytic, learned, and hybrid reduced models. Pacing: about 1 minute.</a:t>
            </a:r>
            <a:r>
              <a:rPr lang="en-US" dirty="0"/>
              <a:t> I don’t want to provide a 5 year research program in AI/ML because so many things are changing so quickly. I want to give an overview of what my vision is for the broad AI/ML program and one or two specific sprints we can do right now. Perhaps this will turn into a longer program! I view my job as to be the glue amongst the mathematicians/physicists, experimentalists, and computational scientists. The first “sprint” I am proposing is a computational harness for evaluating closure models, for benchmarking them. The bake-off harness is a sequence of closure experiments.</a:t>
            </a:r>
            <a:endParaRPr dirty="0"/>
          </a:p>
          <a:p>
            <a:endParaRPr dirty="0"/>
          </a:p>
          <a:p>
            <a:r>
              <a:rPr dirty="0"/>
              <a:t>[Sources]</a:t>
            </a:r>
          </a:p>
          <a:p>
            <a:r>
              <a:rPr dirty="0"/>
              <a:t>- /Users/ag245/Library/</a:t>
            </a:r>
            <a:r>
              <a:rPr dirty="0" err="1"/>
              <a:t>CloudStorage</a:t>
            </a:r>
            <a:r>
              <a:rPr dirty="0"/>
              <a:t>/</a:t>
            </a:r>
            <a:r>
              <a:rPr dirty="0" err="1"/>
              <a:t>GoogleDrive-annacgilbert@gmail.com</a:t>
            </a:r>
            <a:r>
              <a:rPr dirty="0"/>
              <a:t>/My Drive/Research/TEMPEST model bake-off/docs/</a:t>
            </a:r>
            <a:r>
              <a:rPr dirty="0" err="1"/>
              <a:t>PROJECT_BRIEF.md</a:t>
            </a:r>
            <a:endParaRPr dirty="0"/>
          </a:p>
          <a:p>
            <a:r>
              <a:rPr dirty="0"/>
              <a:t>- /Users/ag245/Library/</a:t>
            </a:r>
            <a:r>
              <a:rPr dirty="0" err="1"/>
              <a:t>CloudStorage</a:t>
            </a:r>
            <a:r>
              <a:rPr dirty="0"/>
              <a:t>/</a:t>
            </a:r>
            <a:r>
              <a:rPr dirty="0" err="1"/>
              <a:t>GoogleDrive-annacgilbert@gmail.com</a:t>
            </a:r>
            <a:r>
              <a:rPr dirty="0"/>
              <a:t>/My Drive/Research/TEMPEST model bake-off/docs/</a:t>
            </a:r>
            <a:r>
              <a:rPr dirty="0" err="1"/>
              <a:t>experimental_pipeline.md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diagram to establish the vocabulary. Projection gives resolved equations, but discarded correlations, fields, moments, and history still influence those equations. A closure supplies that missing influence. Emphasize that the reduction can be exact while the closure is approximate. Pacing: about 2 minutes.</a:t>
            </a:r>
          </a:p>
          <a:p>
            <a:endParaRPr/>
          </a:p>
          <a:p>
            <a:r>
              <a:t>[Sources]</a:t>
            </a:r>
          </a:p>
          <a:p>
            <a:r>
              <a:t>- /Users/ag245/Library/CloudStorage/GoogleDrive-annacgilbert@gmail.com/My Drive/Research/TEMPEST model bake-off/assets/website/closure-model-diagram.png</a:t>
            </a:r>
          </a:p>
          <a:p>
            <a:r>
              <a:t>- /Users/ag245/Library/CloudStorage/GoogleDrive-annacgilbert@gmail.com/My Drive/Research/TEMPEST model bake-off/references/closure_pinns_operators_world_models.tex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taxonomy prevents category errors. PINNs and neural operators are not automatically closure models; a network becomes a learned closure when its target is an identified unresolved term or augmented state. World models need genuine sequential actions, not merely parameters. Pacing: about 2 minutes.</a:t>
            </a:r>
          </a:p>
          <a:p>
            <a:endParaRPr/>
          </a:p>
          <a:p>
            <a:r>
              <a:t>[Sources]</a:t>
            </a:r>
          </a:p>
          <a:p>
            <a:r>
              <a:t>- /Users/ag245/Library/CloudStorage/GoogleDrive-annacgilbert@gmail.com/My Drive/Research/TEMPEST model bake-off/references/closure_pinns_operators_world_models.tex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The bake-off is a sequence of closure experiments rather than a flat contest</a:t>
            </a:r>
          </a:p>
          <a:p>
            <a:r>
              <a:rPr lang="en-US" dirty="0"/>
              <a:t>among architectures. For every transition it declares the high-fidelity state,</a:t>
            </a:r>
          </a:p>
          <a:p>
            <a:r>
              <a:rPr lang="en-US" dirty="0"/>
              <a:t>projection, retained state, discarded information, classical reduced operator,</a:t>
            </a:r>
          </a:p>
          <a:p>
            <a:r>
              <a:rPr lang="en-US" dirty="0"/>
              <a:t>and measurable closure defect. Verified ensembles are projected into</a:t>
            </a:r>
          </a:p>
          <a:p>
            <a:r>
              <a:rPr lang="en-US" dirty="0"/>
              <a:t>marginals, moments, cumulants, interaction histories, and residual targets;</a:t>
            </a:r>
          </a:p>
          <a:p>
            <a:r>
              <a:rPr lang="en-US" dirty="0"/>
              <a:t>matched analytic, learned, and hybrid candidates are then tested first on those</a:t>
            </a:r>
          </a:p>
          <a:p>
            <a:r>
              <a:rPr lang="en-US" dirty="0"/>
              <a:t>targets and then after solver embedding. Separate scorecards report target</a:t>
            </a:r>
          </a:p>
          <a:p>
            <a:r>
              <a:rPr lang="en-US" dirty="0"/>
              <a:t>accuracy, identifiability, long-rollout behavior, physical validity,</a:t>
            </a:r>
          </a:p>
          <a:p>
            <a:r>
              <a:rPr lang="en-US" dirty="0"/>
              <a:t>classical-limit recovery, failure detection, out-of-distribution transfer, and</a:t>
            </a:r>
          </a:p>
          <a:p>
            <a:r>
              <a:rPr lang="en-US" dirty="0"/>
              <a:t>total cost.</a:t>
            </a:r>
          </a:p>
          <a:p>
            <a:endParaRPr lang="en-US" dirty="0"/>
          </a:p>
          <a:p>
            <a:r>
              <a:rPr lang="en-US" dirty="0"/>
              <a:t>The linked stages are:</a:t>
            </a:r>
          </a:p>
          <a:p>
            <a:endParaRPr lang="en-US" dirty="0"/>
          </a:p>
          <a:p>
            <a:r>
              <a:rPr lang="en-US" dirty="0"/>
              <a:t>1. effective interaction discovery at the retained-particle level;</a:t>
            </a:r>
          </a:p>
          <a:p>
            <a:r>
              <a:rPr lang="en-US" dirty="0"/>
              <a:t>2. particle-to-kinetic reduction and correlation closure;</a:t>
            </a:r>
          </a:p>
          <a:p>
            <a:r>
              <a:rPr lang="en-US" dirty="0"/>
              <a:t>3. kinetic-to-moment reduction and constitutive closure; and</a:t>
            </a:r>
          </a:p>
          <a:p>
            <a:r>
              <a:rPr lang="en-US" dirty="0"/>
              <a:t>4. transfer of validated diagnostics and design principles to a TEMPEST</a:t>
            </a:r>
          </a:p>
          <a:p>
            <a:r>
              <a:rPr lang="en-US" dirty="0"/>
              <a:t>   application, initially the supernova 3D-to-1D turbulence closure.</a:t>
            </a:r>
          </a:p>
          <a:p>
            <a:endParaRPr lang="en-US" dirty="0"/>
          </a:p>
          <a:p>
            <a:r>
              <a:rPr lang="en-US" dirty="0"/>
              <a:t>Track A supplies theorem-faithful tests of the scale-limit logic. The</a:t>
            </a:r>
          </a:p>
          <a:p>
            <a:r>
              <a:rPr lang="en-US" dirty="0"/>
              <a:t>dusty-plasma B1 profile supplies a controlled many-body setting in which</a:t>
            </a:r>
          </a:p>
          <a:p>
            <a:r>
              <a:rPr lang="en-US" dirty="0"/>
              <a:t>pairwise, contextual, and finite-memory descriptions can be separated. B2</a:t>
            </a:r>
          </a:p>
          <a:p>
            <a:r>
              <a:rPr lang="en-US" dirty="0"/>
              <a:t>tests whether the resulting principles remain useful when unresolved 3D</a:t>
            </a:r>
          </a:p>
          <a:p>
            <a:r>
              <a:rPr lang="en-US" dirty="0"/>
              <a:t>shock-turbulence physics is represented in a reduced 1D supernova model.</a:t>
            </a:r>
          </a:p>
          <a:p>
            <a:r>
              <a:rPr lang="en-US" dirty="0"/>
              <a:t>Coefficients, trained weights, and theorem assumptions do not transfer without</a:t>
            </a:r>
          </a:p>
          <a:p>
            <a:r>
              <a:rPr lang="en-US" dirty="0"/>
              <a:t>a new validation. The full execution sequence and stage gates are specified in</a:t>
            </a:r>
            <a:endParaRPr dirty="0"/>
          </a:p>
          <a:p>
            <a:endParaRPr dirty="0"/>
          </a:p>
          <a:p>
            <a:r>
              <a:rPr dirty="0"/>
              <a:t>[Sources]</a:t>
            </a:r>
          </a:p>
          <a:p>
            <a:r>
              <a:rPr dirty="0"/>
              <a:t>- /Users/ag245/Library/</a:t>
            </a:r>
            <a:r>
              <a:rPr dirty="0" err="1"/>
              <a:t>CloudStorage</a:t>
            </a:r>
            <a:r>
              <a:rPr dirty="0"/>
              <a:t>/</a:t>
            </a:r>
            <a:r>
              <a:rPr dirty="0" err="1"/>
              <a:t>GoogleDrive-annacgilbert@gmail.com</a:t>
            </a:r>
            <a:r>
              <a:rPr dirty="0"/>
              <a:t>/My Drive/Research/TEMPEST model bake-off/docs/</a:t>
            </a:r>
            <a:r>
              <a:rPr dirty="0" err="1"/>
              <a:t>benchmark_specification.md</a:t>
            </a:r>
            <a:endParaRPr dirty="0"/>
          </a:p>
          <a:p>
            <a:r>
              <a:rPr dirty="0"/>
              <a:t>- /Users/ag245/Library/</a:t>
            </a:r>
            <a:r>
              <a:rPr dirty="0" err="1"/>
              <a:t>CloudStorage</a:t>
            </a:r>
            <a:r>
              <a:rPr dirty="0"/>
              <a:t>/</a:t>
            </a:r>
            <a:r>
              <a:rPr dirty="0" err="1"/>
              <a:t>GoogleDrive-annacgilbert@gmail.com</a:t>
            </a:r>
            <a:r>
              <a:rPr dirty="0"/>
              <a:t>/My Drive/Research/TEMPEST model bake-off/docs/</a:t>
            </a:r>
            <a:r>
              <a:rPr dirty="0" err="1"/>
              <a:t>information_budgets.md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a:t>
            </a:r>
            <a:r>
              <a:rPr dirty="0"/>
              <a:t> A asks whether the numerical workflow reproduces known scale-limit mechanisms. </a:t>
            </a:r>
            <a:r>
              <a:rPr lang="en-US" dirty="0"/>
              <a:t>Track</a:t>
            </a:r>
            <a:r>
              <a:rPr dirty="0"/>
              <a:t> B adapts the same evaluative harness to two TEMPEST applications: the dusty-plasma closure ladder and supernova 3D-to-1D turbulence. The canonical systems validate the diagnostic logic; they are not intended to resemble either application in every physical detail. Pacing: about 2 minutes.</a:t>
            </a:r>
          </a:p>
          <a:p>
            <a:endParaRPr dirty="0"/>
          </a:p>
          <a:p>
            <a:r>
              <a:rPr dirty="0"/>
              <a:t>[Sources]</a:t>
            </a:r>
          </a:p>
          <a:p>
            <a:r>
              <a:rPr dirty="0"/>
              <a:t>- /Users/ag245/Library/</a:t>
            </a:r>
            <a:r>
              <a:rPr dirty="0" err="1"/>
              <a:t>CloudStorage</a:t>
            </a:r>
            <a:r>
              <a:rPr dirty="0"/>
              <a:t>/</a:t>
            </a:r>
            <a:r>
              <a:rPr dirty="0" err="1"/>
              <a:t>GoogleDrive-annacgilbert@gmail.com</a:t>
            </a:r>
            <a:r>
              <a:rPr dirty="0"/>
              <a:t>/My Drive/Research/TEMPEST model bake-off/docs/</a:t>
            </a:r>
            <a:r>
              <a:rPr dirty="0" err="1"/>
              <a:t>PROJECT_BRIEF.md</a:t>
            </a:r>
            <a:endParaRPr dirty="0"/>
          </a:p>
          <a:p>
            <a:r>
              <a:rPr dirty="0"/>
              <a:t>- /Users/ag245/Library/</a:t>
            </a:r>
            <a:r>
              <a:rPr dirty="0" err="1"/>
              <a:t>CloudStorage</a:t>
            </a:r>
            <a:r>
              <a:rPr dirty="0"/>
              <a:t>/</a:t>
            </a:r>
            <a:r>
              <a:rPr dirty="0" err="1"/>
              <a:t>GoogleDrive-annacgilbert@gmail.com</a:t>
            </a:r>
            <a:r>
              <a:rPr dirty="0"/>
              <a:t>/My Drive/Research/TEMPEST model bake-off/docs/</a:t>
            </a:r>
            <a:r>
              <a:rPr dirty="0" err="1"/>
              <a:t>mathematical_closure_program.md</a:t>
            </a:r>
            <a:endParaRPr dirty="0"/>
          </a:p>
          <a:p>
            <a:r>
              <a:rPr dirty="0"/>
              <a:t>- /Users/ag245/Library/</a:t>
            </a:r>
            <a:r>
              <a:rPr dirty="0" err="1"/>
              <a:t>CloudStorage</a:t>
            </a:r>
            <a:r>
              <a:rPr dirty="0"/>
              <a:t>/</a:t>
            </a:r>
            <a:r>
              <a:rPr dirty="0" err="1"/>
              <a:t>GoogleDrive-annacgilbert@gmail.com</a:t>
            </a:r>
            <a:r>
              <a:rPr dirty="0"/>
              <a:t>/My Drive/Research/TEMPEST model bake-off/docs/</a:t>
            </a:r>
            <a:r>
              <a:rPr dirty="0" err="1"/>
              <a:t>supernova_application_profile.md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Introduce the three Hani-inspired tracks as stress tests for closure diagnostics. The hard-particle and wave papers organize long-time control through cumulants and interaction histories; the hydrodynamic paper completes the chain toward fluid equations. The numerical program tests convergence, breakdown, and measurable remainders. Pacing: about 2.5 minutes.</a:t>
            </a:r>
          </a:p>
          <a:p>
            <a:endParaRPr dirty="0"/>
          </a:p>
          <a:p>
            <a:r>
              <a:rPr dirty="0"/>
              <a:t>[Sources]</a:t>
            </a:r>
          </a:p>
          <a:p>
            <a:r>
              <a:rPr dirty="0"/>
              <a:t>- https://</a:t>
            </a:r>
            <a:r>
              <a:rPr dirty="0" err="1"/>
              <a:t>arxiv.org</a:t>
            </a:r>
            <a:r>
              <a:rPr dirty="0"/>
              <a:t>/abs/2408.07818</a:t>
            </a:r>
          </a:p>
          <a:p>
            <a:r>
              <a:rPr dirty="0"/>
              <a:t>- https://</a:t>
            </a:r>
            <a:r>
              <a:rPr dirty="0" err="1"/>
              <a:t>arxiv.org</a:t>
            </a:r>
            <a:r>
              <a:rPr dirty="0"/>
              <a:t>/abs/2503.01800</a:t>
            </a:r>
          </a:p>
          <a:p>
            <a:r>
              <a:rPr dirty="0"/>
              <a:t>- https://</a:t>
            </a:r>
            <a:r>
              <a:rPr dirty="0" err="1"/>
              <a:t>arxiv.org</a:t>
            </a:r>
            <a:r>
              <a:rPr dirty="0"/>
              <a:t>/abs/2311.10082</a:t>
            </a:r>
          </a:p>
          <a:p>
            <a:r>
              <a:rPr dirty="0"/>
              <a:t>- /Users/ag245/Library/</a:t>
            </a:r>
            <a:r>
              <a:rPr dirty="0" err="1"/>
              <a:t>CloudStorage</a:t>
            </a:r>
            <a:r>
              <a:rPr dirty="0"/>
              <a:t>/</a:t>
            </a:r>
            <a:r>
              <a:rPr dirty="0" err="1"/>
              <a:t>GoogleDrive-annacgilbert@gmail.com</a:t>
            </a:r>
            <a:r>
              <a:rPr dirty="0"/>
              <a:t>/My Drive/Research/TEMPEST model bake-off/docs/</a:t>
            </a:r>
            <a:r>
              <a:rPr dirty="0" err="1"/>
              <a:t>mathematical_closure_program.md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mathematical contract behind every experiment. The classical operator remains explicit; the learned model supplies only an identified correction unless the run is labeled as a black-box control. This makes classical-limit recovery testable. Pacing: about 2 minutes.</a:t>
            </a:r>
          </a:p>
          <a:p>
            <a:endParaRPr/>
          </a:p>
          <a:p>
            <a:r>
              <a:t>[Sources]</a:t>
            </a:r>
          </a:p>
          <a:p>
            <a:r>
              <a:t>- /Users/ag245/Library/CloudStorage/GoogleDrive-annacgilbert@gmail.com/My Drive/Research/TEMPEST model bake-off/docs/experimental_pipeline.md</a:t>
            </a:r>
          </a:p>
          <a:p>
            <a:r>
              <a:t>- /Users/ag245/Library/CloudStorage/GoogleDrive-annacgilbert@gmail.com/My Drive/Research/TEMPEST model bake-off/docs/benchmark_specification.md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proposed numerical translation does not reproduce every proof diagram. It first measures projected cumulants and finite interaction-history summaries, then asks whether they predict closure failure, compress to practical dimension, and saturate at finite memory. Negative answers are scientifically meaningful stop criteria. </a:t>
            </a:r>
          </a:p>
          <a:p>
            <a:r>
              <a:rPr dirty="0"/>
              <a:t>[Sources]</a:t>
            </a:r>
          </a:p>
          <a:p>
            <a:r>
              <a:rPr dirty="0"/>
              <a:t>- https://</a:t>
            </a:r>
            <a:r>
              <a:rPr dirty="0" err="1"/>
              <a:t>arxiv.org</a:t>
            </a:r>
            <a:r>
              <a:rPr dirty="0"/>
              <a:t>/abs/2408.07818</a:t>
            </a:r>
          </a:p>
          <a:p>
            <a:r>
              <a:rPr dirty="0"/>
              <a:t>- https://</a:t>
            </a:r>
            <a:r>
              <a:rPr dirty="0" err="1"/>
              <a:t>arxiv.org</a:t>
            </a:r>
            <a:r>
              <a:rPr dirty="0"/>
              <a:t>/abs/2311.10082</a:t>
            </a:r>
          </a:p>
          <a:p>
            <a:r>
              <a:rPr dirty="0"/>
              <a:t>- /Users/ag245/Library/</a:t>
            </a:r>
            <a:r>
              <a:rPr dirty="0" err="1"/>
              <a:t>CloudStorage</a:t>
            </a:r>
            <a:r>
              <a:rPr dirty="0"/>
              <a:t>/</a:t>
            </a:r>
            <a:r>
              <a:rPr dirty="0" err="1"/>
              <a:t>GoogleDrive-annacgilbert@gmail.com</a:t>
            </a:r>
            <a:r>
              <a:rPr dirty="0"/>
              <a:t>/My Drive/Research/TEMPEST model bake-off/docs/</a:t>
            </a:r>
            <a:r>
              <a:rPr dirty="0" err="1"/>
              <a:t>mathematical_closure_program.md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verified particle data can answer two new closure questions after projection. This gives the many-body program a multiscale purpose: it is not an isolated simulator competition. Each stage receives its own retained state, discarded information, target, and embedded validation. Pacing: about 2 minutes.</a:t>
            </a:r>
          </a:p>
          <a:p>
            <a:endParaRPr/>
          </a:p>
          <a:p>
            <a:r>
              <a:t>[Sources]</a:t>
            </a:r>
          </a:p>
          <a:p>
            <a:r>
              <a:t>- /Users/ag245/Library/CloudStorage/GoogleDrive-annacgilbert@gmail.com/My Drive/Research/TEMPEST model bake-off/docs/experimental_pipeline.md</a:t>
            </a:r>
          </a:p>
          <a:p>
            <a:r>
              <a:t>- /Users/ag245/Library/CloudStorage/GoogleDrive-annacgilbert@gmail.com/My Drive/Research/TEMPEST model bake-off/docs/information_budgets.md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four stages are linked by data and logic, not by an assumption that the same coefficients transfer. Stage 1 produces verified particle ensembles; Stages 2 and 3 reduce them; Stage 4 asks whether validated diagnostics and design rules help in a distinct TEMPEST application. Pacing: about 2 minutes.</a:t>
            </a:r>
          </a:p>
          <a:p>
            <a:endParaRPr/>
          </a:p>
          <a:p>
            <a:r>
              <a:t>[Sources]</a:t>
            </a:r>
          </a:p>
          <a:p>
            <a:r>
              <a:t>- /Users/ag245/Library/CloudStorage/GoogleDrive-annacgilbert@gmail.com/My Drive/Research/TEMPEST model bake-off/docs/experimental_pipeline.md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distinction is essential. Hani's regimes are neither dusty-plasma nor supernova regimes. Their value is that the hierarchy, scaling, and expected limits are explicit, allowing us to validate estimators and failure diagnostics before moving into noncanonical plasma and stellar-turbulence physics. Pacing: about 2 minutes.</a:t>
            </a:r>
          </a:p>
          <a:p>
            <a:endParaRPr/>
          </a:p>
          <a:p>
            <a:r>
              <a:t>[Sources]</a:t>
            </a:r>
          </a:p>
          <a:p>
            <a:r>
              <a:t>- /Users/ag245/Library/CloudStorage/GoogleDrive-annacgilbert@gmail.com/My Drive/Research/TEMPEST model bake-off/docs/mathematical_closure_program.md</a:t>
            </a:r>
          </a:p>
          <a:p>
            <a:r>
              <a:t>- /Users/ag245/Library/CloudStorage/GoogleDrive-annacgilbert@gmail.com/My Drive/Research/TEMPEST model bake-off/docs/benchmark_options_memo.md</a:t>
            </a:r>
          </a:p>
          <a:p>
            <a:r>
              <a:t>- /Users/ag245/Library/CloudStorage/GoogleDrive-annacgilbert@gmail.com/My Drive/Research/TEMPEST model bake-off/references/TEMPEST_proposal.pdf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resolves the language issue. Learning a pair law is not automatically a kinetic closure if every particle is retained. In dusty plasma, however, an effective particle force can already be a closure for eliminated ions, electrons, wakes, and fields. Further reduction creates correlation and moment closures. Pacing: about 2 minutes.</a:t>
            </a:r>
          </a:p>
          <a:p>
            <a:endParaRPr/>
          </a:p>
          <a:p>
            <a:r>
              <a:t>[Sources]</a:t>
            </a:r>
          </a:p>
          <a:p>
            <a:r>
              <a:t>- /Users/ag245/Library/CloudStorage/GoogleDrive-annacgilbert@gmail.com/My Drive/Research/TEMPEST model bake-off/references/classical_many_body_ml.tex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two papers make interaction inference mathematically auditable; the third moves into laboratory dusty plasma and uses physics-tailored decomposition with independent validation. This combination is exactly what the bake-off needs at its particle-level entry point. Pacing: about 2.5 minutes.</a:t>
            </a:r>
          </a:p>
          <a:p>
            <a:endParaRPr/>
          </a:p>
          <a:p>
            <a:r>
              <a:t>[Sources]</a:t>
            </a:r>
          </a:p>
          <a:p>
            <a:r>
              <a:t>- https://doi.org/10.1007/s10208-021-09521-z</a:t>
            </a:r>
          </a:p>
          <a:p>
            <a:r>
              <a:t>- https://proceedings.mlr.press/v139/maggioni21a.html</a:t>
            </a:r>
          </a:p>
          <a:p>
            <a:r>
              <a:t>- https://doi.org/10.1073/pnas.2505725122</a:t>
            </a:r>
          </a:p>
          <a:p>
            <a:r>
              <a:t>- /Users/ag245/Library/CloudStorage/GoogleDrive-annacgilbert@gmail.com/My Drive/Research/TEMPEST model bake-off/references/classical_many_body_ml.tex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a benchmark design, not a claim that one wake model is universally correct. The key control is the ratio of wake or field relaxation time to particle time, supplemented by density, screening, heterogeneity, and forcing history. These coordinates create regimes where pairwise, contextual, memory, and collective models can be distinguished. Pacing: about 2 minutes.</a:t>
            </a:r>
            <a:r>
              <a:rPr lang="en-US" dirty="0"/>
              <a:t>    E = local plasma environment</a:t>
            </a:r>
          </a:p>
          <a:p>
            <a:endParaRPr lang="en-US" dirty="0"/>
          </a:p>
          <a:p>
            <a:r>
              <a:rPr lang="en-US" dirty="0"/>
              <a:t>The family should vary particle count, density/coupling, screening, charge and mass</a:t>
            </a:r>
          </a:p>
          <a:p>
            <a:r>
              <a:rPr lang="en-US" dirty="0"/>
              <a:t>heterogeneity, wake relaxation $\</a:t>
            </a:r>
            <a:r>
              <a:rPr lang="en-US" dirty="0" err="1"/>
              <a:t>tau_w</a:t>
            </a:r>
            <a:r>
              <a:rPr lang="en-US" dirty="0"/>
              <a:t>$, forcing amplitude and frequency,</a:t>
            </a:r>
          </a:p>
          <a:p>
            <a:r>
              <a:rPr lang="en-US" dirty="0"/>
              <a:t>and forcing history. The exact force and wake model must be selected with the</a:t>
            </a:r>
          </a:p>
          <a:p>
            <a:r>
              <a:rPr lang="en-US" dirty="0"/>
              <a:t>dusty-plasma scientific owner; this equation is a benchmark design, not an</a:t>
            </a:r>
          </a:p>
          <a:p>
            <a:r>
              <a:rPr lang="en-US" dirty="0"/>
              <a:t>assertion that one model is universally correct.</a:t>
            </a:r>
          </a:p>
          <a:p>
            <a:endParaRPr lang="en-US" dirty="0"/>
          </a:p>
          <a:p>
            <a:endParaRPr lang="en-US" dirty="0"/>
          </a:p>
          <a:p>
            <a:endParaRPr dirty="0"/>
          </a:p>
          <a:p>
            <a:endParaRPr dirty="0"/>
          </a:p>
          <a:p>
            <a:r>
              <a:rPr dirty="0"/>
              <a:t>[Sources]</a:t>
            </a:r>
          </a:p>
          <a:p>
            <a:r>
              <a:rPr dirty="0"/>
              <a:t>- /Users/ag245/Library/</a:t>
            </a:r>
            <a:r>
              <a:rPr dirty="0" err="1"/>
              <a:t>CloudStorage</a:t>
            </a:r>
            <a:r>
              <a:rPr dirty="0"/>
              <a:t>/</a:t>
            </a:r>
            <a:r>
              <a:rPr dirty="0" err="1"/>
              <a:t>GoogleDrive-annacgilbert@gmail.com</a:t>
            </a:r>
            <a:r>
              <a:rPr dirty="0"/>
              <a:t>/My Drive/Research/TEMPEST model bake-off/docs/</a:t>
            </a:r>
            <a:r>
              <a:rPr dirty="0" err="1"/>
              <a:t>experimental_pipeline.md</a:t>
            </a:r>
            <a:endParaRPr dirty="0"/>
          </a:p>
          <a:p>
            <a:r>
              <a:rPr dirty="0"/>
              <a:t>- https://</a:t>
            </a:r>
            <a:r>
              <a:rPr dirty="0" err="1"/>
              <a:t>doi.org</a:t>
            </a:r>
            <a:r>
              <a:rPr dirty="0"/>
              <a:t>/10.1073/pnas.2505725122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decisive nested comparison. Each rung receives one additional kind of information. The goal is not merely lower error; it is to locate the boundary where pairwise state, many-particle context, or explicit memory first becomes necessary, and to test whether cumulants or history complexity anticipate that boundary. Pacing: about 2 minutes.</a:t>
            </a:r>
          </a:p>
          <a:p>
            <a:endParaRPr/>
          </a:p>
          <a:p>
            <a:r>
              <a:t>[Sources]</a:t>
            </a:r>
          </a:p>
          <a:p>
            <a:r>
              <a:t>- /Users/ag245/Library/CloudStorage/GoogleDrive-annacgilbert@gmail.com/My Drive/Research/TEMPEST model bake-off/docs/experimental_pipeline.md</a:t>
            </a:r>
          </a:p>
          <a:p>
            <a:r>
              <a:t>- /Users/ag245/Library/CloudStorage/GoogleDrive-annacgilbert@gmail.com/My Drive/Research/TEMPEST model bake-off/docs/benchmark_specification.md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computational/evaluative harness already described in the project. The harness keeps closure science separate from data handling, integration, scoring, and report generation. It makes fairness and reproducibility properties of the scaffolding rather than after-the-fact promises. Pacing: about 1.5 minutes.</a:t>
            </a:r>
          </a:p>
          <a:p>
            <a:endParaRPr/>
          </a:p>
          <a:p>
            <a:r>
              <a:t>[Sources]</a:t>
            </a:r>
          </a:p>
          <a:p>
            <a:r>
              <a:t>- /Users/ag245/Library/CloudStorage/GoogleDrive-annacgilbert@gmail.com/My Drive/Research/TEMPEST model bake-off/docs/PROJECT_BRIEF.md</a:t>
            </a:r>
          </a:p>
          <a:p>
            <a:r>
              <a:t>- /Users/ag245/Library/CloudStorage/GoogleDrive-annacgilbert@gmail.com/My Drive/Research/TEMPEST model bake-off/docs/evaluation_protocol.md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scorecards keep unlike tasks separate while allowing program-level conclusions. The key synthesis is not which architecture wins, but which information class becomes necessary, whether it survives solver feedback, and whether its design principle transfers. Pacing: about 2 minutes.</a:t>
            </a:r>
          </a:p>
          <a:p>
            <a:endParaRPr/>
          </a:p>
          <a:p>
            <a:r>
              <a:t>[Sources]</a:t>
            </a:r>
          </a:p>
          <a:p>
            <a:r>
              <a:t>- /Users/ag245/Library/CloudStorage/GoogleDrive-annacgilbert@gmail.com/My Drive/Research/TEMPEST model bake-off/docs/evaluation_protocol.md</a:t>
            </a:r>
          </a:p>
          <a:p>
            <a:r>
              <a:t>- /Users/ag245/Library/CloudStorage/GoogleDrive-annacgilbert@gmail.com/My Drive/Research/TEMPEST model bake-off/docs/information_budgets.md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why there is no undifferentiated leaderboard. PINNs, operators, closures, structured dynamics, and world models answer different questions and consume different information. They can share a harness, but direct ranking requires a common target and matched information. Pacing: about 2 minutes.</a:t>
            </a:r>
          </a:p>
          <a:p>
            <a:endParaRPr/>
          </a:p>
          <a:p>
            <a:r>
              <a:t>[Sources]</a:t>
            </a:r>
          </a:p>
          <a:p>
            <a:r>
              <a:t>- /Users/ag245/Library/CloudStorage/GoogleDrive-annacgilbert@gmail.com/My Drive/Research/TEMPEST model bake-off/references/closure_pinns_operators_world_models.tex</a:t>
            </a:r>
          </a:p>
          <a:p>
            <a:r>
              <a:t>- /Users/ag245/Library/CloudStorage/GoogleDrive-annacgilbert@gmail.com/My Drive/Research/TEMPEST model bake-off/docs/information_budgets.md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proposal identifies a second flagship line of sight: quantify under-resolved turbulence and shock-turbulence interaction in multi-dimensional core-collapse supernova calculations, then augment a scientifically accepted 1D supernova carrier with a volume-averaged 3D turbulence surrogate. The numerical target is the projected closure defect C*SN = ΠΩF3D(X) − F1D(ΠΩX), including Reynolds stress or turbulent pressure, turbulent energy, transport fluxes, production and dissipation, and optional finite memory. The embedded gate tests conservation, realizability, shock-capturing stability, and application observables such as shock-radius history and shock revival. Pacing: about 2.5 minutes.</a:t>
            </a:r>
          </a:p>
          <a:p>
            <a:endParaRPr/>
          </a:p>
          <a:p>
            <a:r>
              <a:t>[Sources]</a:t>
            </a:r>
          </a:p>
          <a:p>
            <a:r>
              <a:t>- /Users/ag245/Library/CloudStorage/GoogleDrive-annacgilbert@gmail.com/My Drive/Research/TEMPEST model bake-off/references/TEMPEST_proposal.pdf</a:t>
            </a:r>
          </a:p>
          <a:p>
            <a:r>
              <a:t>- /Users/ag245/Library/CloudStorage/GoogleDrive-annacgilbert@gmail.com/My Drive/Research/TEMPEST model bake-off/docs/supernova_application_profile.md</a:t>
            </a:r>
          </a:p>
          <a:p>
            <a:r>
              <a:t>- /Users/ag245/Library/CloudStorage/GoogleDrive-annacgilbert@gmail.com/My Drive/Research/TEMPEST model bake-off/docs/benchmark_options_memo.md</a:t>
            </a:r>
          </a:p>
          <a:p>
            <a:r>
              <a:t>- https://arxiv.org/abs/1902.01340</a:t>
            </a:r>
          </a:p>
          <a:p>
            <a:r>
              <a:t>- https://arxiv.org/abs/1902.04270</a:t>
            </a:r>
          </a:p>
          <a:p>
            <a:r>
              <a:t>- https://arxiv.org/abs/1605.09015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strongest feature is the separation between a theorem-faithful diagnostic layer and two application profiles. The central supernova risk is not simply model error: angle averaging, radial filtering, shock alignment, and imperfect 1D carriers can dominate the apparent target. We therefore report projection/filter uncertainty separately from closure error and retain dusty-plasma validation as an independent application test. Pacing: about 3 minutes.</a:t>
            </a:r>
          </a:p>
          <a:p>
            <a:endParaRPr/>
          </a:p>
          <a:p>
            <a:r>
              <a:t>[Sources]</a:t>
            </a:r>
          </a:p>
          <a:p>
            <a:r>
              <a:t>- /Users/ag245/Library/CloudStorage/GoogleDrive-annacgilbert@gmail.com/My Drive/Research/TEMPEST model bake-off/docs/benchmark_specification.md</a:t>
            </a:r>
          </a:p>
          <a:p>
            <a:r>
              <a:t>- /Users/ag245/Library/CloudStorage/GoogleDrive-annacgilbert@gmail.com/My Drive/Research/TEMPEST model bake-off/docs/evaluation_protocol.md</a:t>
            </a:r>
          </a:p>
          <a:p>
            <a:r>
              <a:t>- /Users/ag245/Library/CloudStorage/GoogleDrive-annacgilbert@gmail.com/My Drive/Research/TEMPEST model bake-off/docs/supernova_application_profile.md</a:t>
            </a:r>
          </a:p>
          <a:p>
            <a:r>
              <a:t>- /Users/ag245/Library/CloudStorage/GoogleDrive-annacgilbert@gmail.com/My Drive/Research/TEMPEST model bake-off/references/TEMPEST_proposal.pdf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7531673-A1F1-4909-A7DC-202719C3C0BA}"/>
              </a:ext>
            </a:extLst>
          </p:cNvPr>
          <p:cNvSpPr>
            <a:spLocks noGrp="1"/>
          </p:cNvSpPr>
          <p:nvPr/>
        </p:nvSpPr>
        <p:spPr>
          <a:xfrm>
            <a:off x="400050" y="400050"/>
            <a:ext cx="5715000" cy="381000"/>
          </a:xfrm>
          <a:prstGeom prst="rect">
            <a:avLst/>
          </a:prstGeom>
          <a:noFill/>
          <a:ln w="0">
            <a:noFill/>
            <a:prstDash val="solid"/>
          </a:ln>
        </p:spPr>
        <p:txBody>
          <a:bodyPr anchor="t">
            <a:noAutofit/>
          </a:bodyPr>
          <a:lstStyle/>
          <a:p>
            <a:pPr algn="l">
              <a:buNone/>
              <a:defRPr sz="1800" b="1" i="0">
                <a:solidFill>
                  <a:srgbClr val="143A72"/>
                </a:solidFill>
                <a:latin typeface="Helvetica Neue"/>
                <a:ea typeface="Helvetica Neue"/>
                <a:cs typeface="Helvetica Neue"/>
              </a:defRPr>
            </a:pPr>
            <a:r>
              <a:rPr sz="1800" b="1" i="0" dirty="0">
                <a:solidFill>
                  <a:srgbClr val="143A72"/>
                </a:solidFill>
                <a:latin typeface="Helvetica Neue"/>
                <a:ea typeface="Helvetica Neue"/>
                <a:cs typeface="Helvetica Neue"/>
              </a:rPr>
              <a:t>TEMPEST MEETING</a:t>
            </a:r>
          </a:p>
        </p:txBody>
      </p:sp>
      <p:sp>
        <p:nvSpPr>
          <p:cNvPr id="2" name="Rectangle 1">
            <a:extLst>
              <a:ext uri="{FF2B5EF4-FFF2-40B4-BE49-F238E27FC236}">
                <a16:creationId xmlns:a16="http://schemas.microsoft.com/office/drawing/2014/main" id="{5352E567-FEA1-42A9-BADF-70504819FAC5}"/>
              </a:ext>
            </a:extLst>
          </p:cNvPr>
          <p:cNvSpPr>
            <a:spLocks noGrp="1"/>
          </p:cNvSpPr>
          <p:nvPr/>
        </p:nvSpPr>
        <p:spPr>
          <a:xfrm>
            <a:off x="400050" y="1619250"/>
            <a:ext cx="10287000" cy="2571750"/>
          </a:xfrm>
          <a:prstGeom prst="rect">
            <a:avLst/>
          </a:prstGeom>
          <a:noFill/>
          <a:ln w="0">
            <a:noFill/>
            <a:prstDash val="solid"/>
          </a:ln>
        </p:spPr>
        <p:txBody>
          <a:bodyPr anchor="b">
            <a:normAutofit/>
          </a:bodyPr>
          <a:lstStyle/>
          <a:p>
            <a:pPr algn="l">
              <a:buNone/>
              <a:defRPr sz="5400" b="1" i="0">
                <a:solidFill>
                  <a:srgbClr val="000000"/>
                </a:solidFill>
                <a:latin typeface="Helvetica Neue"/>
                <a:ea typeface="Helvetica Neue"/>
                <a:cs typeface="Helvetica Neue"/>
              </a:defRPr>
            </a:pPr>
            <a:r>
              <a:rPr sz="5400" b="1" i="0">
                <a:solidFill>
                  <a:srgbClr val="000000"/>
                </a:solidFill>
                <a:latin typeface="Helvetica Neue"/>
                <a:ea typeface="Helvetica Neue"/>
                <a:cs typeface="Helvetica Neue"/>
              </a:rPr>
              <a:t>From closure theory to a</a:t>
            </a:r>
          </a:p>
          <a:p>
            <a:pPr algn="l">
              <a:buNone/>
              <a:defRPr sz="5400" b="1" i="0">
                <a:solidFill>
                  <a:srgbClr val="000000"/>
                </a:solidFill>
                <a:latin typeface="Helvetica Neue"/>
                <a:ea typeface="Helvetica Neue"/>
                <a:cs typeface="Helvetica Neue"/>
              </a:defRPr>
            </a:pPr>
            <a:r>
              <a:rPr sz="5400" b="1" i="0">
                <a:solidFill>
                  <a:srgbClr val="000000"/>
                </a:solidFill>
                <a:latin typeface="Helvetica Neue"/>
                <a:ea typeface="Helvetica Neue"/>
                <a:cs typeface="Helvetica Neue"/>
              </a:rPr>
              <a:t>TEMPEST AI/ML benchmark</a:t>
            </a:r>
          </a:p>
        </p:txBody>
      </p:sp>
      <p:sp>
        <p:nvSpPr>
          <p:cNvPr id="3" name="Rectangle 2">
            <a:extLst>
              <a:ext uri="{FF2B5EF4-FFF2-40B4-BE49-F238E27FC236}">
                <a16:creationId xmlns:a16="http://schemas.microsoft.com/office/drawing/2014/main" id="{0F45DAFC-54B8-4254-9C90-05729C687AFE}"/>
              </a:ext>
            </a:extLst>
          </p:cNvPr>
          <p:cNvSpPr>
            <a:spLocks noGrp="1"/>
          </p:cNvSpPr>
          <p:nvPr/>
        </p:nvSpPr>
        <p:spPr>
          <a:xfrm>
            <a:off x="400049" y="4762500"/>
            <a:ext cx="8443699" cy="990600"/>
          </a:xfrm>
          <a:prstGeom prst="rect">
            <a:avLst/>
          </a:prstGeom>
          <a:noFill/>
          <a:ln w="0">
            <a:noFill/>
            <a:prstDash val="solid"/>
          </a:ln>
        </p:spPr>
        <p:txBody>
          <a:bodyPr anchor="t">
            <a:normAutofit/>
          </a:bodyPr>
          <a:lstStyle/>
          <a:p>
            <a:pPr algn="l">
              <a:buNone/>
              <a:defRPr sz="2025" b="0" i="0">
                <a:solidFill>
                  <a:srgbClr val="5B6472"/>
                </a:solidFill>
                <a:latin typeface="Helvetica Neue"/>
                <a:ea typeface="Helvetica Neue"/>
                <a:cs typeface="Helvetica Neue"/>
              </a:defRPr>
            </a:pPr>
            <a:r>
              <a:rPr sz="2025" b="0" i="0" dirty="0">
                <a:solidFill>
                  <a:srgbClr val="5B6472"/>
                </a:solidFill>
                <a:latin typeface="Helvetica Neue"/>
                <a:ea typeface="Helvetica Neue"/>
                <a:cs typeface="Helvetica Neue"/>
              </a:rPr>
              <a:t>A linked </a:t>
            </a:r>
            <a:r>
              <a:rPr lang="en-US" sz="2025" b="0" i="0" dirty="0">
                <a:solidFill>
                  <a:srgbClr val="5B6472"/>
                </a:solidFill>
                <a:latin typeface="Helvetica Neue"/>
                <a:ea typeface="Helvetica Neue"/>
                <a:cs typeface="Helvetica Neue"/>
              </a:rPr>
              <a:t>computational, mathematical, and </a:t>
            </a:r>
            <a:r>
              <a:rPr sz="2025" b="0" i="0" dirty="0">
                <a:solidFill>
                  <a:srgbClr val="5B6472"/>
                </a:solidFill>
                <a:latin typeface="Helvetica Neue"/>
                <a:ea typeface="Helvetica Neue"/>
                <a:cs typeface="Helvetica Neue"/>
              </a:rPr>
              <a:t>experimental program from particles to kinetics, moments, and 3D-to-1D turbulence</a:t>
            </a:r>
          </a:p>
        </p:txBody>
      </p:sp>
      <p:sp>
        <p:nvSpPr>
          <p:cNvPr id="4" name="Rectangle 3">
            <a:extLst>
              <a:ext uri="{FF2B5EF4-FFF2-40B4-BE49-F238E27FC236}">
                <a16:creationId xmlns:a16="http://schemas.microsoft.com/office/drawing/2014/main" id="{57C38450-28FA-45D2-8874-04F2F5EC4596}"/>
              </a:ext>
            </a:extLst>
          </p:cNvPr>
          <p:cNvSpPr>
            <a:spLocks noGrp="1"/>
          </p:cNvSpPr>
          <p:nvPr/>
        </p:nvSpPr>
        <p:spPr>
          <a:xfrm>
            <a:off x="400050" y="6105525"/>
            <a:ext cx="2381250" cy="266700"/>
          </a:xfrm>
          <a:prstGeom prst="rect">
            <a:avLst/>
          </a:prstGeom>
          <a:noFill/>
          <a:ln w="0">
            <a:noFill/>
            <a:prstDash val="solid"/>
          </a:ln>
        </p:spPr>
        <p:txBody>
          <a:bodyPr anchor="t">
            <a:noAutofit/>
          </a:bodyPr>
          <a:lstStyle/>
          <a:p>
            <a:pPr algn="l">
              <a:buNone/>
              <a:defRPr sz="1350" b="0" i="0">
                <a:solidFill>
                  <a:srgbClr val="5B6472"/>
                </a:solidFill>
                <a:latin typeface="Helvetica Neue"/>
                <a:ea typeface="Helvetica Neue"/>
                <a:cs typeface="Helvetica Neue"/>
              </a:defRPr>
            </a:pPr>
            <a:r>
              <a:rPr lang="en-US" sz="1350" b="0" i="0" dirty="0">
                <a:solidFill>
                  <a:srgbClr val="5B6472"/>
                </a:solidFill>
                <a:latin typeface="Helvetica Neue"/>
                <a:ea typeface="Helvetica Neue"/>
                <a:cs typeface="Helvetica Neue"/>
              </a:rPr>
              <a:t>September</a:t>
            </a:r>
            <a:r>
              <a:rPr sz="1350" b="0" i="0" dirty="0">
                <a:solidFill>
                  <a:srgbClr val="5B6472"/>
                </a:solidFill>
                <a:latin typeface="Helvetica Neue"/>
                <a:ea typeface="Helvetica Neue"/>
                <a:cs typeface="Helvetica Neue"/>
              </a:rPr>
              <a:t> 2026</a:t>
            </a:r>
          </a:p>
        </p:txBody>
      </p:sp>
    </p:spTree>
    <p:extLst>
      <p:ext uri="{BB962C8B-B14F-4D97-AF65-F5344CB8AC3E}">
        <p14:creationId xmlns:p14="http://schemas.microsoft.com/office/powerpoint/2010/main" val="13983692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A2E1163-9ED4-4F0C-9210-AF3C7C2E4C66}"/>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97B70B68-9506-482C-A039-9FB3B8A8DD4F}"/>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Closure is the influence of what we discarded</a:t>
            </a:r>
          </a:p>
        </p:txBody>
      </p:sp>
      <p:cxnSp>
        <p:nvCxnSpPr>
          <p:cNvPr id="16" name="Straight Arrow Connector 15"/>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75CD1AA9-9356-471F-AB89-37034CEB5EC2}"/>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2</a:t>
            </a:r>
          </a:p>
        </p:txBody>
      </p:sp>
      <p:pic>
        <p:nvPicPr>
          <p:cNvPr id="18" name="Picture 17"/>
          <p:cNvPicPr>
            <a:picLocks noChangeAspect="1"/>
          </p:cNvPicPr>
          <p:nvPr/>
        </p:nvPicPr>
        <p:blipFill>
          <a:blip r:embed="rId3"/>
          <a:stretch/>
        </p:blipFill>
        <p:spPr>
          <a:xfrm>
            <a:off x="1526429" y="1266825"/>
            <a:ext cx="9139141" cy="5143500"/>
          </a:xfrm>
          <a:prstGeom prst="rect">
            <a:avLst/>
          </a:prstGeom>
        </p:spPr>
      </p:pic>
      <p:sp>
        <p:nvSpPr>
          <p:cNvPr id="3" name="Oval 2">
            <a:extLst>
              <a:ext uri="{FF2B5EF4-FFF2-40B4-BE49-F238E27FC236}">
                <a16:creationId xmlns:a16="http://schemas.microsoft.com/office/drawing/2014/main" id="{9E2022D6-98CE-10AB-E4A9-8BC54854E643}"/>
              </a:ext>
            </a:extLst>
          </p:cNvPr>
          <p:cNvSpPr/>
          <p:nvPr/>
        </p:nvSpPr>
        <p:spPr>
          <a:xfrm>
            <a:off x="6400800" y="4490113"/>
            <a:ext cx="2756848" cy="1733266"/>
          </a:xfrm>
          <a:prstGeom prst="ellipse">
            <a:avLst/>
          </a:prstGeom>
          <a:noFill/>
          <a:ln w="381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53418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68E9E38-D508-4CAF-A657-1A873A1F8AA4}"/>
              </a:ext>
            </a:extLst>
          </p:cNvPr>
          <p:cNvSpPr>
            <a:spLocks noGrp="1"/>
          </p:cNvSpPr>
          <p:nvPr/>
        </p:nvSpPr>
        <p:spPr>
          <a:xfrm>
            <a:off x="333373" y="1757362"/>
            <a:ext cx="11458575" cy="695325"/>
          </a:xfrm>
          <a:prstGeom prst="rect">
            <a:avLst/>
          </a:prstGeom>
          <a:solidFill>
            <a:schemeClr val="accent6">
              <a:lumMod val="40000"/>
              <a:lumOff val="60000"/>
            </a:schemeClr>
          </a:solidFill>
          <a:ln w="0">
            <a:solidFill>
              <a:srgbClr val="D0EDFA"/>
            </a:solidFill>
            <a:prstDash val="solid"/>
          </a:ln>
        </p:spPr>
        <p:txBody>
          <a:bodyPr/>
          <a:lstStyle/>
          <a:p>
            <a:endParaRPr lang="en-US"/>
          </a:p>
        </p:txBody>
      </p:sp>
      <p:sp>
        <p:nvSpPr>
          <p:cNvPr id="3" name="Rectangle 2">
            <a:extLst>
              <a:ext uri="{FF2B5EF4-FFF2-40B4-BE49-F238E27FC236}">
                <a16:creationId xmlns:a16="http://schemas.microsoft.com/office/drawing/2014/main" id="{BCCBC3F5-9C88-2582-F193-34F0CB58A3F3}"/>
              </a:ext>
            </a:extLst>
          </p:cNvPr>
          <p:cNvSpPr>
            <a:spLocks noGrp="1"/>
          </p:cNvSpPr>
          <p:nvPr/>
        </p:nvSpPr>
        <p:spPr>
          <a:xfrm>
            <a:off x="333374" y="5100637"/>
            <a:ext cx="11458575" cy="695325"/>
          </a:xfrm>
          <a:prstGeom prst="rect">
            <a:avLst/>
          </a:prstGeom>
          <a:solidFill>
            <a:schemeClr val="accent2">
              <a:lumMod val="60000"/>
              <a:lumOff val="40000"/>
            </a:schemeClr>
          </a:solidFill>
          <a:ln w="0">
            <a:solidFill>
              <a:srgbClr val="D0EDFA"/>
            </a:solidFill>
            <a:prstDash val="solid"/>
          </a:ln>
        </p:spPr>
        <p:txBody>
          <a:bodyPr/>
          <a:lstStyle/>
          <a:p>
            <a:endParaRPr lang="en-US"/>
          </a:p>
        </p:txBody>
      </p:sp>
      <p:sp>
        <p:nvSpPr>
          <p:cNvPr id="30" name="Rectangle 29">
            <a:extLst>
              <a:ext uri="{FF2B5EF4-FFF2-40B4-BE49-F238E27FC236}">
                <a16:creationId xmlns:a16="http://schemas.microsoft.com/office/drawing/2014/main" id="{57DF9A1A-E892-4B87-998E-79372A8611DA}"/>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56A19793-FDE1-4634-8BF3-060C5D84677E}"/>
              </a:ext>
            </a:extLst>
          </p:cNvPr>
          <p:cNvSpPr>
            <a:spLocks noGrp="1"/>
          </p:cNvSpPr>
          <p:nvPr/>
        </p:nvSpPr>
        <p:spPr>
          <a:xfrm>
            <a:off x="400050" y="495300"/>
            <a:ext cx="11391900" cy="590550"/>
          </a:xfrm>
          <a:prstGeom prst="rect">
            <a:avLst/>
          </a:prstGeom>
          <a:noFill/>
          <a:ln w="0">
            <a:noFill/>
            <a:prstDash val="solid"/>
          </a:ln>
        </p:spPr>
        <p:txBody>
          <a:bodyPr anchor="t">
            <a:normAutofit fontScale="70000" lnSpcReduction="20000"/>
          </a:bodyPr>
          <a:lstStyle/>
          <a:p>
            <a:pPr algn="l">
              <a:buNone/>
              <a:defRPr sz="2925" b="1" i="0">
                <a:solidFill>
                  <a:srgbClr val="000000"/>
                </a:solidFill>
                <a:latin typeface="Helvetica Neue"/>
                <a:ea typeface="Helvetica Neue"/>
                <a:cs typeface="Helvetica Neue"/>
              </a:defRPr>
            </a:pPr>
            <a:r>
              <a:rPr sz="2925" b="1" i="0" dirty="0">
                <a:solidFill>
                  <a:srgbClr val="000000"/>
                </a:solidFill>
                <a:latin typeface="Helvetica Neue"/>
                <a:ea typeface="Helvetica Neue"/>
                <a:cs typeface="Helvetica Neue"/>
              </a:rPr>
              <a:t>What does the network actually learn?</a:t>
            </a:r>
            <a:r>
              <a:rPr lang="en-US" sz="2925" b="1" i="0" dirty="0">
                <a:solidFill>
                  <a:srgbClr val="000000"/>
                </a:solidFill>
                <a:latin typeface="Helvetica Neue"/>
                <a:ea typeface="Helvetica Neue"/>
                <a:cs typeface="Helvetica Neue"/>
              </a:rPr>
              <a:t> Or, from what can we build a closure model?</a:t>
            </a:r>
            <a:endParaRPr sz="2925" b="1" i="0" dirty="0">
              <a:solidFill>
                <a:srgbClr val="000000"/>
              </a:solidFill>
              <a:latin typeface="Helvetica Neue"/>
              <a:ea typeface="Helvetica Neue"/>
              <a:cs typeface="Helvetica Neue"/>
            </a:endParaRPr>
          </a:p>
        </p:txBody>
      </p:sp>
      <p:cxnSp>
        <p:nvCxnSpPr>
          <p:cNvPr id="90" name="Straight Arrow Connector 89"/>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505E1A22-C746-495A-9EB2-F0B32325C8D7}"/>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3</a:t>
            </a:r>
          </a:p>
        </p:txBody>
      </p:sp>
      <p:sp>
        <p:nvSpPr>
          <p:cNvPr id="5" name="Rectangle 4">
            <a:extLst>
              <a:ext uri="{FF2B5EF4-FFF2-40B4-BE49-F238E27FC236}">
                <a16:creationId xmlns:a16="http://schemas.microsoft.com/office/drawing/2014/main" id="{3BF95B1E-B95E-4E44-9EF5-661BC11D8A43}"/>
              </a:ext>
            </a:extLst>
          </p:cNvPr>
          <p:cNvSpPr>
            <a:spLocks noGrp="1"/>
          </p:cNvSpPr>
          <p:nvPr/>
        </p:nvSpPr>
        <p:spPr>
          <a:xfrm>
            <a:off x="400050" y="1428750"/>
            <a:ext cx="3143250" cy="285750"/>
          </a:xfrm>
          <a:prstGeom prst="rect">
            <a:avLst/>
          </a:prstGeom>
          <a:noFill/>
          <a:ln w="0">
            <a:noFill/>
            <a:prstDash val="solid"/>
          </a:ln>
        </p:spPr>
        <p:txBody>
          <a:bodyPr anchor="t">
            <a:normAutofit/>
          </a:bodyPr>
          <a:lstStyle/>
          <a:p>
            <a:pPr algn="l">
              <a:buNone/>
              <a:defRPr sz="1200" b="1" i="0">
                <a:solidFill>
                  <a:srgbClr val="5B6472"/>
                </a:solidFill>
                <a:latin typeface="Helvetica Neue"/>
                <a:ea typeface="Helvetica Neue"/>
                <a:cs typeface="Helvetica Neue"/>
              </a:defRPr>
            </a:pPr>
            <a:r>
              <a:rPr sz="1200" b="1" i="0">
                <a:solidFill>
                  <a:srgbClr val="5B6472"/>
                </a:solidFill>
                <a:latin typeface="Helvetica Neue"/>
                <a:ea typeface="Helvetica Neue"/>
                <a:cs typeface="Helvetica Neue"/>
              </a:rPr>
              <a:t>MATHEMATICAL OBJECT</a:t>
            </a:r>
          </a:p>
        </p:txBody>
      </p:sp>
      <p:sp>
        <p:nvSpPr>
          <p:cNvPr id="6" name="Rectangle 5">
            <a:extLst>
              <a:ext uri="{FF2B5EF4-FFF2-40B4-BE49-F238E27FC236}">
                <a16:creationId xmlns:a16="http://schemas.microsoft.com/office/drawing/2014/main" id="{0C55A92E-511B-4988-BABB-9848951DAC23}"/>
              </a:ext>
            </a:extLst>
          </p:cNvPr>
          <p:cNvSpPr>
            <a:spLocks noGrp="1"/>
          </p:cNvSpPr>
          <p:nvPr/>
        </p:nvSpPr>
        <p:spPr>
          <a:xfrm>
            <a:off x="4210050" y="1428750"/>
            <a:ext cx="2857500" cy="285750"/>
          </a:xfrm>
          <a:prstGeom prst="rect">
            <a:avLst/>
          </a:prstGeom>
          <a:noFill/>
          <a:ln w="0">
            <a:noFill/>
            <a:prstDash val="solid"/>
          </a:ln>
        </p:spPr>
        <p:txBody>
          <a:bodyPr anchor="t">
            <a:normAutofit/>
          </a:bodyPr>
          <a:lstStyle/>
          <a:p>
            <a:pPr algn="l">
              <a:buNone/>
              <a:defRPr sz="1200" b="1" i="0">
                <a:solidFill>
                  <a:srgbClr val="5B6472"/>
                </a:solidFill>
                <a:latin typeface="Helvetica Neue"/>
                <a:ea typeface="Helvetica Neue"/>
                <a:cs typeface="Helvetica Neue"/>
              </a:defRPr>
            </a:pPr>
            <a:r>
              <a:rPr sz="1200" b="1" i="0">
                <a:solidFill>
                  <a:srgbClr val="5B6472"/>
                </a:solidFill>
                <a:latin typeface="Helvetica Neue"/>
                <a:ea typeface="Helvetica Neue"/>
                <a:cs typeface="Helvetica Neue"/>
              </a:rPr>
              <a:t>TYPICAL METHOD</a:t>
            </a:r>
          </a:p>
        </p:txBody>
      </p:sp>
      <p:sp>
        <p:nvSpPr>
          <p:cNvPr id="7" name="Rectangle 6">
            <a:extLst>
              <a:ext uri="{FF2B5EF4-FFF2-40B4-BE49-F238E27FC236}">
                <a16:creationId xmlns:a16="http://schemas.microsoft.com/office/drawing/2014/main" id="{F6BA100E-5EEE-421F-8D2B-072DB8DCC45F}"/>
              </a:ext>
            </a:extLst>
          </p:cNvPr>
          <p:cNvSpPr>
            <a:spLocks noGrp="1"/>
          </p:cNvSpPr>
          <p:nvPr/>
        </p:nvSpPr>
        <p:spPr>
          <a:xfrm>
            <a:off x="7524750" y="1428750"/>
            <a:ext cx="4000500" cy="285750"/>
          </a:xfrm>
          <a:prstGeom prst="rect">
            <a:avLst/>
          </a:prstGeom>
          <a:noFill/>
          <a:ln w="0">
            <a:noFill/>
            <a:prstDash val="solid"/>
          </a:ln>
        </p:spPr>
        <p:txBody>
          <a:bodyPr anchor="t">
            <a:normAutofit/>
          </a:bodyPr>
          <a:lstStyle/>
          <a:p>
            <a:pPr algn="l">
              <a:buNone/>
              <a:defRPr sz="1200" b="1" i="0">
                <a:solidFill>
                  <a:srgbClr val="5B6472"/>
                </a:solidFill>
                <a:latin typeface="Helvetica Neue"/>
                <a:ea typeface="Helvetica Neue"/>
                <a:cs typeface="Helvetica Neue"/>
              </a:defRPr>
            </a:pPr>
            <a:r>
              <a:rPr lang="en-US" sz="1200" b="1" i="0" dirty="0">
                <a:solidFill>
                  <a:srgbClr val="5B6472"/>
                </a:solidFill>
                <a:latin typeface="Helvetica Neue"/>
                <a:ea typeface="Helvetica Neue"/>
                <a:cs typeface="Helvetica Neue"/>
              </a:rPr>
              <a:t>USED FOR</a:t>
            </a:r>
            <a:endParaRPr sz="1200" b="1" i="0" dirty="0">
              <a:solidFill>
                <a:srgbClr val="5B6472"/>
              </a:solidFill>
              <a:latin typeface="Helvetica Neue"/>
              <a:ea typeface="Helvetica Neue"/>
              <a:cs typeface="Helvetica Neue"/>
            </a:endParaRPr>
          </a:p>
        </p:txBody>
      </p:sp>
      <p:cxnSp>
        <p:nvCxnSpPr>
          <p:cNvPr id="95" name="Straight Arrow Connector 94"/>
          <p:cNvCxnSpPr/>
          <p:nvPr/>
        </p:nvCxnSpPr>
        <p:spPr>
          <a:xfrm>
            <a:off x="400050" y="1743075"/>
            <a:ext cx="11391900" cy="953"/>
          </a:xfrm>
          <a:prstGeom prst="straightConnector1">
            <a:avLst/>
          </a:prstGeom>
          <a:ln w="14288">
            <a:solidFill>
              <a:srgbClr val="000000"/>
            </a:solidFill>
            <a:prstDash val="solid"/>
          </a:ln>
        </p:spPr>
      </p:cxnSp>
      <p:sp>
        <p:nvSpPr>
          <p:cNvPr id="9" name="Rectangle 8">
            <a:extLst>
              <a:ext uri="{FF2B5EF4-FFF2-40B4-BE49-F238E27FC236}">
                <a16:creationId xmlns:a16="http://schemas.microsoft.com/office/drawing/2014/main" id="{307BCCC4-7C2C-4FDF-89B4-2D0F0E535AF2}"/>
              </a:ext>
            </a:extLst>
          </p:cNvPr>
          <p:cNvSpPr>
            <a:spLocks noGrp="1"/>
          </p:cNvSpPr>
          <p:nvPr/>
        </p:nvSpPr>
        <p:spPr>
          <a:xfrm>
            <a:off x="400050" y="1924050"/>
            <a:ext cx="3429000" cy="476250"/>
          </a:xfrm>
          <a:prstGeom prst="rect">
            <a:avLst/>
          </a:prstGeom>
          <a:noFill/>
          <a:ln w="0">
            <a:noFill/>
            <a:prstDash val="solid"/>
          </a:ln>
        </p:spPr>
        <p:txBody>
          <a:bodyPr anchor="t">
            <a:normAutofit/>
          </a:bodyPr>
          <a:lstStyle/>
          <a:p>
            <a:pPr algn="l">
              <a:buNone/>
              <a:defRPr sz="1725" b="0" i="0">
                <a:solidFill>
                  <a:srgbClr val="000000"/>
                </a:solidFill>
                <a:latin typeface="Helvetica Neue"/>
                <a:ea typeface="Helvetica Neue"/>
                <a:cs typeface="Helvetica Neue"/>
              </a:defRPr>
            </a:pPr>
            <a:r>
              <a:rPr sz="1725" b="0" i="0">
                <a:solidFill>
                  <a:srgbClr val="000000"/>
                </a:solidFill>
                <a:latin typeface="Helvetica Neue"/>
                <a:ea typeface="Helvetica Neue"/>
                <a:cs typeface="Helvetica Neue"/>
              </a:rPr>
              <a:t>Particular solution</a:t>
            </a:r>
          </a:p>
        </p:txBody>
      </p:sp>
      <p:sp>
        <p:nvSpPr>
          <p:cNvPr id="10" name="Rectangle 9">
            <a:extLst>
              <a:ext uri="{FF2B5EF4-FFF2-40B4-BE49-F238E27FC236}">
                <a16:creationId xmlns:a16="http://schemas.microsoft.com/office/drawing/2014/main" id="{56655A3B-EFA5-49DE-B698-9E4194510CB0}"/>
              </a:ext>
            </a:extLst>
          </p:cNvPr>
          <p:cNvSpPr>
            <a:spLocks noGrp="1"/>
          </p:cNvSpPr>
          <p:nvPr/>
        </p:nvSpPr>
        <p:spPr>
          <a:xfrm>
            <a:off x="4094329" y="1924050"/>
            <a:ext cx="3027813" cy="476250"/>
          </a:xfrm>
          <a:prstGeom prst="rect">
            <a:avLst/>
          </a:prstGeom>
          <a:noFill/>
          <a:ln w="0">
            <a:noFill/>
            <a:prstDash val="solid"/>
          </a:ln>
        </p:spPr>
        <p:txBody>
          <a:bodyPr anchor="t">
            <a:normAutofit fontScale="92500"/>
          </a:bodyPr>
          <a:lstStyle/>
          <a:p>
            <a:pPr algn="l">
              <a:buNone/>
              <a:defRPr sz="1575" b="0" i="0">
                <a:solidFill>
                  <a:srgbClr val="000000"/>
                </a:solidFill>
                <a:latin typeface="Helvetica Neue"/>
                <a:ea typeface="Helvetica Neue"/>
                <a:cs typeface="Helvetica Neue"/>
              </a:defRPr>
            </a:pPr>
            <a:r>
              <a:rPr sz="1575" b="0" i="0" dirty="0">
                <a:solidFill>
                  <a:srgbClr val="000000"/>
                </a:solidFill>
                <a:latin typeface="Helvetica Neue"/>
                <a:ea typeface="Helvetica Neue"/>
                <a:cs typeface="Helvetica Neue"/>
              </a:rPr>
              <a:t>PINN</a:t>
            </a:r>
            <a:r>
              <a:rPr lang="en-US" sz="1575" dirty="0">
                <a:solidFill>
                  <a:srgbClr val="000000"/>
                </a:solidFill>
                <a:latin typeface="Helvetica Neue"/>
                <a:ea typeface="Helvetica Neue"/>
                <a:cs typeface="Helvetica Neue"/>
              </a:rPr>
              <a:t>, </a:t>
            </a:r>
            <a:r>
              <a:rPr lang="en-US" sz="1575" b="1" dirty="0">
                <a:solidFill>
                  <a:schemeClr val="tx2"/>
                </a:solidFill>
                <a:latin typeface="Helvetica Neue"/>
                <a:ea typeface="Helvetica Neue"/>
                <a:cs typeface="Helvetica Neue"/>
              </a:rPr>
              <a:t>structure preserving NN</a:t>
            </a:r>
            <a:endParaRPr sz="1575" b="1" i="0" dirty="0">
              <a:solidFill>
                <a:schemeClr val="tx2"/>
              </a:solidFill>
              <a:latin typeface="Helvetica Neue"/>
              <a:ea typeface="Helvetica Neue"/>
              <a:cs typeface="Helvetica Neue"/>
            </a:endParaRPr>
          </a:p>
        </p:txBody>
      </p:sp>
      <p:sp>
        <p:nvSpPr>
          <p:cNvPr id="11" name="Rectangle 10">
            <a:extLst>
              <a:ext uri="{FF2B5EF4-FFF2-40B4-BE49-F238E27FC236}">
                <a16:creationId xmlns:a16="http://schemas.microsoft.com/office/drawing/2014/main" id="{E8A8C822-F4AC-4818-B69E-E3EF925C927C}"/>
              </a:ext>
            </a:extLst>
          </p:cNvPr>
          <p:cNvSpPr>
            <a:spLocks noGrp="1"/>
          </p:cNvSpPr>
          <p:nvPr/>
        </p:nvSpPr>
        <p:spPr>
          <a:xfrm>
            <a:off x="7524750" y="1924050"/>
            <a:ext cx="4000500" cy="4762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One forward or inverse instance</a:t>
            </a:r>
          </a:p>
        </p:txBody>
      </p:sp>
      <p:cxnSp>
        <p:nvCxnSpPr>
          <p:cNvPr id="99" name="Straight Arrow Connector 98"/>
          <p:cNvCxnSpPr/>
          <p:nvPr/>
        </p:nvCxnSpPr>
        <p:spPr>
          <a:xfrm>
            <a:off x="400050" y="2505075"/>
            <a:ext cx="11391900" cy="953"/>
          </a:xfrm>
          <a:prstGeom prst="straightConnector1">
            <a:avLst/>
          </a:prstGeom>
          <a:ln w="9525">
            <a:solidFill>
              <a:srgbClr val="B8BCC4"/>
            </a:solidFill>
            <a:prstDash val="solid"/>
          </a:ln>
        </p:spPr>
      </p:cxnSp>
      <p:sp>
        <p:nvSpPr>
          <p:cNvPr id="13" name="Rectangle 12">
            <a:extLst>
              <a:ext uri="{FF2B5EF4-FFF2-40B4-BE49-F238E27FC236}">
                <a16:creationId xmlns:a16="http://schemas.microsoft.com/office/drawing/2014/main" id="{143E0C1B-E17F-4C72-A05E-0ABC20C6562A}"/>
              </a:ext>
            </a:extLst>
          </p:cNvPr>
          <p:cNvSpPr>
            <a:spLocks noGrp="1"/>
          </p:cNvSpPr>
          <p:nvPr/>
        </p:nvSpPr>
        <p:spPr>
          <a:xfrm>
            <a:off x="400050" y="2762250"/>
            <a:ext cx="3429000" cy="476250"/>
          </a:xfrm>
          <a:prstGeom prst="rect">
            <a:avLst/>
          </a:prstGeom>
          <a:noFill/>
          <a:ln w="0">
            <a:noFill/>
            <a:prstDash val="solid"/>
          </a:ln>
        </p:spPr>
        <p:txBody>
          <a:bodyPr anchor="t">
            <a:normAutofit/>
          </a:bodyPr>
          <a:lstStyle/>
          <a:p>
            <a:pPr algn="l">
              <a:buNone/>
              <a:defRPr sz="1725" b="0" i="0">
                <a:solidFill>
                  <a:srgbClr val="000000"/>
                </a:solidFill>
                <a:latin typeface="Helvetica Neue"/>
                <a:ea typeface="Helvetica Neue"/>
                <a:cs typeface="Helvetica Neue"/>
              </a:defRPr>
            </a:pPr>
            <a:r>
              <a:rPr sz="1725" b="0" i="0">
                <a:solidFill>
                  <a:srgbClr val="000000"/>
                </a:solidFill>
                <a:latin typeface="Helvetica Neue"/>
                <a:ea typeface="Helvetica Neue"/>
                <a:cs typeface="Helvetica Neue"/>
              </a:rPr>
              <a:t>Solution operator</a:t>
            </a:r>
          </a:p>
        </p:txBody>
      </p:sp>
      <p:sp>
        <p:nvSpPr>
          <p:cNvPr id="14" name="Rectangle 13">
            <a:extLst>
              <a:ext uri="{FF2B5EF4-FFF2-40B4-BE49-F238E27FC236}">
                <a16:creationId xmlns:a16="http://schemas.microsoft.com/office/drawing/2014/main" id="{370C3CCC-E9FC-4155-9893-33201C802C40}"/>
              </a:ext>
            </a:extLst>
          </p:cNvPr>
          <p:cNvSpPr>
            <a:spLocks noGrp="1"/>
          </p:cNvSpPr>
          <p:nvPr/>
        </p:nvSpPr>
        <p:spPr>
          <a:xfrm>
            <a:off x="4210050" y="2762250"/>
            <a:ext cx="2857500" cy="4762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a:solidFill>
                  <a:srgbClr val="000000"/>
                </a:solidFill>
                <a:latin typeface="Helvetica Neue"/>
                <a:ea typeface="Helvetica Neue"/>
                <a:cs typeface="Helvetica Neue"/>
              </a:rPr>
              <a:t>Neural operator / PINO</a:t>
            </a:r>
          </a:p>
        </p:txBody>
      </p:sp>
      <p:sp>
        <p:nvSpPr>
          <p:cNvPr id="15" name="Rectangle 14">
            <a:extLst>
              <a:ext uri="{FF2B5EF4-FFF2-40B4-BE49-F238E27FC236}">
                <a16:creationId xmlns:a16="http://schemas.microsoft.com/office/drawing/2014/main" id="{8A3951B3-968F-46B4-B894-D2CB5A733736}"/>
              </a:ext>
            </a:extLst>
          </p:cNvPr>
          <p:cNvSpPr>
            <a:spLocks noGrp="1"/>
          </p:cNvSpPr>
          <p:nvPr/>
        </p:nvSpPr>
        <p:spPr>
          <a:xfrm>
            <a:off x="7524750" y="2762250"/>
            <a:ext cx="4000500" cy="4762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A family of inputs and solutions</a:t>
            </a:r>
          </a:p>
        </p:txBody>
      </p:sp>
      <p:cxnSp>
        <p:nvCxnSpPr>
          <p:cNvPr id="103" name="Straight Arrow Connector 102"/>
          <p:cNvCxnSpPr/>
          <p:nvPr/>
        </p:nvCxnSpPr>
        <p:spPr>
          <a:xfrm>
            <a:off x="400050" y="3343275"/>
            <a:ext cx="11391900" cy="953"/>
          </a:xfrm>
          <a:prstGeom prst="straightConnector1">
            <a:avLst/>
          </a:prstGeom>
          <a:ln w="9525">
            <a:solidFill>
              <a:srgbClr val="B8BCC4"/>
            </a:solidFill>
            <a:prstDash val="solid"/>
          </a:ln>
        </p:spPr>
      </p:cxnSp>
      <p:sp>
        <p:nvSpPr>
          <p:cNvPr id="17" name="Rectangle 16">
            <a:extLst>
              <a:ext uri="{FF2B5EF4-FFF2-40B4-BE49-F238E27FC236}">
                <a16:creationId xmlns:a16="http://schemas.microsoft.com/office/drawing/2014/main" id="{94D4AD7A-7C7B-4517-9C06-B811E81C2BC5}"/>
              </a:ext>
            </a:extLst>
          </p:cNvPr>
          <p:cNvSpPr>
            <a:spLocks noGrp="1"/>
          </p:cNvSpPr>
          <p:nvPr/>
        </p:nvSpPr>
        <p:spPr>
          <a:xfrm>
            <a:off x="333375" y="3514725"/>
            <a:ext cx="11458575" cy="695325"/>
          </a:xfrm>
          <a:prstGeom prst="rect">
            <a:avLst/>
          </a:prstGeom>
          <a:solidFill>
            <a:srgbClr val="D0EDFA"/>
          </a:solidFill>
          <a:ln w="0">
            <a:solidFill>
              <a:srgbClr val="D0EDFA"/>
            </a:solidFill>
            <a:prstDash val="solid"/>
          </a:ln>
        </p:spPr>
        <p:txBody>
          <a:bodyPr/>
          <a:lstStyle/>
          <a:p>
            <a:endParaRPr lang="en-US"/>
          </a:p>
        </p:txBody>
      </p:sp>
      <p:sp>
        <p:nvSpPr>
          <p:cNvPr id="18" name="Rectangle 17">
            <a:extLst>
              <a:ext uri="{FF2B5EF4-FFF2-40B4-BE49-F238E27FC236}">
                <a16:creationId xmlns:a16="http://schemas.microsoft.com/office/drawing/2014/main" id="{6F700FC5-61DB-44DD-96F3-ADD243EFC2C5}"/>
              </a:ext>
            </a:extLst>
          </p:cNvPr>
          <p:cNvSpPr>
            <a:spLocks noGrp="1"/>
          </p:cNvSpPr>
          <p:nvPr/>
        </p:nvSpPr>
        <p:spPr>
          <a:xfrm>
            <a:off x="400050" y="3600450"/>
            <a:ext cx="3429000" cy="476250"/>
          </a:xfrm>
          <a:prstGeom prst="rect">
            <a:avLst/>
          </a:prstGeom>
          <a:noFill/>
          <a:ln w="0">
            <a:noFill/>
            <a:prstDash val="solid"/>
          </a:ln>
        </p:spPr>
        <p:txBody>
          <a:bodyPr anchor="t">
            <a:normAutofit/>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Closure residual</a:t>
            </a:r>
          </a:p>
        </p:txBody>
      </p:sp>
      <p:sp>
        <p:nvSpPr>
          <p:cNvPr id="19" name="Rectangle 18">
            <a:extLst>
              <a:ext uri="{FF2B5EF4-FFF2-40B4-BE49-F238E27FC236}">
                <a16:creationId xmlns:a16="http://schemas.microsoft.com/office/drawing/2014/main" id="{D15C75A2-E79B-4DF0-90DB-3A7E45013481}"/>
              </a:ext>
            </a:extLst>
          </p:cNvPr>
          <p:cNvSpPr>
            <a:spLocks noGrp="1"/>
          </p:cNvSpPr>
          <p:nvPr/>
        </p:nvSpPr>
        <p:spPr>
          <a:xfrm>
            <a:off x="4210050" y="3600450"/>
            <a:ext cx="2857500" cy="476250"/>
          </a:xfrm>
          <a:prstGeom prst="rect">
            <a:avLst/>
          </a:prstGeom>
          <a:noFill/>
          <a:ln w="0">
            <a:noFill/>
            <a:prstDash val="solid"/>
          </a:ln>
        </p:spPr>
        <p:txBody>
          <a:bodyPr anchor="t">
            <a:normAutofit/>
          </a:bodyPr>
          <a:lstStyle/>
          <a:p>
            <a:pPr algn="l">
              <a:buNone/>
              <a:defRPr sz="1575" b="1" i="0">
                <a:solidFill>
                  <a:srgbClr val="143A72"/>
                </a:solidFill>
                <a:latin typeface="Helvetica Neue"/>
                <a:ea typeface="Helvetica Neue"/>
                <a:cs typeface="Helvetica Neue"/>
              </a:defRPr>
            </a:pPr>
            <a:r>
              <a:rPr sz="1575" b="1" i="0">
                <a:solidFill>
                  <a:srgbClr val="143A72"/>
                </a:solidFill>
                <a:latin typeface="Helvetica Neue"/>
                <a:ea typeface="Helvetica Neue"/>
                <a:cs typeface="Helvetica Neue"/>
              </a:rPr>
              <a:t>Learned closure</a:t>
            </a:r>
          </a:p>
        </p:txBody>
      </p:sp>
      <p:sp>
        <p:nvSpPr>
          <p:cNvPr id="20" name="Rectangle 19">
            <a:extLst>
              <a:ext uri="{FF2B5EF4-FFF2-40B4-BE49-F238E27FC236}">
                <a16:creationId xmlns:a16="http://schemas.microsoft.com/office/drawing/2014/main" id="{B3A13F5D-33A8-430B-9418-F11B6DB5E031}"/>
              </a:ext>
            </a:extLst>
          </p:cNvPr>
          <p:cNvSpPr>
            <a:spLocks noGrp="1"/>
          </p:cNvSpPr>
          <p:nvPr/>
        </p:nvSpPr>
        <p:spPr>
          <a:xfrm>
            <a:off x="7524750" y="3600450"/>
            <a:ext cx="4000500" cy="4762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A missing term inside a retained solver</a:t>
            </a:r>
          </a:p>
        </p:txBody>
      </p:sp>
      <p:cxnSp>
        <p:nvCxnSpPr>
          <p:cNvPr id="108" name="Straight Arrow Connector 107"/>
          <p:cNvCxnSpPr/>
          <p:nvPr/>
        </p:nvCxnSpPr>
        <p:spPr>
          <a:xfrm>
            <a:off x="400050" y="4181475"/>
            <a:ext cx="11391900" cy="953"/>
          </a:xfrm>
          <a:prstGeom prst="straightConnector1">
            <a:avLst/>
          </a:prstGeom>
          <a:ln w="9525">
            <a:solidFill>
              <a:srgbClr val="B8BCC4"/>
            </a:solidFill>
            <a:prstDash val="solid"/>
          </a:ln>
        </p:spPr>
      </p:cxnSp>
      <p:sp>
        <p:nvSpPr>
          <p:cNvPr id="22" name="Rectangle 21">
            <a:extLst>
              <a:ext uri="{FF2B5EF4-FFF2-40B4-BE49-F238E27FC236}">
                <a16:creationId xmlns:a16="http://schemas.microsoft.com/office/drawing/2014/main" id="{159DA806-3CBC-44FE-AE24-B1EED7EE127B}"/>
              </a:ext>
            </a:extLst>
          </p:cNvPr>
          <p:cNvSpPr>
            <a:spLocks noGrp="1"/>
          </p:cNvSpPr>
          <p:nvPr/>
        </p:nvSpPr>
        <p:spPr>
          <a:xfrm>
            <a:off x="400050" y="4438650"/>
            <a:ext cx="3429000" cy="476250"/>
          </a:xfrm>
          <a:prstGeom prst="rect">
            <a:avLst/>
          </a:prstGeom>
          <a:noFill/>
          <a:ln w="0">
            <a:noFill/>
            <a:prstDash val="solid"/>
          </a:ln>
        </p:spPr>
        <p:txBody>
          <a:bodyPr anchor="t">
            <a:normAutofit/>
          </a:bodyPr>
          <a:lstStyle/>
          <a:p>
            <a:pPr algn="l">
              <a:buNone/>
              <a:defRPr sz="1725" b="0" i="0">
                <a:solidFill>
                  <a:srgbClr val="000000"/>
                </a:solidFill>
                <a:latin typeface="Helvetica Neue"/>
                <a:ea typeface="Helvetica Neue"/>
                <a:cs typeface="Helvetica Neue"/>
              </a:defRPr>
            </a:pPr>
            <a:r>
              <a:rPr sz="1725" b="0" i="0">
                <a:solidFill>
                  <a:srgbClr val="000000"/>
                </a:solidFill>
                <a:latin typeface="Helvetica Neue"/>
                <a:ea typeface="Helvetica Neue"/>
                <a:cs typeface="Helvetica Neue"/>
              </a:rPr>
              <a:t>Vector field or flow map</a:t>
            </a:r>
          </a:p>
        </p:txBody>
      </p:sp>
      <p:sp>
        <p:nvSpPr>
          <p:cNvPr id="23" name="Rectangle 22">
            <a:extLst>
              <a:ext uri="{FF2B5EF4-FFF2-40B4-BE49-F238E27FC236}">
                <a16:creationId xmlns:a16="http://schemas.microsoft.com/office/drawing/2014/main" id="{1964C056-9650-4918-BA4C-E7D5B48618D8}"/>
              </a:ext>
            </a:extLst>
          </p:cNvPr>
          <p:cNvSpPr>
            <a:spLocks noGrp="1"/>
          </p:cNvSpPr>
          <p:nvPr/>
        </p:nvSpPr>
        <p:spPr>
          <a:xfrm>
            <a:off x="4210050" y="4438650"/>
            <a:ext cx="2857500" cy="4762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a:solidFill>
                  <a:srgbClr val="000000"/>
                </a:solidFill>
                <a:latin typeface="Helvetica Neue"/>
                <a:ea typeface="Helvetica Neue"/>
                <a:cs typeface="Helvetica Neue"/>
              </a:rPr>
              <a:t>Structured dynamics</a:t>
            </a:r>
          </a:p>
        </p:txBody>
      </p:sp>
      <p:sp>
        <p:nvSpPr>
          <p:cNvPr id="24" name="Rectangle 23">
            <a:extLst>
              <a:ext uri="{FF2B5EF4-FFF2-40B4-BE49-F238E27FC236}">
                <a16:creationId xmlns:a16="http://schemas.microsoft.com/office/drawing/2014/main" id="{48C13D1C-8F52-4527-B003-7230B57006ED}"/>
              </a:ext>
            </a:extLst>
          </p:cNvPr>
          <p:cNvSpPr>
            <a:spLocks noGrp="1"/>
          </p:cNvSpPr>
          <p:nvPr/>
        </p:nvSpPr>
        <p:spPr>
          <a:xfrm>
            <a:off x="7524750" y="4438650"/>
            <a:ext cx="4000500" cy="4762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Recursive state evolution</a:t>
            </a:r>
          </a:p>
        </p:txBody>
      </p:sp>
      <p:cxnSp>
        <p:nvCxnSpPr>
          <p:cNvPr id="112" name="Straight Arrow Connector 111"/>
          <p:cNvCxnSpPr/>
          <p:nvPr/>
        </p:nvCxnSpPr>
        <p:spPr>
          <a:xfrm>
            <a:off x="400050" y="5019675"/>
            <a:ext cx="11391900" cy="953"/>
          </a:xfrm>
          <a:prstGeom prst="straightConnector1">
            <a:avLst/>
          </a:prstGeom>
          <a:ln w="9525">
            <a:solidFill>
              <a:srgbClr val="B8BCC4"/>
            </a:solidFill>
            <a:prstDash val="solid"/>
          </a:ln>
        </p:spPr>
      </p:cxnSp>
      <p:sp>
        <p:nvSpPr>
          <p:cNvPr id="26" name="Rectangle 25">
            <a:extLst>
              <a:ext uri="{FF2B5EF4-FFF2-40B4-BE49-F238E27FC236}">
                <a16:creationId xmlns:a16="http://schemas.microsoft.com/office/drawing/2014/main" id="{E670867F-9F81-4DCF-8530-2B795F549C9B}"/>
              </a:ext>
            </a:extLst>
          </p:cNvPr>
          <p:cNvSpPr>
            <a:spLocks noGrp="1"/>
          </p:cNvSpPr>
          <p:nvPr/>
        </p:nvSpPr>
        <p:spPr>
          <a:xfrm>
            <a:off x="400050" y="5276850"/>
            <a:ext cx="3429000" cy="476250"/>
          </a:xfrm>
          <a:prstGeom prst="rect">
            <a:avLst/>
          </a:prstGeom>
          <a:noFill/>
          <a:ln w="0">
            <a:noFill/>
            <a:prstDash val="solid"/>
          </a:ln>
        </p:spPr>
        <p:txBody>
          <a:bodyPr anchor="t">
            <a:normAutofit/>
          </a:bodyPr>
          <a:lstStyle/>
          <a:p>
            <a:pPr algn="l">
              <a:buNone/>
              <a:defRPr sz="1725" b="0" i="0">
                <a:solidFill>
                  <a:srgbClr val="000000"/>
                </a:solidFill>
                <a:latin typeface="Helvetica Neue"/>
                <a:ea typeface="Helvetica Neue"/>
                <a:cs typeface="Helvetica Neue"/>
              </a:defRPr>
            </a:pPr>
            <a:r>
              <a:rPr sz="1725" b="0" i="0">
                <a:solidFill>
                  <a:srgbClr val="000000"/>
                </a:solidFill>
                <a:latin typeface="Helvetica Neue"/>
                <a:ea typeface="Helvetica Neue"/>
                <a:cs typeface="Helvetica Neue"/>
              </a:rPr>
              <a:t>Action-conditioned transition</a:t>
            </a:r>
          </a:p>
        </p:txBody>
      </p:sp>
      <p:sp>
        <p:nvSpPr>
          <p:cNvPr id="27" name="Rectangle 26">
            <a:extLst>
              <a:ext uri="{FF2B5EF4-FFF2-40B4-BE49-F238E27FC236}">
                <a16:creationId xmlns:a16="http://schemas.microsoft.com/office/drawing/2014/main" id="{A7F7767F-90B6-445A-8B81-D9125BA422C0}"/>
              </a:ext>
            </a:extLst>
          </p:cNvPr>
          <p:cNvSpPr>
            <a:spLocks noGrp="1"/>
          </p:cNvSpPr>
          <p:nvPr/>
        </p:nvSpPr>
        <p:spPr>
          <a:xfrm>
            <a:off x="4210050" y="5276850"/>
            <a:ext cx="2857500" cy="4762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dirty="0">
                <a:solidFill>
                  <a:srgbClr val="000000"/>
                </a:solidFill>
                <a:latin typeface="Helvetica Neue"/>
                <a:ea typeface="Helvetica Neue"/>
                <a:cs typeface="Helvetica Neue"/>
              </a:rPr>
              <a:t>World model</a:t>
            </a:r>
          </a:p>
        </p:txBody>
      </p:sp>
      <p:sp>
        <p:nvSpPr>
          <p:cNvPr id="28" name="Rectangle 27">
            <a:extLst>
              <a:ext uri="{FF2B5EF4-FFF2-40B4-BE49-F238E27FC236}">
                <a16:creationId xmlns:a16="http://schemas.microsoft.com/office/drawing/2014/main" id="{DBC91CA4-2D9E-487D-AD66-5E0BF614A2FE}"/>
              </a:ext>
            </a:extLst>
          </p:cNvPr>
          <p:cNvSpPr>
            <a:spLocks noGrp="1"/>
          </p:cNvSpPr>
          <p:nvPr/>
        </p:nvSpPr>
        <p:spPr>
          <a:xfrm>
            <a:off x="7524750" y="5276850"/>
            <a:ext cx="4000500" cy="4762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Counterfactual controlled rollouts</a:t>
            </a:r>
          </a:p>
        </p:txBody>
      </p:sp>
      <p:cxnSp>
        <p:nvCxnSpPr>
          <p:cNvPr id="116" name="Straight Arrow Connector 115"/>
          <p:cNvCxnSpPr/>
          <p:nvPr/>
        </p:nvCxnSpPr>
        <p:spPr>
          <a:xfrm>
            <a:off x="400050" y="5857875"/>
            <a:ext cx="11391900" cy="953"/>
          </a:xfrm>
          <a:prstGeom prst="straightConnector1">
            <a:avLst/>
          </a:prstGeom>
          <a:ln w="9525">
            <a:solidFill>
              <a:srgbClr val="B8BCC4"/>
            </a:solidFill>
            <a:prstDash val="solid"/>
          </a:ln>
        </p:spPr>
      </p:cxnSp>
    </p:spTree>
    <p:extLst>
      <p:ext uri="{BB962C8B-B14F-4D97-AF65-F5344CB8AC3E}">
        <p14:creationId xmlns:p14="http://schemas.microsoft.com/office/powerpoint/2010/main" val="17365342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A70D65B5-4C2E-4595-8F11-ED551E8DEAB5}"/>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98BD36AD-6F37-4ADC-93A5-68FB37BE6A0C}"/>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lang="en-US" sz="2925" b="1" i="0" dirty="0">
                <a:solidFill>
                  <a:srgbClr val="000000"/>
                </a:solidFill>
                <a:latin typeface="Helvetica Neue"/>
                <a:ea typeface="Helvetica Neue"/>
                <a:cs typeface="Helvetica Neue"/>
              </a:rPr>
              <a:t>Bake-off </a:t>
            </a:r>
            <a:r>
              <a:rPr lang="en-US" sz="2925" b="1" dirty="0">
                <a:solidFill>
                  <a:srgbClr val="000000"/>
                </a:solidFill>
                <a:latin typeface="Helvetica Neue"/>
                <a:ea typeface="Helvetica Neue"/>
                <a:cs typeface="Helvetica Neue"/>
              </a:rPr>
              <a:t>is a series of linked closure experiments</a:t>
            </a:r>
            <a:endParaRPr sz="2925" b="1" i="0" dirty="0">
              <a:solidFill>
                <a:srgbClr val="000000"/>
              </a:solidFill>
              <a:latin typeface="Helvetica Neue"/>
              <a:ea typeface="Helvetica Neue"/>
              <a:cs typeface="Helvetica Neue"/>
            </a:endParaRPr>
          </a:p>
        </p:txBody>
      </p:sp>
      <p:cxnSp>
        <p:nvCxnSpPr>
          <p:cNvPr id="51" name="Straight Arrow Connector 50"/>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C5A40709-662D-4264-8A3F-E3B6290C68C2}"/>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4</a:t>
            </a:r>
          </a:p>
        </p:txBody>
      </p:sp>
      <p:sp>
        <p:nvSpPr>
          <p:cNvPr id="5" name="Rectangle 4">
            <a:extLst>
              <a:ext uri="{FF2B5EF4-FFF2-40B4-BE49-F238E27FC236}">
                <a16:creationId xmlns:a16="http://schemas.microsoft.com/office/drawing/2014/main" id="{B1429E0D-BFEE-4745-813C-E57F3957AE09}"/>
              </a:ext>
            </a:extLst>
          </p:cNvPr>
          <p:cNvSpPr>
            <a:spLocks noGrp="1"/>
          </p:cNvSpPr>
          <p:nvPr/>
        </p:nvSpPr>
        <p:spPr>
          <a:xfrm>
            <a:off x="400050" y="1466850"/>
            <a:ext cx="4762500" cy="304800"/>
          </a:xfrm>
          <a:prstGeom prst="rect">
            <a:avLst/>
          </a:prstGeom>
          <a:noFill/>
          <a:ln w="0">
            <a:noFill/>
            <a:prstDash val="solid"/>
          </a:ln>
        </p:spPr>
        <p:txBody>
          <a:bodyPr anchor="t">
            <a:normAutofit/>
          </a:bodyPr>
          <a:lstStyle/>
          <a:p>
            <a:pPr algn="l">
              <a:buNone/>
              <a:defRPr sz="1350" b="1" i="0">
                <a:solidFill>
                  <a:srgbClr val="B83A3A"/>
                </a:solidFill>
                <a:latin typeface="Helvetica Neue"/>
                <a:ea typeface="Helvetica Neue"/>
                <a:cs typeface="Helvetica Neue"/>
              </a:defRPr>
            </a:pPr>
            <a:r>
              <a:rPr sz="1350" b="1" i="0" dirty="0">
                <a:solidFill>
                  <a:srgbClr val="B83A3A"/>
                </a:solidFill>
                <a:latin typeface="Helvetica Neue"/>
                <a:ea typeface="Helvetica Neue"/>
                <a:cs typeface="Helvetica Neue"/>
              </a:rPr>
              <a:t>FLAT MODEL </a:t>
            </a:r>
            <a:r>
              <a:rPr lang="en-US" sz="1350" b="1" i="0" dirty="0">
                <a:solidFill>
                  <a:srgbClr val="B83A3A"/>
                </a:solidFill>
                <a:latin typeface="Helvetica Neue"/>
                <a:ea typeface="Helvetica Neue"/>
                <a:cs typeface="Helvetica Neue"/>
              </a:rPr>
              <a:t>CONTEST</a:t>
            </a:r>
            <a:endParaRPr sz="1350" b="1" i="0" dirty="0">
              <a:solidFill>
                <a:srgbClr val="B83A3A"/>
              </a:solidFill>
              <a:latin typeface="Helvetica Neue"/>
              <a:ea typeface="Helvetica Neue"/>
              <a:cs typeface="Helvetica Neue"/>
            </a:endParaRPr>
          </a:p>
        </p:txBody>
      </p:sp>
      <p:sp>
        <p:nvSpPr>
          <p:cNvPr id="6" name="Rectangle 5">
            <a:extLst>
              <a:ext uri="{FF2B5EF4-FFF2-40B4-BE49-F238E27FC236}">
                <a16:creationId xmlns:a16="http://schemas.microsoft.com/office/drawing/2014/main" id="{6373EC02-7EF3-49F8-A819-912ACA5AF1D8}"/>
              </a:ext>
            </a:extLst>
          </p:cNvPr>
          <p:cNvSpPr>
            <a:spLocks noGrp="1"/>
          </p:cNvSpPr>
          <p:nvPr/>
        </p:nvSpPr>
        <p:spPr>
          <a:xfrm>
            <a:off x="400050" y="1876425"/>
            <a:ext cx="4762500" cy="857250"/>
          </a:xfrm>
          <a:prstGeom prst="rect">
            <a:avLst/>
          </a:prstGeom>
          <a:noFill/>
          <a:ln w="0">
            <a:noFill/>
            <a:prstDash val="solid"/>
          </a:ln>
        </p:spPr>
        <p:txBody>
          <a:bodyPr anchor="t">
            <a:normAutofit/>
          </a:bodyPr>
          <a:lstStyle/>
          <a:p>
            <a:pPr algn="l">
              <a:buNone/>
              <a:defRPr sz="2250" b="1" i="0">
                <a:solidFill>
                  <a:srgbClr val="000000"/>
                </a:solidFill>
                <a:latin typeface="Helvetica Neue"/>
                <a:ea typeface="Helvetica Neue"/>
                <a:cs typeface="Helvetica Neue"/>
              </a:defRPr>
            </a:pPr>
            <a:r>
              <a:rPr sz="2250" b="1" i="0">
                <a:solidFill>
                  <a:srgbClr val="000000"/>
                </a:solidFill>
                <a:latin typeface="Helvetica Neue"/>
                <a:ea typeface="Helvetica Neue"/>
                <a:cs typeface="Helvetica Neue"/>
              </a:rPr>
              <a:t>One state-error metric</a:t>
            </a:r>
          </a:p>
          <a:p>
            <a:pPr algn="l">
              <a:buNone/>
              <a:defRPr sz="2250" b="1" i="0">
                <a:solidFill>
                  <a:srgbClr val="000000"/>
                </a:solidFill>
                <a:latin typeface="Helvetica Neue"/>
                <a:ea typeface="Helvetica Neue"/>
                <a:cs typeface="Helvetica Neue"/>
              </a:defRPr>
            </a:pPr>
            <a:r>
              <a:rPr sz="2250" b="1" i="0">
                <a:solidFill>
                  <a:srgbClr val="000000"/>
                </a:solidFill>
                <a:latin typeface="Helvetica Neue"/>
                <a:ea typeface="Helvetica Neue"/>
                <a:cs typeface="Helvetica Neue"/>
              </a:rPr>
              <a:t>for unlike learned objects</a:t>
            </a:r>
          </a:p>
        </p:txBody>
      </p:sp>
      <p:sp>
        <p:nvSpPr>
          <p:cNvPr id="7" name="Rectangle 6">
            <a:extLst>
              <a:ext uri="{FF2B5EF4-FFF2-40B4-BE49-F238E27FC236}">
                <a16:creationId xmlns:a16="http://schemas.microsoft.com/office/drawing/2014/main" id="{4339C8AA-4A98-4572-95A7-5A697455D316}"/>
              </a:ext>
            </a:extLst>
          </p:cNvPr>
          <p:cNvSpPr>
            <a:spLocks noGrp="1"/>
          </p:cNvSpPr>
          <p:nvPr/>
        </p:nvSpPr>
        <p:spPr>
          <a:xfrm>
            <a:off x="400050" y="3048000"/>
            <a:ext cx="228600" cy="266700"/>
          </a:xfrm>
          <a:prstGeom prst="rect">
            <a:avLst/>
          </a:prstGeom>
          <a:noFill/>
          <a:ln w="0">
            <a:noFill/>
            <a:prstDash val="solid"/>
          </a:ln>
        </p:spPr>
        <p:txBody>
          <a:bodyPr anchor="t">
            <a:noAutofit/>
          </a:bodyPr>
          <a:lstStyle/>
          <a:p>
            <a:pPr algn="l">
              <a:buNone/>
              <a:defRPr sz="1575" b="1" i="0">
                <a:solidFill>
                  <a:srgbClr val="B83A3A"/>
                </a:solidFill>
                <a:latin typeface="Helvetica Neue"/>
                <a:ea typeface="Helvetica Neue"/>
                <a:cs typeface="Helvetica Neue"/>
              </a:defRPr>
            </a:pPr>
            <a:r>
              <a:rPr sz="1575" b="1" i="0">
                <a:solidFill>
                  <a:srgbClr val="B83A3A"/>
                </a:solidFill>
                <a:latin typeface="Helvetica Neue"/>
                <a:ea typeface="Helvetica Neue"/>
                <a:cs typeface="Helvetica Neue"/>
              </a:rPr>
              <a:t>•</a:t>
            </a:r>
          </a:p>
        </p:txBody>
      </p:sp>
      <p:sp>
        <p:nvSpPr>
          <p:cNvPr id="8" name="Rectangle 7">
            <a:extLst>
              <a:ext uri="{FF2B5EF4-FFF2-40B4-BE49-F238E27FC236}">
                <a16:creationId xmlns:a16="http://schemas.microsoft.com/office/drawing/2014/main" id="{75E0A837-46C0-406C-90CD-9675065AB284}"/>
              </a:ext>
            </a:extLst>
          </p:cNvPr>
          <p:cNvSpPr>
            <a:spLocks noGrp="1"/>
          </p:cNvSpPr>
          <p:nvPr/>
        </p:nvSpPr>
        <p:spPr>
          <a:xfrm>
            <a:off x="685800" y="3048000"/>
            <a:ext cx="4476750" cy="514350"/>
          </a:xfrm>
          <a:prstGeom prst="rect">
            <a:avLst/>
          </a:prstGeom>
          <a:noFill/>
          <a:ln w="0">
            <a:noFill/>
            <a:prstDash val="solid"/>
          </a:ln>
        </p:spPr>
        <p:txBody>
          <a:bodyPr anchor="t">
            <a:normAutofit fontScale="92500" lnSpcReduction="10000"/>
          </a:bodyPr>
          <a:lstStyle/>
          <a:p>
            <a:pPr algn="l">
              <a:buNone/>
              <a:defRPr sz="1575" b="0" i="0">
                <a:solidFill>
                  <a:srgbClr val="000000"/>
                </a:solidFill>
                <a:latin typeface="Helvetica Neue"/>
                <a:ea typeface="Helvetica Neue"/>
                <a:cs typeface="Helvetica Neue"/>
              </a:defRPr>
            </a:pPr>
            <a:r>
              <a:rPr lang="en-US" sz="1575" dirty="0">
                <a:solidFill>
                  <a:srgbClr val="000000"/>
                </a:solidFill>
                <a:latin typeface="Helvetica Neue"/>
                <a:ea typeface="Helvetica Neue"/>
                <a:cs typeface="Helvetica Neue"/>
              </a:rPr>
              <a:t>Useful for like models only, doesn’t take into account differences in output types</a:t>
            </a:r>
            <a:endParaRPr sz="1575" b="0" i="0" dirty="0">
              <a:solidFill>
                <a:srgbClr val="000000"/>
              </a:solidFill>
              <a:latin typeface="Helvetica Neue"/>
              <a:ea typeface="Helvetica Neue"/>
              <a:cs typeface="Helvetica Neue"/>
            </a:endParaRPr>
          </a:p>
        </p:txBody>
      </p:sp>
      <p:sp>
        <p:nvSpPr>
          <p:cNvPr id="9" name="Rectangle 8">
            <a:extLst>
              <a:ext uri="{FF2B5EF4-FFF2-40B4-BE49-F238E27FC236}">
                <a16:creationId xmlns:a16="http://schemas.microsoft.com/office/drawing/2014/main" id="{9B42EBE4-FC9B-4E73-BAD2-837DA9953603}"/>
              </a:ext>
            </a:extLst>
          </p:cNvPr>
          <p:cNvSpPr>
            <a:spLocks noGrp="1"/>
          </p:cNvSpPr>
          <p:nvPr/>
        </p:nvSpPr>
        <p:spPr>
          <a:xfrm>
            <a:off x="400050" y="3600450"/>
            <a:ext cx="228600" cy="266700"/>
          </a:xfrm>
          <a:prstGeom prst="rect">
            <a:avLst/>
          </a:prstGeom>
          <a:noFill/>
          <a:ln w="0">
            <a:noFill/>
            <a:prstDash val="solid"/>
          </a:ln>
        </p:spPr>
        <p:txBody>
          <a:bodyPr anchor="t">
            <a:noAutofit/>
          </a:bodyPr>
          <a:lstStyle/>
          <a:p>
            <a:pPr algn="l">
              <a:buNone/>
              <a:defRPr sz="1575" b="1" i="0">
                <a:solidFill>
                  <a:srgbClr val="B83A3A"/>
                </a:solidFill>
                <a:latin typeface="Helvetica Neue"/>
                <a:ea typeface="Helvetica Neue"/>
                <a:cs typeface="Helvetica Neue"/>
              </a:defRPr>
            </a:pPr>
            <a:r>
              <a:rPr sz="1575" b="1" i="0">
                <a:solidFill>
                  <a:srgbClr val="B83A3A"/>
                </a:solidFill>
                <a:latin typeface="Helvetica Neue"/>
                <a:ea typeface="Helvetica Neue"/>
                <a:cs typeface="Helvetica Neue"/>
              </a:rPr>
              <a:t>•</a:t>
            </a:r>
          </a:p>
        </p:txBody>
      </p:sp>
      <p:sp>
        <p:nvSpPr>
          <p:cNvPr id="10" name="Rectangle 9">
            <a:extLst>
              <a:ext uri="{FF2B5EF4-FFF2-40B4-BE49-F238E27FC236}">
                <a16:creationId xmlns:a16="http://schemas.microsoft.com/office/drawing/2014/main" id="{D569FEDC-D6E8-49B6-A2B4-2E20F03BF100}"/>
              </a:ext>
            </a:extLst>
          </p:cNvPr>
          <p:cNvSpPr>
            <a:spLocks noGrp="1"/>
          </p:cNvSpPr>
          <p:nvPr/>
        </p:nvSpPr>
        <p:spPr>
          <a:xfrm>
            <a:off x="685800" y="3600450"/>
            <a:ext cx="4476750"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lang="en-US" sz="1575" b="0" i="0" dirty="0">
                <a:solidFill>
                  <a:srgbClr val="000000"/>
                </a:solidFill>
                <a:latin typeface="Helvetica Neue"/>
                <a:ea typeface="Helvetica Neue"/>
                <a:cs typeface="Helvetica Neue"/>
              </a:rPr>
              <a:t>No benchmarks against ground-truth</a:t>
            </a:r>
            <a:endParaRPr sz="1575" b="0" i="0" dirty="0">
              <a:solidFill>
                <a:srgbClr val="000000"/>
              </a:solidFill>
              <a:latin typeface="Helvetica Neue"/>
              <a:ea typeface="Helvetica Neue"/>
              <a:cs typeface="Helvetica Neue"/>
            </a:endParaRPr>
          </a:p>
        </p:txBody>
      </p:sp>
      <p:sp>
        <p:nvSpPr>
          <p:cNvPr id="11" name="Rectangle 10">
            <a:extLst>
              <a:ext uri="{FF2B5EF4-FFF2-40B4-BE49-F238E27FC236}">
                <a16:creationId xmlns:a16="http://schemas.microsoft.com/office/drawing/2014/main" id="{C84EA030-253F-423E-AED6-872B6EA266C4}"/>
              </a:ext>
            </a:extLst>
          </p:cNvPr>
          <p:cNvSpPr>
            <a:spLocks noGrp="1"/>
          </p:cNvSpPr>
          <p:nvPr/>
        </p:nvSpPr>
        <p:spPr>
          <a:xfrm>
            <a:off x="400050" y="4152900"/>
            <a:ext cx="228600" cy="266700"/>
          </a:xfrm>
          <a:prstGeom prst="rect">
            <a:avLst/>
          </a:prstGeom>
          <a:noFill/>
          <a:ln w="0">
            <a:noFill/>
            <a:prstDash val="solid"/>
          </a:ln>
        </p:spPr>
        <p:txBody>
          <a:bodyPr anchor="t">
            <a:noAutofit/>
          </a:bodyPr>
          <a:lstStyle/>
          <a:p>
            <a:pPr algn="l">
              <a:buNone/>
              <a:defRPr sz="1575" b="1" i="0">
                <a:solidFill>
                  <a:srgbClr val="B83A3A"/>
                </a:solidFill>
                <a:latin typeface="Helvetica Neue"/>
                <a:ea typeface="Helvetica Neue"/>
                <a:cs typeface="Helvetica Neue"/>
              </a:defRPr>
            </a:pPr>
            <a:r>
              <a:rPr sz="1575" b="1" i="0">
                <a:solidFill>
                  <a:srgbClr val="B83A3A"/>
                </a:solidFill>
                <a:latin typeface="Helvetica Neue"/>
                <a:ea typeface="Helvetica Neue"/>
                <a:cs typeface="Helvetica Neue"/>
              </a:rPr>
              <a:t>•</a:t>
            </a:r>
          </a:p>
        </p:txBody>
      </p:sp>
      <p:sp>
        <p:nvSpPr>
          <p:cNvPr id="12" name="Rectangle 11">
            <a:extLst>
              <a:ext uri="{FF2B5EF4-FFF2-40B4-BE49-F238E27FC236}">
                <a16:creationId xmlns:a16="http://schemas.microsoft.com/office/drawing/2014/main" id="{FED4B916-E500-45D6-A192-35D529E9BE25}"/>
              </a:ext>
            </a:extLst>
          </p:cNvPr>
          <p:cNvSpPr>
            <a:spLocks noGrp="1"/>
          </p:cNvSpPr>
          <p:nvPr/>
        </p:nvSpPr>
        <p:spPr>
          <a:xfrm>
            <a:off x="685800" y="4152900"/>
            <a:ext cx="4476750" cy="514350"/>
          </a:xfrm>
          <a:prstGeom prst="rect">
            <a:avLst/>
          </a:prstGeom>
          <a:noFill/>
          <a:ln w="0">
            <a:noFill/>
            <a:prstDash val="solid"/>
          </a:ln>
        </p:spPr>
        <p:txBody>
          <a:bodyPr anchor="t">
            <a:normAutofit fontScale="92500" lnSpcReduction="10000"/>
          </a:bodyPr>
          <a:lstStyle/>
          <a:p>
            <a:pPr algn="l">
              <a:buNone/>
              <a:defRPr sz="1575" b="0" i="0">
                <a:solidFill>
                  <a:srgbClr val="000000"/>
                </a:solidFill>
                <a:latin typeface="Helvetica Neue"/>
                <a:ea typeface="Helvetica Neue"/>
                <a:cs typeface="Helvetica Neue"/>
              </a:defRPr>
            </a:pPr>
            <a:r>
              <a:rPr lang="en-US" sz="1575" dirty="0">
                <a:solidFill>
                  <a:srgbClr val="000000"/>
                </a:solidFill>
                <a:latin typeface="Helvetica Neue"/>
                <a:ea typeface="Helvetica Neue"/>
                <a:cs typeface="Helvetica Neue"/>
              </a:rPr>
              <a:t>Doesn’t account for inaccurate data, desired accuracy, and accumulation of uncertainty</a:t>
            </a:r>
            <a:endParaRPr sz="1575" b="0" i="0" dirty="0">
              <a:solidFill>
                <a:srgbClr val="000000"/>
              </a:solidFill>
              <a:latin typeface="Helvetica Neue"/>
              <a:ea typeface="Helvetica Neue"/>
              <a:cs typeface="Helvetica Neue"/>
            </a:endParaRPr>
          </a:p>
        </p:txBody>
      </p:sp>
      <p:cxnSp>
        <p:nvCxnSpPr>
          <p:cNvPr id="61" name="Straight Arrow Connector 60"/>
          <p:cNvCxnSpPr/>
          <p:nvPr/>
        </p:nvCxnSpPr>
        <p:spPr>
          <a:xfrm>
            <a:off x="5953125" y="1428750"/>
            <a:ext cx="953" cy="953"/>
          </a:xfrm>
          <a:prstGeom prst="straightConnector1">
            <a:avLst/>
          </a:prstGeom>
          <a:ln w="9525">
            <a:solidFill>
              <a:srgbClr val="B8BCC4"/>
            </a:solidFill>
            <a:prstDash val="solid"/>
          </a:ln>
        </p:spPr>
      </p:cxnSp>
      <p:sp>
        <p:nvSpPr>
          <p:cNvPr id="14" name="Rectangle 13">
            <a:extLst>
              <a:ext uri="{FF2B5EF4-FFF2-40B4-BE49-F238E27FC236}">
                <a16:creationId xmlns:a16="http://schemas.microsoft.com/office/drawing/2014/main" id="{8A75295B-A54B-4C1F-93C7-7F4AD5DADC03}"/>
              </a:ext>
            </a:extLst>
          </p:cNvPr>
          <p:cNvSpPr>
            <a:spLocks noGrp="1"/>
          </p:cNvSpPr>
          <p:nvPr/>
        </p:nvSpPr>
        <p:spPr>
          <a:xfrm>
            <a:off x="5953125" y="1428750"/>
            <a:ext cx="9525" cy="4381500"/>
          </a:xfrm>
          <a:prstGeom prst="rect">
            <a:avLst/>
          </a:prstGeom>
          <a:solidFill>
            <a:srgbClr val="B8BCC4"/>
          </a:solidFill>
          <a:ln w="0">
            <a:solidFill>
              <a:srgbClr val="B8BCC4"/>
            </a:solidFill>
            <a:prstDash val="solid"/>
          </a:ln>
        </p:spPr>
        <p:txBody>
          <a:bodyPr/>
          <a:lstStyle/>
          <a:p>
            <a:endParaRPr lang="en-US"/>
          </a:p>
        </p:txBody>
      </p:sp>
      <p:sp>
        <p:nvSpPr>
          <p:cNvPr id="15" name="Rectangle 14">
            <a:extLst>
              <a:ext uri="{FF2B5EF4-FFF2-40B4-BE49-F238E27FC236}">
                <a16:creationId xmlns:a16="http://schemas.microsoft.com/office/drawing/2014/main" id="{3FD9BBAC-0AED-4F45-A825-E8229C5F5308}"/>
              </a:ext>
            </a:extLst>
          </p:cNvPr>
          <p:cNvSpPr>
            <a:spLocks noGrp="1"/>
          </p:cNvSpPr>
          <p:nvPr/>
        </p:nvSpPr>
        <p:spPr>
          <a:xfrm>
            <a:off x="6534150" y="1466850"/>
            <a:ext cx="4953000" cy="304800"/>
          </a:xfrm>
          <a:prstGeom prst="rect">
            <a:avLst/>
          </a:prstGeom>
          <a:noFill/>
          <a:ln w="0">
            <a:noFill/>
            <a:prstDash val="solid"/>
          </a:ln>
        </p:spPr>
        <p:txBody>
          <a:bodyPr anchor="t">
            <a:normAutofit/>
          </a:bodyPr>
          <a:lstStyle/>
          <a:p>
            <a:pPr algn="l">
              <a:buNone/>
              <a:defRPr sz="1350" b="1" i="0">
                <a:solidFill>
                  <a:srgbClr val="247A55"/>
                </a:solidFill>
                <a:latin typeface="Helvetica Neue"/>
                <a:ea typeface="Helvetica Neue"/>
                <a:cs typeface="Helvetica Neue"/>
              </a:defRPr>
            </a:pPr>
            <a:r>
              <a:rPr sz="1350" b="1" i="0">
                <a:solidFill>
                  <a:srgbClr val="247A55"/>
                </a:solidFill>
                <a:latin typeface="Helvetica Neue"/>
                <a:ea typeface="Helvetica Neue"/>
                <a:cs typeface="Helvetica Neue"/>
              </a:rPr>
              <a:t>LINKED CLOSURE PROGRAM</a:t>
            </a:r>
          </a:p>
        </p:txBody>
      </p:sp>
      <p:sp>
        <p:nvSpPr>
          <p:cNvPr id="16" name="Rectangle 15">
            <a:extLst>
              <a:ext uri="{FF2B5EF4-FFF2-40B4-BE49-F238E27FC236}">
                <a16:creationId xmlns:a16="http://schemas.microsoft.com/office/drawing/2014/main" id="{1BF8EF2D-2BB0-488D-9551-E77A3606E6C0}"/>
              </a:ext>
            </a:extLst>
          </p:cNvPr>
          <p:cNvSpPr>
            <a:spLocks noGrp="1"/>
          </p:cNvSpPr>
          <p:nvPr/>
        </p:nvSpPr>
        <p:spPr>
          <a:xfrm>
            <a:off x="6534150" y="1876425"/>
            <a:ext cx="4953000" cy="857250"/>
          </a:xfrm>
          <a:prstGeom prst="rect">
            <a:avLst/>
          </a:prstGeom>
          <a:noFill/>
          <a:ln w="0">
            <a:noFill/>
            <a:prstDash val="solid"/>
          </a:ln>
        </p:spPr>
        <p:txBody>
          <a:bodyPr anchor="t">
            <a:normAutofit/>
          </a:bodyPr>
          <a:lstStyle/>
          <a:p>
            <a:pPr algn="l">
              <a:buNone/>
              <a:defRPr sz="2250" b="1" i="0">
                <a:solidFill>
                  <a:srgbClr val="000000"/>
                </a:solidFill>
                <a:latin typeface="Helvetica Neue"/>
                <a:ea typeface="Helvetica Neue"/>
                <a:cs typeface="Helvetica Neue"/>
              </a:defRPr>
            </a:pPr>
            <a:r>
              <a:rPr sz="2250" b="1" i="0">
                <a:solidFill>
                  <a:srgbClr val="000000"/>
                </a:solidFill>
                <a:latin typeface="Helvetica Neue"/>
                <a:ea typeface="Helvetica Neue"/>
                <a:cs typeface="Helvetica Neue"/>
              </a:rPr>
              <a:t>Ask when each additional</a:t>
            </a:r>
          </a:p>
          <a:p>
            <a:pPr algn="l">
              <a:buNone/>
              <a:defRPr sz="2250" b="1" i="0">
                <a:solidFill>
                  <a:srgbClr val="000000"/>
                </a:solidFill>
                <a:latin typeface="Helvetica Neue"/>
                <a:ea typeface="Helvetica Neue"/>
                <a:cs typeface="Helvetica Neue"/>
              </a:defRPr>
            </a:pPr>
            <a:r>
              <a:rPr sz="2250" b="1" i="0">
                <a:solidFill>
                  <a:srgbClr val="000000"/>
                </a:solidFill>
                <a:latin typeface="Helvetica Neue"/>
                <a:ea typeface="Helvetica Neue"/>
                <a:cs typeface="Helvetica Neue"/>
              </a:rPr>
              <a:t>kind of information is necessary</a:t>
            </a:r>
          </a:p>
        </p:txBody>
      </p:sp>
      <p:sp>
        <p:nvSpPr>
          <p:cNvPr id="17" name="Rectangle 16">
            <a:extLst>
              <a:ext uri="{FF2B5EF4-FFF2-40B4-BE49-F238E27FC236}">
                <a16:creationId xmlns:a16="http://schemas.microsoft.com/office/drawing/2014/main" id="{93F223C6-F8E3-42BF-9FEA-C89C269290D6}"/>
              </a:ext>
            </a:extLst>
          </p:cNvPr>
          <p:cNvSpPr>
            <a:spLocks noGrp="1"/>
          </p:cNvSpPr>
          <p:nvPr/>
        </p:nvSpPr>
        <p:spPr>
          <a:xfrm>
            <a:off x="6534150" y="3048000"/>
            <a:ext cx="228600" cy="266700"/>
          </a:xfrm>
          <a:prstGeom prst="rect">
            <a:avLst/>
          </a:prstGeom>
          <a:noFill/>
          <a:ln w="0">
            <a:noFill/>
            <a:prstDash val="solid"/>
          </a:ln>
        </p:spPr>
        <p:txBody>
          <a:bodyPr anchor="t">
            <a:noAutofit/>
          </a:bodyPr>
          <a:lstStyle/>
          <a:p>
            <a:pPr algn="l">
              <a:buNone/>
              <a:defRPr sz="1575" b="1" i="0">
                <a:solidFill>
                  <a:srgbClr val="247A55"/>
                </a:solidFill>
                <a:latin typeface="Helvetica Neue"/>
                <a:ea typeface="Helvetica Neue"/>
                <a:cs typeface="Helvetica Neue"/>
              </a:defRPr>
            </a:pPr>
            <a:r>
              <a:rPr sz="1575" b="1" i="0">
                <a:solidFill>
                  <a:srgbClr val="247A55"/>
                </a:solidFill>
                <a:latin typeface="Helvetica Neue"/>
                <a:ea typeface="Helvetica Neue"/>
                <a:cs typeface="Helvetica Neue"/>
              </a:rPr>
              <a:t>•</a:t>
            </a:r>
          </a:p>
        </p:txBody>
      </p:sp>
      <p:sp>
        <p:nvSpPr>
          <p:cNvPr id="18" name="Rectangle 17">
            <a:extLst>
              <a:ext uri="{FF2B5EF4-FFF2-40B4-BE49-F238E27FC236}">
                <a16:creationId xmlns:a16="http://schemas.microsoft.com/office/drawing/2014/main" id="{CB24F662-6AF0-4ACF-A66E-423537501A96}"/>
              </a:ext>
            </a:extLst>
          </p:cNvPr>
          <p:cNvSpPr>
            <a:spLocks noGrp="1"/>
          </p:cNvSpPr>
          <p:nvPr/>
        </p:nvSpPr>
        <p:spPr>
          <a:xfrm>
            <a:off x="6819900" y="3048000"/>
            <a:ext cx="4667250"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a:solidFill>
                  <a:srgbClr val="000000"/>
                </a:solidFill>
                <a:latin typeface="Helvetica Neue"/>
                <a:ea typeface="Helvetica Neue"/>
                <a:cs typeface="Helvetica Neue"/>
              </a:rPr>
              <a:t>Declare retained and discarded physics</a:t>
            </a:r>
          </a:p>
        </p:txBody>
      </p:sp>
      <p:sp>
        <p:nvSpPr>
          <p:cNvPr id="19" name="Rectangle 18">
            <a:extLst>
              <a:ext uri="{FF2B5EF4-FFF2-40B4-BE49-F238E27FC236}">
                <a16:creationId xmlns:a16="http://schemas.microsoft.com/office/drawing/2014/main" id="{8DD88F2D-7069-4389-AA89-68A6D8A93521}"/>
              </a:ext>
            </a:extLst>
          </p:cNvPr>
          <p:cNvSpPr>
            <a:spLocks noGrp="1"/>
          </p:cNvSpPr>
          <p:nvPr/>
        </p:nvSpPr>
        <p:spPr>
          <a:xfrm>
            <a:off x="6534150" y="3600450"/>
            <a:ext cx="228600" cy="266700"/>
          </a:xfrm>
          <a:prstGeom prst="rect">
            <a:avLst/>
          </a:prstGeom>
          <a:noFill/>
          <a:ln w="0">
            <a:noFill/>
            <a:prstDash val="solid"/>
          </a:ln>
        </p:spPr>
        <p:txBody>
          <a:bodyPr anchor="t">
            <a:noAutofit/>
          </a:bodyPr>
          <a:lstStyle/>
          <a:p>
            <a:pPr algn="l">
              <a:buNone/>
              <a:defRPr sz="1575" b="1" i="0">
                <a:solidFill>
                  <a:srgbClr val="247A55"/>
                </a:solidFill>
                <a:latin typeface="Helvetica Neue"/>
                <a:ea typeface="Helvetica Neue"/>
                <a:cs typeface="Helvetica Neue"/>
              </a:defRPr>
            </a:pPr>
            <a:r>
              <a:rPr sz="1575" b="1" i="0">
                <a:solidFill>
                  <a:srgbClr val="247A55"/>
                </a:solidFill>
                <a:latin typeface="Helvetica Neue"/>
                <a:ea typeface="Helvetica Neue"/>
                <a:cs typeface="Helvetica Neue"/>
              </a:rPr>
              <a:t>•</a:t>
            </a:r>
          </a:p>
        </p:txBody>
      </p:sp>
      <p:sp>
        <p:nvSpPr>
          <p:cNvPr id="20" name="Rectangle 19">
            <a:extLst>
              <a:ext uri="{FF2B5EF4-FFF2-40B4-BE49-F238E27FC236}">
                <a16:creationId xmlns:a16="http://schemas.microsoft.com/office/drawing/2014/main" id="{3D27BC41-F3BD-4B24-90FE-67C9407E855F}"/>
              </a:ext>
            </a:extLst>
          </p:cNvPr>
          <p:cNvSpPr>
            <a:spLocks noGrp="1"/>
          </p:cNvSpPr>
          <p:nvPr/>
        </p:nvSpPr>
        <p:spPr>
          <a:xfrm>
            <a:off x="6819900" y="3600450"/>
            <a:ext cx="4667250"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dirty="0">
                <a:solidFill>
                  <a:srgbClr val="000000"/>
                </a:solidFill>
                <a:latin typeface="Helvetica Neue"/>
                <a:ea typeface="Helvetica Neue"/>
                <a:cs typeface="Helvetica Neue"/>
              </a:rPr>
              <a:t>Estimate the closure defect</a:t>
            </a:r>
            <a:r>
              <a:rPr lang="en-US" sz="1575" b="0" i="0" dirty="0">
                <a:solidFill>
                  <a:srgbClr val="000000"/>
                </a:solidFill>
                <a:latin typeface="Helvetica Neue"/>
                <a:ea typeface="Helvetica Neue"/>
                <a:cs typeface="Helvetica Neue"/>
              </a:rPr>
              <a:t> and its accumulation</a:t>
            </a:r>
            <a:endParaRPr sz="1575" b="0" i="0" dirty="0">
              <a:solidFill>
                <a:srgbClr val="000000"/>
              </a:solidFill>
              <a:latin typeface="Helvetica Neue"/>
              <a:ea typeface="Helvetica Neue"/>
              <a:cs typeface="Helvetica Neue"/>
            </a:endParaRPr>
          </a:p>
        </p:txBody>
      </p:sp>
      <p:sp>
        <p:nvSpPr>
          <p:cNvPr id="21" name="Rectangle 20">
            <a:extLst>
              <a:ext uri="{FF2B5EF4-FFF2-40B4-BE49-F238E27FC236}">
                <a16:creationId xmlns:a16="http://schemas.microsoft.com/office/drawing/2014/main" id="{682D1A58-6B54-4AB4-909F-9C8E30A11BA2}"/>
              </a:ext>
            </a:extLst>
          </p:cNvPr>
          <p:cNvSpPr>
            <a:spLocks noGrp="1"/>
          </p:cNvSpPr>
          <p:nvPr/>
        </p:nvSpPr>
        <p:spPr>
          <a:xfrm>
            <a:off x="6534150" y="4152900"/>
            <a:ext cx="228600" cy="266700"/>
          </a:xfrm>
          <a:prstGeom prst="rect">
            <a:avLst/>
          </a:prstGeom>
          <a:noFill/>
          <a:ln w="0">
            <a:noFill/>
            <a:prstDash val="solid"/>
          </a:ln>
        </p:spPr>
        <p:txBody>
          <a:bodyPr anchor="t">
            <a:noAutofit/>
          </a:bodyPr>
          <a:lstStyle/>
          <a:p>
            <a:pPr algn="l">
              <a:buNone/>
              <a:defRPr sz="1575" b="1" i="0">
                <a:solidFill>
                  <a:srgbClr val="247A55"/>
                </a:solidFill>
                <a:latin typeface="Helvetica Neue"/>
                <a:ea typeface="Helvetica Neue"/>
                <a:cs typeface="Helvetica Neue"/>
              </a:defRPr>
            </a:pPr>
            <a:r>
              <a:rPr sz="1575" b="1" i="0">
                <a:solidFill>
                  <a:srgbClr val="247A55"/>
                </a:solidFill>
                <a:latin typeface="Helvetica Neue"/>
                <a:ea typeface="Helvetica Neue"/>
                <a:cs typeface="Helvetica Neue"/>
              </a:rPr>
              <a:t>•</a:t>
            </a:r>
          </a:p>
        </p:txBody>
      </p:sp>
      <p:sp>
        <p:nvSpPr>
          <p:cNvPr id="22" name="Rectangle 21">
            <a:extLst>
              <a:ext uri="{FF2B5EF4-FFF2-40B4-BE49-F238E27FC236}">
                <a16:creationId xmlns:a16="http://schemas.microsoft.com/office/drawing/2014/main" id="{82979969-0BE2-4ED0-A388-91120FF17865}"/>
              </a:ext>
            </a:extLst>
          </p:cNvPr>
          <p:cNvSpPr>
            <a:spLocks noGrp="1"/>
          </p:cNvSpPr>
          <p:nvPr/>
        </p:nvSpPr>
        <p:spPr>
          <a:xfrm>
            <a:off x="6819900" y="4152900"/>
            <a:ext cx="4667250"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dirty="0">
                <a:solidFill>
                  <a:srgbClr val="000000"/>
                </a:solidFill>
                <a:latin typeface="Helvetica Neue"/>
                <a:ea typeface="Helvetica Neue"/>
                <a:cs typeface="Helvetica Neue"/>
              </a:rPr>
              <a:t>Test targets </a:t>
            </a:r>
            <a:r>
              <a:rPr lang="en-US" sz="1575" dirty="0">
                <a:solidFill>
                  <a:srgbClr val="000000"/>
                </a:solidFill>
                <a:latin typeface="Helvetica Neue"/>
                <a:ea typeface="Helvetica Neue"/>
                <a:cs typeface="Helvetica Neue"/>
              </a:rPr>
              <a:t>with </a:t>
            </a:r>
            <a:r>
              <a:rPr lang="en-US" sz="1575" b="1" dirty="0">
                <a:solidFill>
                  <a:srgbClr val="000000"/>
                </a:solidFill>
                <a:latin typeface="Helvetica Neue"/>
                <a:ea typeface="Helvetica Neue"/>
                <a:cs typeface="Helvetica Neue"/>
              </a:rPr>
              <a:t>benchmarked theory first</a:t>
            </a:r>
            <a:endParaRPr sz="1575" b="1" i="0" dirty="0">
              <a:solidFill>
                <a:srgbClr val="000000"/>
              </a:solidFill>
              <a:latin typeface="Helvetica Neue"/>
              <a:ea typeface="Helvetica Neue"/>
              <a:cs typeface="Helvetica Neue"/>
            </a:endParaRPr>
          </a:p>
        </p:txBody>
      </p:sp>
    </p:spTree>
    <p:extLst>
      <p:ext uri="{BB962C8B-B14F-4D97-AF65-F5344CB8AC3E}">
        <p14:creationId xmlns:p14="http://schemas.microsoft.com/office/powerpoint/2010/main" val="3667454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4E22556F-530E-34A3-A69F-04530C9ADA81}"/>
              </a:ext>
            </a:extLst>
          </p:cNvPr>
          <p:cNvSpPr>
            <a:spLocks noGrp="1"/>
          </p:cNvSpPr>
          <p:nvPr/>
        </p:nvSpPr>
        <p:spPr>
          <a:xfrm>
            <a:off x="666751" y="4550431"/>
            <a:ext cx="2526826" cy="447675"/>
          </a:xfrm>
          <a:prstGeom prst="rect">
            <a:avLst/>
          </a:prstGeom>
          <a:solidFill>
            <a:srgbClr val="FFFFFF"/>
          </a:solidFill>
          <a:ln w="19050">
            <a:solidFill>
              <a:srgbClr val="143A72"/>
            </a:solidFill>
            <a:prstDash val="solid"/>
          </a:ln>
        </p:spPr>
        <p:txBody>
          <a:bodyPr/>
          <a:lstStyle/>
          <a:p>
            <a:endParaRPr lang="en-US"/>
          </a:p>
        </p:txBody>
      </p:sp>
      <p:sp>
        <p:nvSpPr>
          <p:cNvPr id="25" name="Rectangle 24">
            <a:extLst>
              <a:ext uri="{FF2B5EF4-FFF2-40B4-BE49-F238E27FC236}">
                <a16:creationId xmlns:a16="http://schemas.microsoft.com/office/drawing/2014/main" id="{00EEE303-6819-4C10-96A6-5EE8AE11B6E1}"/>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2DC6E102-82E7-4538-A215-BB69F8C0FBCD}"/>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dirty="0">
                <a:solidFill>
                  <a:srgbClr val="000000"/>
                </a:solidFill>
                <a:latin typeface="Helvetica Neue"/>
                <a:ea typeface="Helvetica Neue"/>
                <a:cs typeface="Helvetica Neue"/>
              </a:rPr>
              <a:t>Two </a:t>
            </a:r>
            <a:r>
              <a:rPr lang="en-US" sz="2925" b="1" i="0" dirty="0">
                <a:solidFill>
                  <a:srgbClr val="000000"/>
                </a:solidFill>
                <a:latin typeface="Helvetica Neue"/>
                <a:ea typeface="Helvetica Neue"/>
                <a:cs typeface="Helvetica Neue"/>
              </a:rPr>
              <a:t>tracks</a:t>
            </a:r>
            <a:r>
              <a:rPr sz="2925" b="1" i="0" dirty="0">
                <a:solidFill>
                  <a:srgbClr val="000000"/>
                </a:solidFill>
                <a:latin typeface="Helvetica Neue"/>
                <a:ea typeface="Helvetica Neue"/>
                <a:cs typeface="Helvetica Neue"/>
              </a:rPr>
              <a:t> balance rigor and relevance</a:t>
            </a:r>
          </a:p>
        </p:txBody>
      </p:sp>
      <p:cxnSp>
        <p:nvCxnSpPr>
          <p:cNvPr id="33" name="Straight Arrow Connector 32"/>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3ECC06BA-86AD-4EE0-BF67-0528BC83E794}"/>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5</a:t>
            </a:r>
          </a:p>
        </p:txBody>
      </p:sp>
      <p:sp>
        <p:nvSpPr>
          <p:cNvPr id="5" name="Rectangle 4">
            <a:extLst>
              <a:ext uri="{FF2B5EF4-FFF2-40B4-BE49-F238E27FC236}">
                <a16:creationId xmlns:a16="http://schemas.microsoft.com/office/drawing/2014/main" id="{10162309-DD28-4019-B1D8-AD8F5F542FC1}"/>
              </a:ext>
            </a:extLst>
          </p:cNvPr>
          <p:cNvSpPr>
            <a:spLocks noGrp="1"/>
          </p:cNvSpPr>
          <p:nvPr/>
        </p:nvSpPr>
        <p:spPr>
          <a:xfrm>
            <a:off x="400050" y="1495425"/>
            <a:ext cx="5067300" cy="3667125"/>
          </a:xfrm>
          <a:prstGeom prst="rect">
            <a:avLst/>
          </a:prstGeom>
          <a:solidFill>
            <a:srgbClr val="F6F7F8"/>
          </a:solidFill>
          <a:ln w="9525">
            <a:solidFill>
              <a:srgbClr val="B8BCC4"/>
            </a:solidFill>
            <a:prstDash val="solid"/>
          </a:ln>
        </p:spPr>
        <p:txBody>
          <a:bodyPr/>
          <a:lstStyle/>
          <a:p>
            <a:endParaRPr lang="en-US" dirty="0"/>
          </a:p>
        </p:txBody>
      </p:sp>
      <p:sp>
        <p:nvSpPr>
          <p:cNvPr id="6" name="Rectangle 5">
            <a:extLst>
              <a:ext uri="{FF2B5EF4-FFF2-40B4-BE49-F238E27FC236}">
                <a16:creationId xmlns:a16="http://schemas.microsoft.com/office/drawing/2014/main" id="{83E4FC37-2FCB-4D6D-BB42-D9B377000082}"/>
              </a:ext>
            </a:extLst>
          </p:cNvPr>
          <p:cNvSpPr>
            <a:spLocks noGrp="1"/>
          </p:cNvSpPr>
          <p:nvPr/>
        </p:nvSpPr>
        <p:spPr>
          <a:xfrm>
            <a:off x="666750" y="1752600"/>
            <a:ext cx="1714500" cy="285750"/>
          </a:xfrm>
          <a:prstGeom prst="rect">
            <a:avLst/>
          </a:prstGeom>
          <a:noFill/>
          <a:ln w="0">
            <a:noFill/>
            <a:prstDash val="solid"/>
          </a:ln>
        </p:spPr>
        <p:txBody>
          <a:bodyPr anchor="t">
            <a:normAutofit fontScale="94444" lnSpcReduction="10000"/>
          </a:bodyPr>
          <a:lstStyle/>
          <a:p>
            <a:pPr algn="l">
              <a:buNone/>
              <a:defRPr sz="1350" b="1" i="0">
                <a:solidFill>
                  <a:srgbClr val="143A72"/>
                </a:solidFill>
                <a:latin typeface="Helvetica Neue"/>
                <a:ea typeface="Helvetica Neue"/>
                <a:cs typeface="Helvetica Neue"/>
              </a:defRPr>
            </a:pPr>
            <a:r>
              <a:rPr lang="en-US" sz="1350" b="1" i="0" dirty="0">
                <a:solidFill>
                  <a:srgbClr val="143A72"/>
                </a:solidFill>
                <a:latin typeface="Helvetica Neue"/>
                <a:ea typeface="Helvetica Neue"/>
                <a:cs typeface="Helvetica Neue"/>
              </a:rPr>
              <a:t>TRACK</a:t>
            </a:r>
            <a:r>
              <a:rPr sz="1350" b="1" i="0" dirty="0">
                <a:solidFill>
                  <a:srgbClr val="143A72"/>
                </a:solidFill>
                <a:latin typeface="Helvetica Neue"/>
                <a:ea typeface="Helvetica Neue"/>
                <a:cs typeface="Helvetica Neue"/>
              </a:rPr>
              <a:t> A</a:t>
            </a:r>
          </a:p>
        </p:txBody>
      </p:sp>
      <p:sp>
        <p:nvSpPr>
          <p:cNvPr id="7" name="Rectangle 6">
            <a:extLst>
              <a:ext uri="{FF2B5EF4-FFF2-40B4-BE49-F238E27FC236}">
                <a16:creationId xmlns:a16="http://schemas.microsoft.com/office/drawing/2014/main" id="{AF9A28C6-B90E-4A1B-8448-F119260FB181}"/>
              </a:ext>
            </a:extLst>
          </p:cNvPr>
          <p:cNvSpPr>
            <a:spLocks noGrp="1"/>
          </p:cNvSpPr>
          <p:nvPr/>
        </p:nvSpPr>
        <p:spPr>
          <a:xfrm>
            <a:off x="666750" y="2133600"/>
            <a:ext cx="4191000" cy="476250"/>
          </a:xfrm>
          <a:prstGeom prst="rect">
            <a:avLst/>
          </a:prstGeom>
          <a:noFill/>
          <a:ln w="0">
            <a:noFill/>
            <a:prstDash val="solid"/>
          </a:ln>
        </p:spPr>
        <p:txBody>
          <a:bodyPr anchor="t">
            <a:normAutofit/>
          </a:bodyPr>
          <a:lstStyle/>
          <a:p>
            <a:pPr algn="l">
              <a:buNone/>
              <a:defRPr sz="2325" b="1" i="0">
                <a:solidFill>
                  <a:srgbClr val="000000"/>
                </a:solidFill>
                <a:latin typeface="Helvetica Neue"/>
                <a:ea typeface="Helvetica Neue"/>
                <a:cs typeface="Helvetica Neue"/>
              </a:defRPr>
            </a:pPr>
            <a:r>
              <a:rPr sz="2325" b="1" i="0" dirty="0">
                <a:solidFill>
                  <a:srgbClr val="000000"/>
                </a:solidFill>
                <a:latin typeface="Helvetica Neue"/>
                <a:ea typeface="Helvetica Neue"/>
                <a:cs typeface="Helvetica Neue"/>
              </a:rPr>
              <a:t>Canonical validation</a:t>
            </a:r>
            <a:r>
              <a:rPr lang="en-US" sz="2325" b="1" i="0" dirty="0">
                <a:solidFill>
                  <a:srgbClr val="000000"/>
                </a:solidFill>
                <a:latin typeface="Helvetica Neue"/>
                <a:ea typeface="Helvetica Neue"/>
                <a:cs typeface="Helvetica Neue"/>
              </a:rPr>
              <a:t>*</a:t>
            </a:r>
            <a:endParaRPr sz="2325" b="1" i="0" dirty="0">
              <a:solidFill>
                <a:srgbClr val="000000"/>
              </a:solidFill>
              <a:latin typeface="Helvetica Neue"/>
              <a:ea typeface="Helvetica Neue"/>
              <a:cs typeface="Helvetica Neue"/>
            </a:endParaRPr>
          </a:p>
        </p:txBody>
      </p:sp>
      <p:sp>
        <p:nvSpPr>
          <p:cNvPr id="8" name="Rectangle 7">
            <a:extLst>
              <a:ext uri="{FF2B5EF4-FFF2-40B4-BE49-F238E27FC236}">
                <a16:creationId xmlns:a16="http://schemas.microsoft.com/office/drawing/2014/main" id="{81598A0D-0BBD-48D1-BC2A-08087D8B1301}"/>
              </a:ext>
            </a:extLst>
          </p:cNvPr>
          <p:cNvSpPr>
            <a:spLocks noGrp="1"/>
          </p:cNvSpPr>
          <p:nvPr/>
        </p:nvSpPr>
        <p:spPr>
          <a:xfrm>
            <a:off x="666750" y="2905125"/>
            <a:ext cx="228600" cy="266700"/>
          </a:xfrm>
          <a:prstGeom prst="rect">
            <a:avLst/>
          </a:prstGeom>
          <a:noFill/>
          <a:ln w="0">
            <a:noFill/>
            <a:prstDash val="solid"/>
          </a:ln>
        </p:spPr>
        <p:txBody>
          <a:bodyPr anchor="t">
            <a:noAutofit/>
          </a:bodyPr>
          <a:lstStyle/>
          <a:p>
            <a:pPr algn="l">
              <a:buNone/>
              <a:defRPr sz="1575" b="1" i="0">
                <a:solidFill>
                  <a:srgbClr val="143A72"/>
                </a:solidFill>
                <a:latin typeface="Helvetica Neue"/>
                <a:ea typeface="Helvetica Neue"/>
                <a:cs typeface="Helvetica Neue"/>
              </a:defRPr>
            </a:pPr>
            <a:r>
              <a:rPr sz="1575" b="1" i="0">
                <a:solidFill>
                  <a:srgbClr val="143A72"/>
                </a:solidFill>
                <a:latin typeface="Helvetica Neue"/>
                <a:ea typeface="Helvetica Neue"/>
                <a:cs typeface="Helvetica Neue"/>
              </a:rPr>
              <a:t>•</a:t>
            </a:r>
          </a:p>
        </p:txBody>
      </p:sp>
      <p:sp>
        <p:nvSpPr>
          <p:cNvPr id="9" name="Rectangle 8">
            <a:extLst>
              <a:ext uri="{FF2B5EF4-FFF2-40B4-BE49-F238E27FC236}">
                <a16:creationId xmlns:a16="http://schemas.microsoft.com/office/drawing/2014/main" id="{2DFD98BF-8466-41DA-AA54-D8990D12A008}"/>
              </a:ext>
            </a:extLst>
          </p:cNvPr>
          <p:cNvSpPr>
            <a:spLocks noGrp="1"/>
          </p:cNvSpPr>
          <p:nvPr/>
        </p:nvSpPr>
        <p:spPr>
          <a:xfrm>
            <a:off x="952500" y="2905125"/>
            <a:ext cx="3952875"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a:solidFill>
                  <a:srgbClr val="000000"/>
                </a:solidFill>
                <a:latin typeface="Helvetica Neue"/>
                <a:ea typeface="Helvetica Neue"/>
                <a:cs typeface="Helvetica Neue"/>
              </a:rPr>
              <a:t>Hard particles → Boltzmann</a:t>
            </a:r>
          </a:p>
        </p:txBody>
      </p:sp>
      <p:sp>
        <p:nvSpPr>
          <p:cNvPr id="10" name="Rectangle 9">
            <a:extLst>
              <a:ext uri="{FF2B5EF4-FFF2-40B4-BE49-F238E27FC236}">
                <a16:creationId xmlns:a16="http://schemas.microsoft.com/office/drawing/2014/main" id="{4D872B06-66A2-461B-BD74-2D90D2A9036F}"/>
              </a:ext>
            </a:extLst>
          </p:cNvPr>
          <p:cNvSpPr>
            <a:spLocks noGrp="1"/>
          </p:cNvSpPr>
          <p:nvPr/>
        </p:nvSpPr>
        <p:spPr>
          <a:xfrm>
            <a:off x="666750" y="3457575"/>
            <a:ext cx="228600" cy="266700"/>
          </a:xfrm>
          <a:prstGeom prst="rect">
            <a:avLst/>
          </a:prstGeom>
          <a:noFill/>
          <a:ln w="0">
            <a:noFill/>
            <a:prstDash val="solid"/>
          </a:ln>
        </p:spPr>
        <p:txBody>
          <a:bodyPr anchor="t">
            <a:noAutofit/>
          </a:bodyPr>
          <a:lstStyle/>
          <a:p>
            <a:pPr algn="l">
              <a:buNone/>
              <a:defRPr sz="1575" b="1" i="0">
                <a:solidFill>
                  <a:srgbClr val="143A72"/>
                </a:solidFill>
                <a:latin typeface="Helvetica Neue"/>
                <a:ea typeface="Helvetica Neue"/>
                <a:cs typeface="Helvetica Neue"/>
              </a:defRPr>
            </a:pPr>
            <a:r>
              <a:rPr sz="1575" b="1" i="0">
                <a:solidFill>
                  <a:srgbClr val="143A72"/>
                </a:solidFill>
                <a:latin typeface="Helvetica Neue"/>
                <a:ea typeface="Helvetica Neue"/>
                <a:cs typeface="Helvetica Neue"/>
              </a:rPr>
              <a:t>•</a:t>
            </a:r>
          </a:p>
        </p:txBody>
      </p:sp>
      <p:sp>
        <p:nvSpPr>
          <p:cNvPr id="11" name="Rectangle 10">
            <a:extLst>
              <a:ext uri="{FF2B5EF4-FFF2-40B4-BE49-F238E27FC236}">
                <a16:creationId xmlns:a16="http://schemas.microsoft.com/office/drawing/2014/main" id="{97CEA37F-8B55-434F-BED4-E6FDE4B65008}"/>
              </a:ext>
            </a:extLst>
          </p:cNvPr>
          <p:cNvSpPr>
            <a:spLocks noGrp="1"/>
          </p:cNvSpPr>
          <p:nvPr/>
        </p:nvSpPr>
        <p:spPr>
          <a:xfrm>
            <a:off x="952500" y="3457575"/>
            <a:ext cx="3952875"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a:solidFill>
                  <a:srgbClr val="000000"/>
                </a:solidFill>
                <a:latin typeface="Helvetica Neue"/>
                <a:ea typeface="Helvetica Neue"/>
                <a:cs typeface="Helvetica Neue"/>
              </a:rPr>
              <a:t>Nonlinear waves → wave kinetics</a:t>
            </a:r>
          </a:p>
        </p:txBody>
      </p:sp>
      <p:sp>
        <p:nvSpPr>
          <p:cNvPr id="12" name="Rectangle 11">
            <a:extLst>
              <a:ext uri="{FF2B5EF4-FFF2-40B4-BE49-F238E27FC236}">
                <a16:creationId xmlns:a16="http://schemas.microsoft.com/office/drawing/2014/main" id="{198AF1FD-7D33-4575-956E-28057031ED4F}"/>
              </a:ext>
            </a:extLst>
          </p:cNvPr>
          <p:cNvSpPr>
            <a:spLocks noGrp="1"/>
          </p:cNvSpPr>
          <p:nvPr/>
        </p:nvSpPr>
        <p:spPr>
          <a:xfrm>
            <a:off x="666750" y="4010025"/>
            <a:ext cx="228600" cy="266700"/>
          </a:xfrm>
          <a:prstGeom prst="rect">
            <a:avLst/>
          </a:prstGeom>
          <a:noFill/>
          <a:ln w="0">
            <a:noFill/>
            <a:prstDash val="solid"/>
          </a:ln>
        </p:spPr>
        <p:txBody>
          <a:bodyPr anchor="t">
            <a:noAutofit/>
          </a:bodyPr>
          <a:lstStyle/>
          <a:p>
            <a:pPr algn="l">
              <a:buNone/>
              <a:defRPr sz="1575" b="1" i="0">
                <a:solidFill>
                  <a:srgbClr val="143A72"/>
                </a:solidFill>
                <a:latin typeface="Helvetica Neue"/>
                <a:ea typeface="Helvetica Neue"/>
                <a:cs typeface="Helvetica Neue"/>
              </a:defRPr>
            </a:pPr>
            <a:r>
              <a:rPr sz="1575" b="1" i="0">
                <a:solidFill>
                  <a:srgbClr val="143A72"/>
                </a:solidFill>
                <a:latin typeface="Helvetica Neue"/>
                <a:ea typeface="Helvetica Neue"/>
                <a:cs typeface="Helvetica Neue"/>
              </a:rPr>
              <a:t>•</a:t>
            </a:r>
          </a:p>
        </p:txBody>
      </p:sp>
      <p:sp>
        <p:nvSpPr>
          <p:cNvPr id="13" name="Rectangle 12">
            <a:extLst>
              <a:ext uri="{FF2B5EF4-FFF2-40B4-BE49-F238E27FC236}">
                <a16:creationId xmlns:a16="http://schemas.microsoft.com/office/drawing/2014/main" id="{41066BD3-1B87-4EB0-9D3F-E65EA8023C13}"/>
              </a:ext>
            </a:extLst>
          </p:cNvPr>
          <p:cNvSpPr>
            <a:spLocks noGrp="1"/>
          </p:cNvSpPr>
          <p:nvPr/>
        </p:nvSpPr>
        <p:spPr>
          <a:xfrm>
            <a:off x="952500" y="4010025"/>
            <a:ext cx="3952875"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dirty="0">
                <a:solidFill>
                  <a:srgbClr val="000000"/>
                </a:solidFill>
                <a:latin typeface="Helvetica Neue"/>
                <a:ea typeface="Helvetica Neue"/>
                <a:cs typeface="Helvetica Neue"/>
              </a:rPr>
              <a:t>Boltzmann → Euler / N</a:t>
            </a:r>
            <a:r>
              <a:rPr lang="en-US" sz="1575" b="0" i="0" dirty="0">
                <a:solidFill>
                  <a:srgbClr val="000000"/>
                </a:solidFill>
                <a:latin typeface="Helvetica Neue"/>
                <a:ea typeface="Helvetica Neue"/>
                <a:cs typeface="Helvetica Neue"/>
              </a:rPr>
              <a:t>avier-Stokes</a:t>
            </a:r>
            <a:endParaRPr sz="1575" b="0" i="0" dirty="0">
              <a:solidFill>
                <a:srgbClr val="000000"/>
              </a:solidFill>
              <a:latin typeface="Helvetica Neue"/>
              <a:ea typeface="Helvetica Neue"/>
              <a:cs typeface="Helvetica Neue"/>
            </a:endParaRPr>
          </a:p>
        </p:txBody>
      </p:sp>
      <p:sp>
        <p:nvSpPr>
          <p:cNvPr id="14" name="Rectangle 13">
            <a:extLst>
              <a:ext uri="{FF2B5EF4-FFF2-40B4-BE49-F238E27FC236}">
                <a16:creationId xmlns:a16="http://schemas.microsoft.com/office/drawing/2014/main" id="{699A5D65-3BCC-4356-A6DF-5F5240736543}"/>
              </a:ext>
            </a:extLst>
          </p:cNvPr>
          <p:cNvSpPr>
            <a:spLocks noGrp="1"/>
          </p:cNvSpPr>
          <p:nvPr/>
        </p:nvSpPr>
        <p:spPr>
          <a:xfrm>
            <a:off x="6324600" y="1495425"/>
            <a:ext cx="5467350" cy="3667125"/>
          </a:xfrm>
          <a:prstGeom prst="rect">
            <a:avLst/>
          </a:prstGeom>
          <a:solidFill>
            <a:srgbClr val="D0EDFA"/>
          </a:solidFill>
          <a:ln w="9525">
            <a:solidFill>
              <a:srgbClr val="3D8DFF"/>
            </a:solidFill>
            <a:prstDash val="solid"/>
          </a:ln>
        </p:spPr>
        <p:txBody>
          <a:bodyPr/>
          <a:lstStyle/>
          <a:p>
            <a:endParaRPr lang="en-US"/>
          </a:p>
        </p:txBody>
      </p:sp>
      <p:sp>
        <p:nvSpPr>
          <p:cNvPr id="15" name="Rectangle 14">
            <a:extLst>
              <a:ext uri="{FF2B5EF4-FFF2-40B4-BE49-F238E27FC236}">
                <a16:creationId xmlns:a16="http://schemas.microsoft.com/office/drawing/2014/main" id="{BAE27C9C-3D28-431A-8A8D-18910EEBF7A0}"/>
              </a:ext>
            </a:extLst>
          </p:cNvPr>
          <p:cNvSpPr>
            <a:spLocks noGrp="1"/>
          </p:cNvSpPr>
          <p:nvPr/>
        </p:nvSpPr>
        <p:spPr>
          <a:xfrm>
            <a:off x="6591300" y="1752600"/>
            <a:ext cx="1714500" cy="285750"/>
          </a:xfrm>
          <a:prstGeom prst="rect">
            <a:avLst/>
          </a:prstGeom>
          <a:noFill/>
          <a:ln w="0">
            <a:noFill/>
            <a:prstDash val="solid"/>
          </a:ln>
        </p:spPr>
        <p:txBody>
          <a:bodyPr anchor="t">
            <a:normAutofit fontScale="94444" lnSpcReduction="10000"/>
          </a:bodyPr>
          <a:lstStyle/>
          <a:p>
            <a:pPr algn="l">
              <a:buNone/>
              <a:defRPr sz="1350" b="1" i="0">
                <a:solidFill>
                  <a:srgbClr val="143A72"/>
                </a:solidFill>
                <a:latin typeface="Helvetica Neue"/>
                <a:ea typeface="Helvetica Neue"/>
                <a:cs typeface="Helvetica Neue"/>
              </a:defRPr>
            </a:pPr>
            <a:r>
              <a:rPr lang="en-US" sz="1350" b="1" i="0" dirty="0">
                <a:solidFill>
                  <a:srgbClr val="143A72"/>
                </a:solidFill>
                <a:latin typeface="Helvetica Neue"/>
                <a:ea typeface="Helvetica Neue"/>
                <a:cs typeface="Helvetica Neue"/>
              </a:rPr>
              <a:t>TRACK</a:t>
            </a:r>
            <a:r>
              <a:rPr sz="1350" b="1" i="0" dirty="0">
                <a:solidFill>
                  <a:srgbClr val="143A72"/>
                </a:solidFill>
                <a:latin typeface="Helvetica Neue"/>
                <a:ea typeface="Helvetica Neue"/>
                <a:cs typeface="Helvetica Neue"/>
              </a:rPr>
              <a:t> B</a:t>
            </a:r>
          </a:p>
        </p:txBody>
      </p:sp>
      <p:sp>
        <p:nvSpPr>
          <p:cNvPr id="16" name="Rectangle 15">
            <a:extLst>
              <a:ext uri="{FF2B5EF4-FFF2-40B4-BE49-F238E27FC236}">
                <a16:creationId xmlns:a16="http://schemas.microsoft.com/office/drawing/2014/main" id="{85E2195C-904E-477D-A620-92A017D2C89A}"/>
              </a:ext>
            </a:extLst>
          </p:cNvPr>
          <p:cNvSpPr>
            <a:spLocks noGrp="1"/>
          </p:cNvSpPr>
          <p:nvPr/>
        </p:nvSpPr>
        <p:spPr>
          <a:xfrm>
            <a:off x="6591300" y="2133600"/>
            <a:ext cx="4476750" cy="476250"/>
          </a:xfrm>
          <a:prstGeom prst="rect">
            <a:avLst/>
          </a:prstGeom>
          <a:noFill/>
          <a:ln w="0">
            <a:noFill/>
            <a:prstDash val="solid"/>
          </a:ln>
        </p:spPr>
        <p:txBody>
          <a:bodyPr anchor="t">
            <a:normAutofit/>
          </a:bodyPr>
          <a:lstStyle/>
          <a:p>
            <a:pPr algn="l">
              <a:buNone/>
              <a:defRPr sz="2325" b="1" i="0">
                <a:solidFill>
                  <a:srgbClr val="000000"/>
                </a:solidFill>
                <a:latin typeface="Helvetica Neue"/>
                <a:ea typeface="Helvetica Neue"/>
                <a:cs typeface="Helvetica Neue"/>
              </a:defRPr>
            </a:pPr>
            <a:r>
              <a:rPr sz="2325" b="1" i="0">
                <a:solidFill>
                  <a:srgbClr val="000000"/>
                </a:solidFill>
                <a:latin typeface="Helvetica Neue"/>
                <a:ea typeface="Helvetica Neue"/>
                <a:cs typeface="Helvetica Neue"/>
              </a:rPr>
              <a:t>TEMPEST applications</a:t>
            </a:r>
          </a:p>
        </p:txBody>
      </p:sp>
      <p:sp>
        <p:nvSpPr>
          <p:cNvPr id="17" name="Rectangle 16">
            <a:extLst>
              <a:ext uri="{FF2B5EF4-FFF2-40B4-BE49-F238E27FC236}">
                <a16:creationId xmlns:a16="http://schemas.microsoft.com/office/drawing/2014/main" id="{9F5FF7E1-3607-4585-8080-AC5E6D15797D}"/>
              </a:ext>
            </a:extLst>
          </p:cNvPr>
          <p:cNvSpPr>
            <a:spLocks noGrp="1"/>
          </p:cNvSpPr>
          <p:nvPr/>
        </p:nvSpPr>
        <p:spPr>
          <a:xfrm>
            <a:off x="6591300" y="2905125"/>
            <a:ext cx="228600" cy="266700"/>
          </a:xfrm>
          <a:prstGeom prst="rect">
            <a:avLst/>
          </a:prstGeom>
          <a:noFill/>
          <a:ln w="0">
            <a:noFill/>
            <a:prstDash val="solid"/>
          </a:ln>
        </p:spPr>
        <p:txBody>
          <a:bodyPr anchor="t">
            <a:noAutofit/>
          </a:bodyPr>
          <a:lstStyle/>
          <a:p>
            <a:pPr algn="l">
              <a:buNone/>
              <a:defRPr sz="1575" b="1" i="0">
                <a:solidFill>
                  <a:srgbClr val="18AEB5"/>
                </a:solidFill>
                <a:latin typeface="Helvetica Neue"/>
                <a:ea typeface="Helvetica Neue"/>
                <a:cs typeface="Helvetica Neue"/>
              </a:defRPr>
            </a:pPr>
            <a:r>
              <a:rPr sz="1575" b="1" i="0">
                <a:solidFill>
                  <a:srgbClr val="18AEB5"/>
                </a:solidFill>
                <a:latin typeface="Helvetica Neue"/>
                <a:ea typeface="Helvetica Neue"/>
                <a:cs typeface="Helvetica Neue"/>
              </a:rPr>
              <a:t>•</a:t>
            </a:r>
          </a:p>
        </p:txBody>
      </p:sp>
      <p:sp>
        <p:nvSpPr>
          <p:cNvPr id="18" name="Rectangle 17">
            <a:extLst>
              <a:ext uri="{FF2B5EF4-FFF2-40B4-BE49-F238E27FC236}">
                <a16:creationId xmlns:a16="http://schemas.microsoft.com/office/drawing/2014/main" id="{03602C2B-E87B-473E-A654-D493935902D7}"/>
              </a:ext>
            </a:extLst>
          </p:cNvPr>
          <p:cNvSpPr>
            <a:spLocks noGrp="1"/>
          </p:cNvSpPr>
          <p:nvPr/>
        </p:nvSpPr>
        <p:spPr>
          <a:xfrm>
            <a:off x="6877050" y="2905125"/>
            <a:ext cx="4476750"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a:solidFill>
                  <a:srgbClr val="000000"/>
                </a:solidFill>
                <a:latin typeface="Helvetica Neue"/>
                <a:ea typeface="Helvetica Neue"/>
                <a:cs typeface="Helvetica Neue"/>
              </a:rPr>
              <a:t>B1: dusty-plasma closure ladder</a:t>
            </a:r>
          </a:p>
        </p:txBody>
      </p:sp>
      <p:sp>
        <p:nvSpPr>
          <p:cNvPr id="19" name="Rectangle 18">
            <a:extLst>
              <a:ext uri="{FF2B5EF4-FFF2-40B4-BE49-F238E27FC236}">
                <a16:creationId xmlns:a16="http://schemas.microsoft.com/office/drawing/2014/main" id="{873AF96C-5F1A-498D-82F8-E8440A003258}"/>
              </a:ext>
            </a:extLst>
          </p:cNvPr>
          <p:cNvSpPr>
            <a:spLocks noGrp="1"/>
          </p:cNvSpPr>
          <p:nvPr/>
        </p:nvSpPr>
        <p:spPr>
          <a:xfrm>
            <a:off x="6591300" y="3457575"/>
            <a:ext cx="228600" cy="266700"/>
          </a:xfrm>
          <a:prstGeom prst="rect">
            <a:avLst/>
          </a:prstGeom>
          <a:noFill/>
          <a:ln w="0">
            <a:noFill/>
            <a:prstDash val="solid"/>
          </a:ln>
        </p:spPr>
        <p:txBody>
          <a:bodyPr anchor="t">
            <a:noAutofit/>
          </a:bodyPr>
          <a:lstStyle/>
          <a:p>
            <a:pPr algn="l">
              <a:buNone/>
              <a:defRPr sz="1575" b="1" i="0">
                <a:solidFill>
                  <a:srgbClr val="18AEB5"/>
                </a:solidFill>
                <a:latin typeface="Helvetica Neue"/>
                <a:ea typeface="Helvetica Neue"/>
                <a:cs typeface="Helvetica Neue"/>
              </a:defRPr>
            </a:pPr>
            <a:r>
              <a:rPr sz="1575" b="1" i="0">
                <a:solidFill>
                  <a:srgbClr val="18AEB5"/>
                </a:solidFill>
                <a:latin typeface="Helvetica Neue"/>
                <a:ea typeface="Helvetica Neue"/>
                <a:cs typeface="Helvetica Neue"/>
              </a:rPr>
              <a:t>•</a:t>
            </a:r>
          </a:p>
        </p:txBody>
      </p:sp>
      <p:sp>
        <p:nvSpPr>
          <p:cNvPr id="20" name="Rectangle 19">
            <a:extLst>
              <a:ext uri="{FF2B5EF4-FFF2-40B4-BE49-F238E27FC236}">
                <a16:creationId xmlns:a16="http://schemas.microsoft.com/office/drawing/2014/main" id="{1A87E654-10B9-44A6-A8EC-1A3AB1656A51}"/>
              </a:ext>
            </a:extLst>
          </p:cNvPr>
          <p:cNvSpPr>
            <a:spLocks noGrp="1"/>
          </p:cNvSpPr>
          <p:nvPr/>
        </p:nvSpPr>
        <p:spPr>
          <a:xfrm>
            <a:off x="6877050" y="3457575"/>
            <a:ext cx="4476750"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a:solidFill>
                  <a:srgbClr val="000000"/>
                </a:solidFill>
                <a:latin typeface="Helvetica Neue"/>
                <a:ea typeface="Helvetica Neue"/>
                <a:cs typeface="Helvetica Neue"/>
              </a:rPr>
              <a:t>B2: supernova 3D→1D turbulence</a:t>
            </a:r>
          </a:p>
        </p:txBody>
      </p:sp>
      <p:sp>
        <p:nvSpPr>
          <p:cNvPr id="21" name="Rectangle 20">
            <a:extLst>
              <a:ext uri="{FF2B5EF4-FFF2-40B4-BE49-F238E27FC236}">
                <a16:creationId xmlns:a16="http://schemas.microsoft.com/office/drawing/2014/main" id="{71CB41DA-7200-4805-B2B7-AEAB0A6DF785}"/>
              </a:ext>
            </a:extLst>
          </p:cNvPr>
          <p:cNvSpPr>
            <a:spLocks noGrp="1"/>
          </p:cNvSpPr>
          <p:nvPr/>
        </p:nvSpPr>
        <p:spPr>
          <a:xfrm>
            <a:off x="6591300" y="4010025"/>
            <a:ext cx="228600" cy="266700"/>
          </a:xfrm>
          <a:prstGeom prst="rect">
            <a:avLst/>
          </a:prstGeom>
          <a:noFill/>
          <a:ln w="0">
            <a:noFill/>
            <a:prstDash val="solid"/>
          </a:ln>
        </p:spPr>
        <p:txBody>
          <a:bodyPr anchor="t">
            <a:noAutofit/>
          </a:bodyPr>
          <a:lstStyle/>
          <a:p>
            <a:pPr algn="l">
              <a:buNone/>
              <a:defRPr sz="1575" b="1" i="0">
                <a:solidFill>
                  <a:srgbClr val="18AEB5"/>
                </a:solidFill>
                <a:latin typeface="Helvetica Neue"/>
                <a:ea typeface="Helvetica Neue"/>
                <a:cs typeface="Helvetica Neue"/>
              </a:defRPr>
            </a:pPr>
            <a:r>
              <a:rPr sz="1575" b="1" i="0">
                <a:solidFill>
                  <a:srgbClr val="18AEB5"/>
                </a:solidFill>
                <a:latin typeface="Helvetica Neue"/>
                <a:ea typeface="Helvetica Neue"/>
                <a:cs typeface="Helvetica Neue"/>
              </a:rPr>
              <a:t>•</a:t>
            </a:r>
          </a:p>
        </p:txBody>
      </p:sp>
      <p:sp>
        <p:nvSpPr>
          <p:cNvPr id="22" name="Rectangle 21">
            <a:extLst>
              <a:ext uri="{FF2B5EF4-FFF2-40B4-BE49-F238E27FC236}">
                <a16:creationId xmlns:a16="http://schemas.microsoft.com/office/drawing/2014/main" id="{2518AF66-0495-4A87-92B9-6CB60C98C34F}"/>
              </a:ext>
            </a:extLst>
          </p:cNvPr>
          <p:cNvSpPr>
            <a:spLocks noGrp="1"/>
          </p:cNvSpPr>
          <p:nvPr/>
        </p:nvSpPr>
        <p:spPr>
          <a:xfrm>
            <a:off x="6877050" y="4010025"/>
            <a:ext cx="4476750" cy="514350"/>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sz="1575" b="0" i="0">
                <a:solidFill>
                  <a:srgbClr val="000000"/>
                </a:solidFill>
                <a:latin typeface="Helvetica Neue"/>
                <a:ea typeface="Helvetica Neue"/>
                <a:cs typeface="Helvetica Neue"/>
              </a:rPr>
              <a:t>Profile-specific projections and constraints</a:t>
            </a:r>
          </a:p>
        </p:txBody>
      </p:sp>
      <p:sp>
        <p:nvSpPr>
          <p:cNvPr id="23" name="Rectangle 22">
            <a:extLst>
              <a:ext uri="{FF2B5EF4-FFF2-40B4-BE49-F238E27FC236}">
                <a16:creationId xmlns:a16="http://schemas.microsoft.com/office/drawing/2014/main" id="{10FD410C-CDCF-4014-A18E-CB0E4981E92B}"/>
              </a:ext>
            </a:extLst>
          </p:cNvPr>
          <p:cNvSpPr>
            <a:spLocks noGrp="1"/>
          </p:cNvSpPr>
          <p:nvPr/>
        </p:nvSpPr>
        <p:spPr>
          <a:xfrm>
            <a:off x="1695450" y="5410200"/>
            <a:ext cx="8829675" cy="685800"/>
          </a:xfrm>
          <a:prstGeom prst="rect">
            <a:avLst/>
          </a:prstGeom>
          <a:solidFill>
            <a:srgbClr val="FFFFFF"/>
          </a:solidFill>
          <a:ln w="19050">
            <a:solidFill>
              <a:srgbClr val="143A72"/>
            </a:solidFill>
            <a:prstDash val="solid"/>
          </a:ln>
        </p:spPr>
        <p:txBody>
          <a:bodyPr/>
          <a:lstStyle/>
          <a:p>
            <a:endParaRPr lang="en-US"/>
          </a:p>
        </p:txBody>
      </p:sp>
      <p:sp>
        <p:nvSpPr>
          <p:cNvPr id="24" name="Rectangle 23">
            <a:extLst>
              <a:ext uri="{FF2B5EF4-FFF2-40B4-BE49-F238E27FC236}">
                <a16:creationId xmlns:a16="http://schemas.microsoft.com/office/drawing/2014/main" id="{1550E895-BE3B-4C3C-AA07-B5FB4AC8E643}"/>
              </a:ext>
            </a:extLst>
          </p:cNvPr>
          <p:cNvSpPr>
            <a:spLocks noGrp="1"/>
          </p:cNvSpPr>
          <p:nvPr/>
        </p:nvSpPr>
        <p:spPr>
          <a:xfrm>
            <a:off x="1943100" y="5581650"/>
            <a:ext cx="8362950" cy="361950"/>
          </a:xfrm>
          <a:prstGeom prst="rect">
            <a:avLst/>
          </a:prstGeom>
          <a:noFill/>
          <a:ln w="0">
            <a:noFill/>
            <a:prstDash val="solid"/>
          </a:ln>
        </p:spPr>
        <p:txBody>
          <a:bodyPr anchor="t">
            <a:normAutofit fontScale="93224"/>
          </a:bodyPr>
          <a:lstStyle/>
          <a:p>
            <a:pPr algn="ctr">
              <a:buNone/>
              <a:defRPr sz="1725" b="1" i="0">
                <a:solidFill>
                  <a:srgbClr val="000000"/>
                </a:solidFill>
                <a:latin typeface="Helvetica Neue"/>
                <a:ea typeface="Helvetica Neue"/>
                <a:cs typeface="Helvetica Neue"/>
              </a:defRPr>
            </a:pPr>
            <a:r>
              <a:rPr sz="1725" b="1" i="0" dirty="0">
                <a:solidFill>
                  <a:srgbClr val="000000"/>
                </a:solidFill>
                <a:latin typeface="Helvetica Neue"/>
                <a:ea typeface="Helvetica Neue"/>
                <a:cs typeface="Helvetica Neue"/>
              </a:rPr>
              <a:t>Transfer diagnostics and design rules</a:t>
            </a:r>
          </a:p>
        </p:txBody>
      </p:sp>
      <p:sp>
        <p:nvSpPr>
          <p:cNvPr id="3" name="Rectangle 2">
            <a:extLst>
              <a:ext uri="{FF2B5EF4-FFF2-40B4-BE49-F238E27FC236}">
                <a16:creationId xmlns:a16="http://schemas.microsoft.com/office/drawing/2014/main" id="{2BF4D83E-F5D9-F0BE-4049-97F2DE00C8E4}"/>
              </a:ext>
            </a:extLst>
          </p:cNvPr>
          <p:cNvSpPr>
            <a:spLocks noGrp="1"/>
          </p:cNvSpPr>
          <p:nvPr/>
        </p:nvSpPr>
        <p:spPr>
          <a:xfrm>
            <a:off x="501128" y="4648200"/>
            <a:ext cx="3347541" cy="361950"/>
          </a:xfrm>
          <a:prstGeom prst="rect">
            <a:avLst/>
          </a:prstGeom>
          <a:noFill/>
          <a:ln w="0">
            <a:noFill/>
            <a:prstDash val="solid"/>
          </a:ln>
        </p:spPr>
        <p:txBody>
          <a:bodyPr anchor="t">
            <a:normAutofit fontScale="93224"/>
          </a:bodyPr>
          <a:lstStyle/>
          <a:p>
            <a:pPr algn="ctr">
              <a:buNone/>
              <a:defRPr sz="1725" b="1" i="0">
                <a:solidFill>
                  <a:srgbClr val="000000"/>
                </a:solidFill>
                <a:latin typeface="Helvetica Neue"/>
                <a:ea typeface="Helvetica Neue"/>
                <a:cs typeface="Helvetica Neue"/>
              </a:defRPr>
            </a:pPr>
            <a:r>
              <a:rPr lang="en-US" sz="1000" b="1" i="0" dirty="0">
                <a:solidFill>
                  <a:srgbClr val="000000"/>
                </a:solidFill>
                <a:latin typeface="Helvetica Neue"/>
                <a:ea typeface="Helvetica Neue"/>
                <a:cs typeface="Helvetica Neue"/>
              </a:rPr>
              <a:t>* Using [Deng </a:t>
            </a:r>
            <a:r>
              <a:rPr lang="en-US" sz="1000" b="1" dirty="0">
                <a:solidFill>
                  <a:srgbClr val="000000"/>
                </a:solidFill>
                <a:latin typeface="Helvetica Neue"/>
                <a:ea typeface="Helvetica Neue"/>
                <a:cs typeface="Helvetica Neue"/>
              </a:rPr>
              <a:t>&amp; </a:t>
            </a:r>
            <a:r>
              <a:rPr lang="en-US" sz="1000" b="1" i="0" dirty="0">
                <a:solidFill>
                  <a:srgbClr val="000000"/>
                </a:solidFill>
                <a:latin typeface="Helvetica Neue"/>
                <a:ea typeface="Helvetica Neue"/>
                <a:cs typeface="Helvetica Neue"/>
              </a:rPr>
              <a:t>Hani, ’23, ’24, ‘25] mathematical work</a:t>
            </a:r>
            <a:endParaRPr sz="1000" b="1" i="0" dirty="0">
              <a:solidFill>
                <a:srgbClr val="000000"/>
              </a:solidFill>
              <a:latin typeface="Helvetica Neue"/>
              <a:ea typeface="Helvetica Neue"/>
              <a:cs typeface="Helvetica Neue"/>
            </a:endParaRPr>
          </a:p>
        </p:txBody>
      </p:sp>
    </p:spTree>
    <p:extLst>
      <p:ext uri="{BB962C8B-B14F-4D97-AF65-F5344CB8AC3E}">
        <p14:creationId xmlns:p14="http://schemas.microsoft.com/office/powerpoint/2010/main" val="5115030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2A71E00-069A-4649-B586-4545AD0356C5}"/>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5D94F8E6-C9F9-446C-B817-DF2A0C822804}"/>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Three canonical tests make failure auditable</a:t>
            </a:r>
          </a:p>
        </p:txBody>
      </p:sp>
      <p:cxnSp>
        <p:nvCxnSpPr>
          <p:cNvPr id="31" name="Straight Arrow Connector 30"/>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913C14BA-9092-4D79-B44D-0B2CA539FDB8}"/>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6</a:t>
            </a:r>
          </a:p>
        </p:txBody>
      </p:sp>
      <p:cxnSp>
        <p:nvCxnSpPr>
          <p:cNvPr id="33" name="Straight Arrow Connector 32"/>
          <p:cNvCxnSpPr/>
          <p:nvPr/>
        </p:nvCxnSpPr>
        <p:spPr>
          <a:xfrm>
            <a:off x="400050" y="3209925"/>
            <a:ext cx="11391900" cy="953"/>
          </a:xfrm>
          <a:prstGeom prst="straightConnector1">
            <a:avLst/>
          </a:prstGeom>
          <a:ln w="19050">
            <a:solidFill>
              <a:srgbClr val="000000"/>
            </a:solidFill>
            <a:prstDash val="solid"/>
          </a:ln>
        </p:spPr>
      </p:cxnSp>
      <p:sp>
        <p:nvSpPr>
          <p:cNvPr id="6" name="Oval 5">
            <a:extLst>
              <a:ext uri="{FF2B5EF4-FFF2-40B4-BE49-F238E27FC236}">
                <a16:creationId xmlns:a16="http://schemas.microsoft.com/office/drawing/2014/main" id="{E75361DA-8F1A-473A-8BBC-F0F6D5FB41CA}"/>
              </a:ext>
            </a:extLst>
          </p:cNvPr>
          <p:cNvSpPr>
            <a:spLocks noGrp="1"/>
          </p:cNvSpPr>
          <p:nvPr/>
        </p:nvSpPr>
        <p:spPr>
          <a:xfrm>
            <a:off x="590550" y="3143250"/>
            <a:ext cx="142875" cy="142875"/>
          </a:xfrm>
          <a:prstGeom prst="ellipse">
            <a:avLst/>
          </a:prstGeom>
          <a:solidFill>
            <a:srgbClr val="F06A3C"/>
          </a:solidFill>
          <a:ln w="4763">
            <a:solidFill>
              <a:srgbClr val="000000"/>
            </a:solidFill>
            <a:prstDash val="solid"/>
          </a:ln>
        </p:spPr>
        <p:txBody>
          <a:bodyPr/>
          <a:lstStyle/>
          <a:p>
            <a:endParaRPr lang="en-US"/>
          </a:p>
        </p:txBody>
      </p:sp>
      <p:sp>
        <p:nvSpPr>
          <p:cNvPr id="7" name="Rectangle 6">
            <a:extLst>
              <a:ext uri="{FF2B5EF4-FFF2-40B4-BE49-F238E27FC236}">
                <a16:creationId xmlns:a16="http://schemas.microsoft.com/office/drawing/2014/main" id="{AAE90B73-A180-405E-AC27-45C625AAF6B4}"/>
              </a:ext>
            </a:extLst>
          </p:cNvPr>
          <p:cNvSpPr>
            <a:spLocks noGrp="1"/>
          </p:cNvSpPr>
          <p:nvPr/>
        </p:nvSpPr>
        <p:spPr>
          <a:xfrm>
            <a:off x="590550" y="2571750"/>
            <a:ext cx="3238500" cy="323850"/>
          </a:xfrm>
          <a:prstGeom prst="rect">
            <a:avLst/>
          </a:prstGeom>
          <a:noFill/>
          <a:ln w="0">
            <a:noFill/>
            <a:prstDash val="solid"/>
          </a:ln>
        </p:spPr>
        <p:txBody>
          <a:bodyPr anchor="t">
            <a:normAutofit/>
          </a:bodyPr>
          <a:lstStyle/>
          <a:p>
            <a:pPr algn="l">
              <a:buNone/>
              <a:defRPr sz="1275" b="1" i="0">
                <a:solidFill>
                  <a:srgbClr val="5B6472"/>
                </a:solidFill>
                <a:latin typeface="Helvetica Neue"/>
                <a:ea typeface="Helvetica Neue"/>
                <a:cs typeface="Helvetica Neue"/>
              </a:defRPr>
            </a:pPr>
            <a:r>
              <a:rPr sz="1275" b="1" i="0">
                <a:solidFill>
                  <a:srgbClr val="5B6472"/>
                </a:solidFill>
                <a:latin typeface="Helvetica Neue"/>
                <a:ea typeface="Helvetica Neue"/>
                <a:cs typeface="Helvetica Neue"/>
              </a:rPr>
              <a:t>A1 · CORRELATIONS</a:t>
            </a:r>
          </a:p>
        </p:txBody>
      </p:sp>
      <p:sp>
        <p:nvSpPr>
          <p:cNvPr id="8" name="Rectangle 7">
            <a:extLst>
              <a:ext uri="{FF2B5EF4-FFF2-40B4-BE49-F238E27FC236}">
                <a16:creationId xmlns:a16="http://schemas.microsoft.com/office/drawing/2014/main" id="{97C2DE20-1C17-4939-8FAA-5E8F4AF4903F}"/>
              </a:ext>
            </a:extLst>
          </p:cNvPr>
          <p:cNvSpPr>
            <a:spLocks noGrp="1"/>
          </p:cNvSpPr>
          <p:nvPr/>
        </p:nvSpPr>
        <p:spPr>
          <a:xfrm>
            <a:off x="590550" y="3657600"/>
            <a:ext cx="3143250" cy="457200"/>
          </a:xfrm>
          <a:prstGeom prst="rect">
            <a:avLst/>
          </a:prstGeom>
          <a:noFill/>
          <a:ln w="0">
            <a:noFill/>
            <a:prstDash val="solid"/>
          </a:ln>
        </p:spPr>
        <p:txBody>
          <a:bodyPr anchor="t">
            <a:normAutofit/>
          </a:bodyPr>
          <a:lstStyle/>
          <a:p>
            <a:pPr algn="l">
              <a:buNone/>
              <a:defRPr sz="1875" b="1" i="0">
                <a:solidFill>
                  <a:srgbClr val="000000"/>
                </a:solidFill>
                <a:latin typeface="Helvetica Neue"/>
                <a:ea typeface="Helvetica Neue"/>
                <a:cs typeface="Helvetica Neue"/>
              </a:defRPr>
            </a:pPr>
            <a:r>
              <a:rPr sz="1875" b="1" i="0">
                <a:solidFill>
                  <a:srgbClr val="000000"/>
                </a:solidFill>
                <a:latin typeface="Helvetica Neue"/>
                <a:ea typeface="Helvetica Neue"/>
                <a:cs typeface="Helvetica Neue"/>
              </a:rPr>
              <a:t>Particles → Boltzmann</a:t>
            </a:r>
          </a:p>
        </p:txBody>
      </p:sp>
      <p:sp>
        <p:nvSpPr>
          <p:cNvPr id="9" name="Rectangle 8">
            <a:extLst>
              <a:ext uri="{FF2B5EF4-FFF2-40B4-BE49-F238E27FC236}">
                <a16:creationId xmlns:a16="http://schemas.microsoft.com/office/drawing/2014/main" id="{05B18DE4-B477-4751-89A5-594DFADB5173}"/>
              </a:ext>
            </a:extLst>
          </p:cNvPr>
          <p:cNvSpPr>
            <a:spLocks noGrp="1"/>
          </p:cNvSpPr>
          <p:nvPr/>
        </p:nvSpPr>
        <p:spPr>
          <a:xfrm>
            <a:off x="590550" y="4248150"/>
            <a:ext cx="3143250" cy="114300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Factorization, particle cumulants, recollisions, collision ancestry</a:t>
            </a:r>
          </a:p>
        </p:txBody>
      </p:sp>
      <p:sp>
        <p:nvSpPr>
          <p:cNvPr id="10" name="Oval 9">
            <a:extLst>
              <a:ext uri="{FF2B5EF4-FFF2-40B4-BE49-F238E27FC236}">
                <a16:creationId xmlns:a16="http://schemas.microsoft.com/office/drawing/2014/main" id="{A16D1F51-6A06-4AAB-8C1C-2667FF7ECD3B}"/>
              </a:ext>
            </a:extLst>
          </p:cNvPr>
          <p:cNvSpPr>
            <a:spLocks noGrp="1"/>
          </p:cNvSpPr>
          <p:nvPr/>
        </p:nvSpPr>
        <p:spPr>
          <a:xfrm>
            <a:off x="4362450" y="3143250"/>
            <a:ext cx="142875" cy="142875"/>
          </a:xfrm>
          <a:prstGeom prst="ellipse">
            <a:avLst/>
          </a:prstGeom>
          <a:solidFill>
            <a:srgbClr val="3D8DFF"/>
          </a:solidFill>
          <a:ln w="4763">
            <a:solidFill>
              <a:srgbClr val="000000"/>
            </a:solidFill>
            <a:prstDash val="solid"/>
          </a:ln>
        </p:spPr>
        <p:txBody>
          <a:bodyPr/>
          <a:lstStyle/>
          <a:p>
            <a:endParaRPr lang="en-US"/>
          </a:p>
        </p:txBody>
      </p:sp>
      <p:sp>
        <p:nvSpPr>
          <p:cNvPr id="11" name="Rectangle 10">
            <a:extLst>
              <a:ext uri="{FF2B5EF4-FFF2-40B4-BE49-F238E27FC236}">
                <a16:creationId xmlns:a16="http://schemas.microsoft.com/office/drawing/2014/main" id="{222D8A54-EE8F-41F6-BC89-9308547C0357}"/>
              </a:ext>
            </a:extLst>
          </p:cNvPr>
          <p:cNvSpPr>
            <a:spLocks noGrp="1"/>
          </p:cNvSpPr>
          <p:nvPr/>
        </p:nvSpPr>
        <p:spPr>
          <a:xfrm>
            <a:off x="4362450" y="2571750"/>
            <a:ext cx="3238500" cy="323850"/>
          </a:xfrm>
          <a:prstGeom prst="rect">
            <a:avLst/>
          </a:prstGeom>
          <a:noFill/>
          <a:ln w="0">
            <a:noFill/>
            <a:prstDash val="solid"/>
          </a:ln>
        </p:spPr>
        <p:txBody>
          <a:bodyPr anchor="t">
            <a:normAutofit/>
          </a:bodyPr>
          <a:lstStyle/>
          <a:p>
            <a:pPr algn="l">
              <a:buNone/>
              <a:defRPr sz="1275" b="1" i="0">
                <a:solidFill>
                  <a:srgbClr val="5B6472"/>
                </a:solidFill>
                <a:latin typeface="Helvetica Neue"/>
                <a:ea typeface="Helvetica Neue"/>
                <a:cs typeface="Helvetica Neue"/>
              </a:defRPr>
            </a:pPr>
            <a:r>
              <a:rPr sz="1275" b="1" i="0">
                <a:solidFill>
                  <a:srgbClr val="5B6472"/>
                </a:solidFill>
                <a:latin typeface="Helvetica Neue"/>
                <a:ea typeface="Helvetica Neue"/>
                <a:cs typeface="Helvetica Neue"/>
              </a:rPr>
              <a:t>A2 · RESONANCES</a:t>
            </a:r>
          </a:p>
        </p:txBody>
      </p:sp>
      <p:sp>
        <p:nvSpPr>
          <p:cNvPr id="12" name="Rectangle 11">
            <a:extLst>
              <a:ext uri="{FF2B5EF4-FFF2-40B4-BE49-F238E27FC236}">
                <a16:creationId xmlns:a16="http://schemas.microsoft.com/office/drawing/2014/main" id="{F17A3E10-6184-438F-8659-DE19E6FC9958}"/>
              </a:ext>
            </a:extLst>
          </p:cNvPr>
          <p:cNvSpPr>
            <a:spLocks noGrp="1"/>
          </p:cNvSpPr>
          <p:nvPr/>
        </p:nvSpPr>
        <p:spPr>
          <a:xfrm>
            <a:off x="4362450" y="3657600"/>
            <a:ext cx="3143250" cy="457200"/>
          </a:xfrm>
          <a:prstGeom prst="rect">
            <a:avLst/>
          </a:prstGeom>
          <a:noFill/>
          <a:ln w="0">
            <a:noFill/>
            <a:prstDash val="solid"/>
          </a:ln>
        </p:spPr>
        <p:txBody>
          <a:bodyPr anchor="t">
            <a:normAutofit/>
          </a:bodyPr>
          <a:lstStyle/>
          <a:p>
            <a:pPr algn="l">
              <a:buNone/>
              <a:defRPr sz="1875" b="1" i="0">
                <a:solidFill>
                  <a:srgbClr val="000000"/>
                </a:solidFill>
                <a:latin typeface="Helvetica Neue"/>
                <a:ea typeface="Helvetica Neue"/>
                <a:cs typeface="Helvetica Neue"/>
              </a:defRPr>
            </a:pPr>
            <a:r>
              <a:rPr sz="1875" b="1" i="0">
                <a:solidFill>
                  <a:srgbClr val="000000"/>
                </a:solidFill>
                <a:latin typeface="Helvetica Neue"/>
                <a:ea typeface="Helvetica Neue"/>
                <a:cs typeface="Helvetica Neue"/>
              </a:rPr>
              <a:t>NLS → wave kinetics</a:t>
            </a:r>
          </a:p>
        </p:txBody>
      </p:sp>
      <p:sp>
        <p:nvSpPr>
          <p:cNvPr id="13" name="Rectangle 12">
            <a:extLst>
              <a:ext uri="{FF2B5EF4-FFF2-40B4-BE49-F238E27FC236}">
                <a16:creationId xmlns:a16="http://schemas.microsoft.com/office/drawing/2014/main" id="{92D5B8C1-3A2F-4EA8-A156-8CF51AC797BC}"/>
              </a:ext>
            </a:extLst>
          </p:cNvPr>
          <p:cNvSpPr>
            <a:spLocks noGrp="1"/>
          </p:cNvSpPr>
          <p:nvPr/>
        </p:nvSpPr>
        <p:spPr>
          <a:xfrm>
            <a:off x="4362450" y="4248150"/>
            <a:ext cx="3143250" cy="114300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Spectral cumulants, resonant histories, random-phase breakdown</a:t>
            </a:r>
          </a:p>
        </p:txBody>
      </p:sp>
      <p:sp>
        <p:nvSpPr>
          <p:cNvPr id="14" name="Oval 13">
            <a:extLst>
              <a:ext uri="{FF2B5EF4-FFF2-40B4-BE49-F238E27FC236}">
                <a16:creationId xmlns:a16="http://schemas.microsoft.com/office/drawing/2014/main" id="{9E9FCB94-EE01-4CE0-89BF-0D44B67EE9EB}"/>
              </a:ext>
            </a:extLst>
          </p:cNvPr>
          <p:cNvSpPr>
            <a:spLocks noGrp="1"/>
          </p:cNvSpPr>
          <p:nvPr/>
        </p:nvSpPr>
        <p:spPr>
          <a:xfrm>
            <a:off x="8172450" y="3143250"/>
            <a:ext cx="142875" cy="142875"/>
          </a:xfrm>
          <a:prstGeom prst="ellipse">
            <a:avLst/>
          </a:prstGeom>
          <a:solidFill>
            <a:srgbClr val="18AEB5"/>
          </a:solidFill>
          <a:ln w="4763">
            <a:solidFill>
              <a:srgbClr val="000000"/>
            </a:solidFill>
            <a:prstDash val="solid"/>
          </a:ln>
        </p:spPr>
        <p:txBody>
          <a:bodyPr/>
          <a:lstStyle/>
          <a:p>
            <a:endParaRPr lang="en-US"/>
          </a:p>
        </p:txBody>
      </p:sp>
      <p:sp>
        <p:nvSpPr>
          <p:cNvPr id="15" name="Rectangle 14">
            <a:extLst>
              <a:ext uri="{FF2B5EF4-FFF2-40B4-BE49-F238E27FC236}">
                <a16:creationId xmlns:a16="http://schemas.microsoft.com/office/drawing/2014/main" id="{2830A33B-5F5B-4FD7-B843-56D39ECB69B8}"/>
              </a:ext>
            </a:extLst>
          </p:cNvPr>
          <p:cNvSpPr>
            <a:spLocks noGrp="1"/>
          </p:cNvSpPr>
          <p:nvPr/>
        </p:nvSpPr>
        <p:spPr>
          <a:xfrm>
            <a:off x="8172450" y="2571750"/>
            <a:ext cx="3238500" cy="323850"/>
          </a:xfrm>
          <a:prstGeom prst="rect">
            <a:avLst/>
          </a:prstGeom>
          <a:noFill/>
          <a:ln w="0">
            <a:noFill/>
            <a:prstDash val="solid"/>
          </a:ln>
        </p:spPr>
        <p:txBody>
          <a:bodyPr anchor="t">
            <a:normAutofit/>
          </a:bodyPr>
          <a:lstStyle/>
          <a:p>
            <a:pPr algn="l">
              <a:buNone/>
              <a:defRPr sz="1275" b="1" i="0">
                <a:solidFill>
                  <a:srgbClr val="5B6472"/>
                </a:solidFill>
                <a:latin typeface="Helvetica Neue"/>
                <a:ea typeface="Helvetica Neue"/>
                <a:cs typeface="Helvetica Neue"/>
              </a:defRPr>
            </a:pPr>
            <a:r>
              <a:rPr sz="1275" b="1" i="0">
                <a:solidFill>
                  <a:srgbClr val="5B6472"/>
                </a:solidFill>
                <a:latin typeface="Helvetica Neue"/>
                <a:ea typeface="Helvetica Neue"/>
                <a:cs typeface="Helvetica Neue"/>
              </a:rPr>
              <a:t>A3 · NON-EQUILIBRIUM</a:t>
            </a:r>
          </a:p>
        </p:txBody>
      </p:sp>
      <p:sp>
        <p:nvSpPr>
          <p:cNvPr id="16" name="Rectangle 15">
            <a:extLst>
              <a:ext uri="{FF2B5EF4-FFF2-40B4-BE49-F238E27FC236}">
                <a16:creationId xmlns:a16="http://schemas.microsoft.com/office/drawing/2014/main" id="{F7CFD4B0-8654-4CB8-9E98-C8243E22286B}"/>
              </a:ext>
            </a:extLst>
          </p:cNvPr>
          <p:cNvSpPr>
            <a:spLocks noGrp="1"/>
          </p:cNvSpPr>
          <p:nvPr/>
        </p:nvSpPr>
        <p:spPr>
          <a:xfrm>
            <a:off x="8172450" y="3657600"/>
            <a:ext cx="3143250" cy="457200"/>
          </a:xfrm>
          <a:prstGeom prst="rect">
            <a:avLst/>
          </a:prstGeom>
          <a:noFill/>
          <a:ln w="0">
            <a:noFill/>
            <a:prstDash val="solid"/>
          </a:ln>
        </p:spPr>
        <p:txBody>
          <a:bodyPr anchor="t">
            <a:normAutofit/>
          </a:bodyPr>
          <a:lstStyle/>
          <a:p>
            <a:pPr algn="l">
              <a:buNone/>
              <a:defRPr sz="1875" b="1" i="0">
                <a:solidFill>
                  <a:srgbClr val="000000"/>
                </a:solidFill>
                <a:latin typeface="Helvetica Neue"/>
                <a:ea typeface="Helvetica Neue"/>
                <a:cs typeface="Helvetica Neue"/>
              </a:defRPr>
            </a:pPr>
            <a:r>
              <a:rPr sz="1875" b="1" i="0">
                <a:solidFill>
                  <a:srgbClr val="000000"/>
                </a:solidFill>
                <a:latin typeface="Helvetica Neue"/>
                <a:ea typeface="Helvetica Neue"/>
                <a:cs typeface="Helvetica Neue"/>
              </a:rPr>
              <a:t>Boltzmann → fluid</a:t>
            </a:r>
          </a:p>
        </p:txBody>
      </p:sp>
      <p:sp>
        <p:nvSpPr>
          <p:cNvPr id="17" name="Rectangle 16">
            <a:extLst>
              <a:ext uri="{FF2B5EF4-FFF2-40B4-BE49-F238E27FC236}">
                <a16:creationId xmlns:a16="http://schemas.microsoft.com/office/drawing/2014/main" id="{D25E6C22-68D0-4D6C-9D0A-842615CF151A}"/>
              </a:ext>
            </a:extLst>
          </p:cNvPr>
          <p:cNvSpPr>
            <a:spLocks noGrp="1"/>
          </p:cNvSpPr>
          <p:nvPr/>
        </p:nvSpPr>
        <p:spPr>
          <a:xfrm>
            <a:off x="8172450" y="4248150"/>
            <a:ext cx="3143250" cy="114300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Non-Maxwellian moments, constitutive fluxes, Knudsen-limit failure</a:t>
            </a:r>
          </a:p>
        </p:txBody>
      </p:sp>
      <p:sp>
        <p:nvSpPr>
          <p:cNvPr id="18" name="Rectangle 17">
            <a:extLst>
              <a:ext uri="{FF2B5EF4-FFF2-40B4-BE49-F238E27FC236}">
                <a16:creationId xmlns:a16="http://schemas.microsoft.com/office/drawing/2014/main" id="{44D97766-82A9-4C2E-AFAF-AA5D00CED059}"/>
              </a:ext>
            </a:extLst>
          </p:cNvPr>
          <p:cNvSpPr>
            <a:spLocks noGrp="1"/>
          </p:cNvSpPr>
          <p:nvPr/>
        </p:nvSpPr>
        <p:spPr>
          <a:xfrm>
            <a:off x="400050" y="6023354"/>
            <a:ext cx="10668000" cy="400050"/>
          </a:xfrm>
          <a:prstGeom prst="rect">
            <a:avLst/>
          </a:prstGeom>
          <a:noFill/>
          <a:ln w="0">
            <a:noFill/>
            <a:prstDash val="solid"/>
          </a:ln>
        </p:spPr>
        <p:txBody>
          <a:bodyPr anchor="t">
            <a:normAutofit/>
          </a:bodyPr>
          <a:lstStyle/>
          <a:p>
            <a:pPr algn="l">
              <a:buNone/>
              <a:defRPr sz="1725" b="1" i="0">
                <a:solidFill>
                  <a:srgbClr val="143A72"/>
                </a:solidFill>
                <a:latin typeface="Helvetica Neue"/>
                <a:ea typeface="Helvetica Neue"/>
                <a:cs typeface="Helvetica Neue"/>
              </a:defRPr>
            </a:pPr>
            <a:r>
              <a:rPr sz="1725" b="1" i="0" dirty="0">
                <a:solidFill>
                  <a:srgbClr val="143A72"/>
                </a:solidFill>
                <a:latin typeface="Helvetica Neue"/>
                <a:ea typeface="Helvetica Neue"/>
                <a:cs typeface="Helvetica Neue"/>
              </a:rPr>
              <a:t>Each track</a:t>
            </a:r>
            <a:r>
              <a:rPr lang="en-US" sz="1725" b="1" i="0" dirty="0">
                <a:solidFill>
                  <a:srgbClr val="143A72"/>
                </a:solidFill>
                <a:latin typeface="Helvetica Neue"/>
                <a:ea typeface="Helvetica Neue"/>
                <a:cs typeface="Helvetica Neue"/>
              </a:rPr>
              <a:t> (A &amp; B)</a:t>
            </a:r>
            <a:r>
              <a:rPr sz="1725" b="1" i="0" dirty="0">
                <a:solidFill>
                  <a:srgbClr val="143A72"/>
                </a:solidFill>
                <a:latin typeface="Helvetica Neue"/>
                <a:ea typeface="Helvetica Neue"/>
                <a:cs typeface="Helvetica Neue"/>
              </a:rPr>
              <a:t> contains a trusted asymptotic regime and a deliberately invalid counter-regime.</a:t>
            </a:r>
          </a:p>
        </p:txBody>
      </p:sp>
      <p:sp>
        <p:nvSpPr>
          <p:cNvPr id="3" name="Rectangle 2">
            <a:extLst>
              <a:ext uri="{FF2B5EF4-FFF2-40B4-BE49-F238E27FC236}">
                <a16:creationId xmlns:a16="http://schemas.microsoft.com/office/drawing/2014/main" id="{0B1AAA30-0F38-74A3-FCC2-80F2CF38A487}"/>
              </a:ext>
            </a:extLst>
          </p:cNvPr>
          <p:cNvSpPr>
            <a:spLocks noGrp="1"/>
          </p:cNvSpPr>
          <p:nvPr/>
        </p:nvSpPr>
        <p:spPr>
          <a:xfrm>
            <a:off x="400050" y="5324475"/>
            <a:ext cx="10668000" cy="400050"/>
          </a:xfrm>
          <a:prstGeom prst="rect">
            <a:avLst/>
          </a:prstGeom>
          <a:noFill/>
          <a:ln w="0">
            <a:noFill/>
            <a:prstDash val="solid"/>
          </a:ln>
        </p:spPr>
        <p:txBody>
          <a:bodyPr anchor="t">
            <a:normAutofit/>
          </a:bodyPr>
          <a:lstStyle/>
          <a:p>
            <a:pPr algn="l">
              <a:buNone/>
              <a:defRPr sz="1725" b="1" i="0">
                <a:solidFill>
                  <a:srgbClr val="143A72"/>
                </a:solidFill>
                <a:latin typeface="Helvetica Neue"/>
                <a:ea typeface="Helvetica Neue"/>
                <a:cs typeface="Helvetica Neue"/>
              </a:defRPr>
            </a:pPr>
            <a:r>
              <a:rPr lang="en-US" sz="1725" b="1" i="0" dirty="0">
                <a:solidFill>
                  <a:srgbClr val="143A72"/>
                </a:solidFill>
                <a:latin typeface="Helvetica Neue"/>
                <a:ea typeface="Helvetica Neue"/>
                <a:cs typeface="Helvetica Neue"/>
              </a:rPr>
              <a:t>Making [Deng &amp; Hani, ’23,’24,’25] a computational pipeline IS a research project in and of itself!</a:t>
            </a:r>
            <a:endParaRPr sz="1725" b="1" i="0" dirty="0">
              <a:solidFill>
                <a:srgbClr val="143A72"/>
              </a:solidFill>
              <a:latin typeface="Helvetica Neue"/>
              <a:ea typeface="Helvetica Neue"/>
              <a:cs typeface="Helvetica Neue"/>
            </a:endParaRPr>
          </a:p>
        </p:txBody>
      </p:sp>
    </p:spTree>
    <p:extLst>
      <p:ext uri="{BB962C8B-B14F-4D97-AF65-F5344CB8AC3E}">
        <p14:creationId xmlns:p14="http://schemas.microsoft.com/office/powerpoint/2010/main" val="2104990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FC7F6DE-C86C-471E-802D-03FBCCAE4D56}"/>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4B98694A-7B10-4086-B8ED-721F14686968}"/>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lang="en-US" sz="2925" b="1" i="0" dirty="0">
                <a:solidFill>
                  <a:srgbClr val="000000"/>
                </a:solidFill>
                <a:latin typeface="Helvetica Neue"/>
                <a:ea typeface="Helvetica Neue"/>
                <a:cs typeface="Helvetica Neue"/>
              </a:rPr>
              <a:t>Need to track, quantify, identify the </a:t>
            </a:r>
            <a:r>
              <a:rPr sz="2925" b="1" i="0" dirty="0">
                <a:solidFill>
                  <a:srgbClr val="000000"/>
                </a:solidFill>
                <a:latin typeface="Helvetica Neue"/>
                <a:ea typeface="Helvetica Neue"/>
                <a:cs typeface="Helvetica Neue"/>
              </a:rPr>
              <a:t>closure defect</a:t>
            </a:r>
          </a:p>
        </p:txBody>
      </p:sp>
      <p:cxnSp>
        <p:nvCxnSpPr>
          <p:cNvPr id="32" name="Straight Arrow Connector 31"/>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7E95169F-8F81-43CD-AB6E-931C96E4200B}"/>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8</a:t>
            </a:r>
          </a:p>
        </p:txBody>
      </p:sp>
      <p:sp>
        <p:nvSpPr>
          <p:cNvPr id="5" name="Rectangle 4">
            <a:extLst>
              <a:ext uri="{FF2B5EF4-FFF2-40B4-BE49-F238E27FC236}">
                <a16:creationId xmlns:a16="http://schemas.microsoft.com/office/drawing/2014/main" id="{BC6A77AA-3CD1-4474-8D40-A52236328E5F}"/>
              </a:ext>
            </a:extLst>
          </p:cNvPr>
          <p:cNvSpPr>
            <a:spLocks noGrp="1"/>
          </p:cNvSpPr>
          <p:nvPr/>
        </p:nvSpPr>
        <p:spPr>
          <a:xfrm>
            <a:off x="1666875" y="1600200"/>
            <a:ext cx="8858250" cy="781050"/>
          </a:xfrm>
          <a:prstGeom prst="rect">
            <a:avLst/>
          </a:prstGeom>
          <a:noFill/>
          <a:ln w="0">
            <a:noFill/>
            <a:prstDash val="solid"/>
          </a:ln>
        </p:spPr>
        <p:txBody>
          <a:bodyPr anchor="t">
            <a:normAutofit/>
          </a:bodyPr>
          <a:lstStyle/>
          <a:p>
            <a:pPr algn="ctr">
              <a:buNone/>
              <a:defRPr sz="3375" b="1" i="0">
                <a:solidFill>
                  <a:srgbClr val="143A72"/>
                </a:solidFill>
                <a:latin typeface="Helvetica Neue"/>
                <a:ea typeface="Helvetica Neue"/>
                <a:cs typeface="Helvetica Neue"/>
              </a:defRPr>
            </a:pPr>
            <a:r>
              <a:rPr sz="3375" b="1" i="0" dirty="0">
                <a:solidFill>
                  <a:srgbClr val="143A72"/>
                </a:solidFill>
                <a:latin typeface="Helvetica Neue"/>
                <a:ea typeface="Helvetica Neue"/>
                <a:cs typeface="Helvetica Neue"/>
              </a:rPr>
              <a:t>C</a:t>
            </a:r>
            <a:r>
              <a:rPr sz="3375" b="1" i="0" baseline="30000" dirty="0">
                <a:solidFill>
                  <a:srgbClr val="143A72"/>
                </a:solidFill>
                <a:latin typeface="Helvetica Neue"/>
                <a:ea typeface="Helvetica Neue"/>
                <a:cs typeface="Helvetica Neue"/>
              </a:rPr>
              <a:t>⋆</a:t>
            </a:r>
            <a:r>
              <a:rPr sz="3375" b="1" i="0" dirty="0">
                <a:solidFill>
                  <a:srgbClr val="143A72"/>
                </a:solidFill>
                <a:latin typeface="Helvetica Neue"/>
                <a:ea typeface="Helvetica Neue"/>
                <a:cs typeface="Helvetica Neue"/>
              </a:rPr>
              <a:t>[X]  =  ΠF(X)  −  F₀(ΠX)</a:t>
            </a:r>
          </a:p>
        </p:txBody>
      </p:sp>
      <p:cxnSp>
        <p:nvCxnSpPr>
          <p:cNvPr id="35" name="Straight Arrow Connector 34"/>
          <p:cNvCxnSpPr/>
          <p:nvPr/>
        </p:nvCxnSpPr>
        <p:spPr>
          <a:xfrm>
            <a:off x="1905000" y="2543175"/>
            <a:ext cx="8382000" cy="953"/>
          </a:xfrm>
          <a:prstGeom prst="straightConnector1">
            <a:avLst/>
          </a:prstGeom>
          <a:ln w="28575">
            <a:solidFill>
              <a:srgbClr val="3D8DFF"/>
            </a:solidFill>
            <a:prstDash val="solid"/>
          </a:ln>
        </p:spPr>
      </p:cxnSp>
      <p:sp>
        <p:nvSpPr>
          <p:cNvPr id="7" name="Rectangle 6">
            <a:extLst>
              <a:ext uri="{FF2B5EF4-FFF2-40B4-BE49-F238E27FC236}">
                <a16:creationId xmlns:a16="http://schemas.microsoft.com/office/drawing/2014/main" id="{966C37D4-8CAC-428A-9DEE-2A23F922C1EC}"/>
              </a:ext>
            </a:extLst>
          </p:cNvPr>
          <p:cNvSpPr>
            <a:spLocks noGrp="1"/>
          </p:cNvSpPr>
          <p:nvPr/>
        </p:nvSpPr>
        <p:spPr>
          <a:xfrm>
            <a:off x="666750" y="2971800"/>
            <a:ext cx="2667000" cy="285750"/>
          </a:xfrm>
          <a:prstGeom prst="rect">
            <a:avLst/>
          </a:prstGeom>
          <a:noFill/>
          <a:ln w="0">
            <a:noFill/>
            <a:prstDash val="solid"/>
          </a:ln>
        </p:spPr>
        <p:txBody>
          <a:bodyPr anchor="t">
            <a:normAutofit/>
          </a:bodyPr>
          <a:lstStyle/>
          <a:p>
            <a:pPr algn="l">
              <a:buNone/>
              <a:defRPr sz="1275" b="1" i="0">
                <a:solidFill>
                  <a:srgbClr val="143A72"/>
                </a:solidFill>
                <a:latin typeface="Helvetica Neue"/>
                <a:ea typeface="Helvetica Neue"/>
                <a:cs typeface="Helvetica Neue"/>
              </a:defRPr>
            </a:pPr>
            <a:r>
              <a:rPr sz="1275" b="1" i="0">
                <a:solidFill>
                  <a:srgbClr val="143A72"/>
                </a:solidFill>
                <a:latin typeface="Helvetica Neue"/>
                <a:ea typeface="Helvetica Neue"/>
                <a:cs typeface="Helvetica Neue"/>
              </a:rPr>
              <a:t>RETAIN</a:t>
            </a:r>
          </a:p>
        </p:txBody>
      </p:sp>
      <p:sp>
        <p:nvSpPr>
          <p:cNvPr id="8" name="Rectangle 7">
            <a:extLst>
              <a:ext uri="{FF2B5EF4-FFF2-40B4-BE49-F238E27FC236}">
                <a16:creationId xmlns:a16="http://schemas.microsoft.com/office/drawing/2014/main" id="{FBC199A4-A55F-48A5-AE65-24AD3D61FECD}"/>
              </a:ext>
            </a:extLst>
          </p:cNvPr>
          <p:cNvSpPr>
            <a:spLocks noGrp="1"/>
          </p:cNvSpPr>
          <p:nvPr/>
        </p:nvSpPr>
        <p:spPr>
          <a:xfrm>
            <a:off x="666750" y="3343275"/>
            <a:ext cx="2667000" cy="523875"/>
          </a:xfrm>
          <a:prstGeom prst="rect">
            <a:avLst/>
          </a:prstGeom>
          <a:noFill/>
          <a:ln w="0">
            <a:noFill/>
            <a:prstDash val="solid"/>
          </a:ln>
        </p:spPr>
        <p:txBody>
          <a:bodyPr anchor="t">
            <a:normAutofit/>
          </a:bodyPr>
          <a:lstStyle/>
          <a:p>
            <a:pPr algn="l">
              <a:buNone/>
              <a:defRPr sz="2550" b="1" i="0">
                <a:solidFill>
                  <a:srgbClr val="000000"/>
                </a:solidFill>
                <a:latin typeface="Helvetica Neue"/>
                <a:ea typeface="Helvetica Neue"/>
                <a:cs typeface="Helvetica Neue"/>
              </a:defRPr>
            </a:pPr>
            <a:r>
              <a:rPr sz="2550" b="1" i="0">
                <a:solidFill>
                  <a:srgbClr val="000000"/>
                </a:solidFill>
                <a:latin typeface="Helvetica Neue"/>
                <a:ea typeface="Helvetica Neue"/>
                <a:cs typeface="Helvetica Neue"/>
              </a:rPr>
              <a:t>u = ΠX</a:t>
            </a:r>
          </a:p>
        </p:txBody>
      </p:sp>
      <p:sp>
        <p:nvSpPr>
          <p:cNvPr id="9" name="Rectangle 8">
            <a:extLst>
              <a:ext uri="{FF2B5EF4-FFF2-40B4-BE49-F238E27FC236}">
                <a16:creationId xmlns:a16="http://schemas.microsoft.com/office/drawing/2014/main" id="{5C6F3572-F027-4414-9191-ED2D4854A243}"/>
              </a:ext>
            </a:extLst>
          </p:cNvPr>
          <p:cNvSpPr>
            <a:spLocks noGrp="1"/>
          </p:cNvSpPr>
          <p:nvPr/>
        </p:nvSpPr>
        <p:spPr>
          <a:xfrm>
            <a:off x="666750" y="4029075"/>
            <a:ext cx="2762250" cy="914400"/>
          </a:xfrm>
          <a:prstGeom prst="rect">
            <a:avLst/>
          </a:prstGeom>
          <a:noFill/>
          <a:ln w="0">
            <a:noFill/>
            <a:prstDash val="solid"/>
          </a:ln>
        </p:spPr>
        <p:txBody>
          <a:bodyPr anchor="t">
            <a:normAutofit/>
          </a:bodyPr>
          <a:lstStyle/>
          <a:p>
            <a:pPr algn="l">
              <a:buNone/>
              <a:defRPr sz="1575" b="0" i="0">
                <a:solidFill>
                  <a:srgbClr val="5B6472"/>
                </a:solidFill>
                <a:latin typeface="Helvetica Neue"/>
                <a:ea typeface="Helvetica Neue"/>
                <a:cs typeface="Helvetica Neue"/>
              </a:defRPr>
            </a:pPr>
            <a:r>
              <a:rPr sz="1575" b="0" i="0">
                <a:solidFill>
                  <a:srgbClr val="5B6472"/>
                </a:solidFill>
                <a:latin typeface="Helvetica Neue"/>
                <a:ea typeface="Helvetica Neue"/>
                <a:cs typeface="Helvetica Neue"/>
              </a:rPr>
              <a:t>Resolved variables and trusted operator F₀</a:t>
            </a:r>
          </a:p>
        </p:txBody>
      </p:sp>
      <p:sp>
        <p:nvSpPr>
          <p:cNvPr id="10" name="Rectangle 9">
            <a:extLst>
              <a:ext uri="{FF2B5EF4-FFF2-40B4-BE49-F238E27FC236}">
                <a16:creationId xmlns:a16="http://schemas.microsoft.com/office/drawing/2014/main" id="{39121DB0-1CD6-4D66-B65B-C62A9E143B9C}"/>
              </a:ext>
            </a:extLst>
          </p:cNvPr>
          <p:cNvSpPr>
            <a:spLocks noGrp="1"/>
          </p:cNvSpPr>
          <p:nvPr/>
        </p:nvSpPr>
        <p:spPr>
          <a:xfrm>
            <a:off x="4705350" y="2971800"/>
            <a:ext cx="2667000" cy="285750"/>
          </a:xfrm>
          <a:prstGeom prst="rect">
            <a:avLst/>
          </a:prstGeom>
          <a:noFill/>
          <a:ln w="0">
            <a:noFill/>
            <a:prstDash val="solid"/>
          </a:ln>
        </p:spPr>
        <p:txBody>
          <a:bodyPr anchor="t">
            <a:normAutofit/>
          </a:bodyPr>
          <a:lstStyle/>
          <a:p>
            <a:pPr algn="l">
              <a:buNone/>
              <a:defRPr sz="1275" b="1" i="0">
                <a:solidFill>
                  <a:srgbClr val="F06A3C"/>
                </a:solidFill>
                <a:latin typeface="Helvetica Neue"/>
                <a:ea typeface="Helvetica Neue"/>
                <a:cs typeface="Helvetica Neue"/>
              </a:defRPr>
            </a:pPr>
            <a:r>
              <a:rPr sz="1275" b="1" i="0">
                <a:solidFill>
                  <a:srgbClr val="F06A3C"/>
                </a:solidFill>
                <a:latin typeface="Helvetica Neue"/>
                <a:ea typeface="Helvetica Neue"/>
                <a:cs typeface="Helvetica Neue"/>
              </a:rPr>
              <a:t>DISCARD</a:t>
            </a:r>
          </a:p>
        </p:txBody>
      </p:sp>
      <p:sp>
        <p:nvSpPr>
          <p:cNvPr id="11" name="Rectangle 10">
            <a:extLst>
              <a:ext uri="{FF2B5EF4-FFF2-40B4-BE49-F238E27FC236}">
                <a16:creationId xmlns:a16="http://schemas.microsoft.com/office/drawing/2014/main" id="{72FB8306-09DB-40AB-B2E3-25C92929BC43}"/>
              </a:ext>
            </a:extLst>
          </p:cNvPr>
          <p:cNvSpPr>
            <a:spLocks noGrp="1"/>
          </p:cNvSpPr>
          <p:nvPr/>
        </p:nvSpPr>
        <p:spPr>
          <a:xfrm>
            <a:off x="4705350" y="3343275"/>
            <a:ext cx="2857500" cy="762000"/>
          </a:xfrm>
          <a:prstGeom prst="rect">
            <a:avLst/>
          </a:prstGeom>
          <a:noFill/>
          <a:ln w="0">
            <a:noFill/>
            <a:prstDash val="solid"/>
          </a:ln>
        </p:spPr>
        <p:txBody>
          <a:bodyPr anchor="t">
            <a:normAutofit/>
          </a:bodyPr>
          <a:lstStyle/>
          <a:p>
            <a:pPr algn="l">
              <a:buNone/>
              <a:defRPr sz="2025" b="1" i="0">
                <a:solidFill>
                  <a:srgbClr val="000000"/>
                </a:solidFill>
                <a:latin typeface="Helvetica Neue"/>
                <a:ea typeface="Helvetica Neue"/>
                <a:cs typeface="Helvetica Neue"/>
              </a:defRPr>
            </a:pPr>
            <a:r>
              <a:rPr sz="2025" b="1" i="0">
                <a:solidFill>
                  <a:srgbClr val="000000"/>
                </a:solidFill>
                <a:latin typeface="Helvetica Neue"/>
                <a:ea typeface="Helvetica Neue"/>
                <a:cs typeface="Helvetica Neue"/>
              </a:rPr>
              <a:t>fields · correlations</a:t>
            </a:r>
          </a:p>
          <a:p>
            <a:pPr algn="l">
              <a:buNone/>
              <a:defRPr sz="2025" b="1" i="0">
                <a:solidFill>
                  <a:srgbClr val="000000"/>
                </a:solidFill>
                <a:latin typeface="Helvetica Neue"/>
                <a:ea typeface="Helvetica Neue"/>
                <a:cs typeface="Helvetica Neue"/>
              </a:defRPr>
            </a:pPr>
            <a:r>
              <a:rPr sz="2025" b="1" i="0">
                <a:solidFill>
                  <a:srgbClr val="000000"/>
                </a:solidFill>
                <a:latin typeface="Helvetica Neue"/>
                <a:ea typeface="Helvetica Neue"/>
                <a:cs typeface="Helvetica Neue"/>
              </a:rPr>
              <a:t>moments · histories</a:t>
            </a:r>
          </a:p>
        </p:txBody>
      </p:sp>
      <p:sp>
        <p:nvSpPr>
          <p:cNvPr id="12" name="Rectangle 11">
            <a:extLst>
              <a:ext uri="{FF2B5EF4-FFF2-40B4-BE49-F238E27FC236}">
                <a16:creationId xmlns:a16="http://schemas.microsoft.com/office/drawing/2014/main" id="{C8CF5DC6-B352-4AC0-9317-B7F11F953F16}"/>
              </a:ext>
            </a:extLst>
          </p:cNvPr>
          <p:cNvSpPr>
            <a:spLocks noGrp="1"/>
          </p:cNvSpPr>
          <p:nvPr/>
        </p:nvSpPr>
        <p:spPr>
          <a:xfrm>
            <a:off x="4705350" y="4286250"/>
            <a:ext cx="2857500" cy="571500"/>
          </a:xfrm>
          <a:prstGeom prst="rect">
            <a:avLst/>
          </a:prstGeom>
          <a:noFill/>
          <a:ln w="0">
            <a:noFill/>
            <a:prstDash val="solid"/>
          </a:ln>
        </p:spPr>
        <p:txBody>
          <a:bodyPr anchor="t">
            <a:normAutofit/>
          </a:bodyPr>
          <a:lstStyle/>
          <a:p>
            <a:pPr algn="l">
              <a:buNone/>
              <a:defRPr sz="1575" b="0" i="0">
                <a:solidFill>
                  <a:srgbClr val="5B6472"/>
                </a:solidFill>
                <a:latin typeface="Helvetica Neue"/>
                <a:ea typeface="Helvetica Neue"/>
                <a:cs typeface="Helvetica Neue"/>
              </a:defRPr>
            </a:pPr>
            <a:r>
              <a:rPr sz="1575" b="0" i="0" dirty="0">
                <a:solidFill>
                  <a:srgbClr val="5B6472"/>
                </a:solidFill>
                <a:latin typeface="Helvetica Neue"/>
                <a:ea typeface="Helvetica Neue"/>
                <a:cs typeface="Helvetica Neue"/>
              </a:rPr>
              <a:t>Their effect remains in C</a:t>
            </a:r>
            <a:r>
              <a:rPr sz="1575" b="0" i="0" baseline="30000" dirty="0">
                <a:solidFill>
                  <a:srgbClr val="5B6472"/>
                </a:solidFill>
                <a:latin typeface="Helvetica Neue"/>
                <a:ea typeface="Helvetica Neue"/>
                <a:cs typeface="Helvetica Neue"/>
              </a:rPr>
              <a:t>⋆</a:t>
            </a:r>
          </a:p>
        </p:txBody>
      </p:sp>
      <p:sp>
        <p:nvSpPr>
          <p:cNvPr id="13" name="Rectangle 12">
            <a:extLst>
              <a:ext uri="{FF2B5EF4-FFF2-40B4-BE49-F238E27FC236}">
                <a16:creationId xmlns:a16="http://schemas.microsoft.com/office/drawing/2014/main" id="{C0ABE841-0C74-472D-AB80-BDBAB1008AED}"/>
              </a:ext>
            </a:extLst>
          </p:cNvPr>
          <p:cNvSpPr>
            <a:spLocks noGrp="1"/>
          </p:cNvSpPr>
          <p:nvPr/>
        </p:nvSpPr>
        <p:spPr>
          <a:xfrm>
            <a:off x="8610600" y="2971800"/>
            <a:ext cx="2667000" cy="285750"/>
          </a:xfrm>
          <a:prstGeom prst="rect">
            <a:avLst/>
          </a:prstGeom>
          <a:noFill/>
          <a:ln w="0">
            <a:noFill/>
            <a:prstDash val="solid"/>
          </a:ln>
        </p:spPr>
        <p:txBody>
          <a:bodyPr anchor="t">
            <a:normAutofit/>
          </a:bodyPr>
          <a:lstStyle/>
          <a:p>
            <a:pPr algn="l">
              <a:buNone/>
              <a:defRPr sz="1275" b="1" i="0">
                <a:solidFill>
                  <a:srgbClr val="18AEB5"/>
                </a:solidFill>
                <a:latin typeface="Helvetica Neue"/>
                <a:ea typeface="Helvetica Neue"/>
                <a:cs typeface="Helvetica Neue"/>
              </a:defRPr>
            </a:pPr>
            <a:r>
              <a:rPr sz="1275" b="1" i="0">
                <a:solidFill>
                  <a:srgbClr val="18AEB5"/>
                </a:solidFill>
                <a:latin typeface="Helvetica Neue"/>
                <a:ea typeface="Helvetica Neue"/>
                <a:cs typeface="Helvetica Neue"/>
              </a:rPr>
              <a:t>LEARN</a:t>
            </a:r>
          </a:p>
        </p:txBody>
      </p:sp>
      <p:sp>
        <p:nvSpPr>
          <p:cNvPr id="14" name="Rectangle 13">
            <a:extLst>
              <a:ext uri="{FF2B5EF4-FFF2-40B4-BE49-F238E27FC236}">
                <a16:creationId xmlns:a16="http://schemas.microsoft.com/office/drawing/2014/main" id="{025AE39D-EE80-418B-85CE-580DB254843A}"/>
              </a:ext>
            </a:extLst>
          </p:cNvPr>
          <p:cNvSpPr>
            <a:spLocks noGrp="1"/>
          </p:cNvSpPr>
          <p:nvPr/>
        </p:nvSpPr>
        <p:spPr>
          <a:xfrm>
            <a:off x="8610600" y="3343275"/>
            <a:ext cx="2857500" cy="762000"/>
          </a:xfrm>
          <a:prstGeom prst="rect">
            <a:avLst/>
          </a:prstGeom>
          <a:noFill/>
          <a:ln w="0">
            <a:noFill/>
            <a:prstDash val="solid"/>
          </a:ln>
        </p:spPr>
        <p:txBody>
          <a:bodyPr anchor="t">
            <a:normAutofit/>
          </a:bodyPr>
          <a:lstStyle/>
          <a:p>
            <a:pPr algn="l">
              <a:buNone/>
              <a:defRPr sz="2100" b="1" i="0">
                <a:solidFill>
                  <a:srgbClr val="000000"/>
                </a:solidFill>
                <a:latin typeface="Helvetica Neue"/>
                <a:ea typeface="Helvetica Neue"/>
                <a:cs typeface="Helvetica Neue"/>
              </a:defRPr>
            </a:pPr>
            <a:r>
              <a:rPr sz="2100" b="1" i="0">
                <a:solidFill>
                  <a:srgbClr val="000000"/>
                </a:solidFill>
                <a:latin typeface="Helvetica Neue"/>
                <a:ea typeface="Helvetica Neue"/>
                <a:cs typeface="Helvetica Neue"/>
              </a:rPr>
              <a:t>∂ₜu = F₀(u) + Cθ(I[u])</a:t>
            </a:r>
          </a:p>
        </p:txBody>
      </p:sp>
      <p:sp>
        <p:nvSpPr>
          <p:cNvPr id="15" name="Rectangle 14">
            <a:extLst>
              <a:ext uri="{FF2B5EF4-FFF2-40B4-BE49-F238E27FC236}">
                <a16:creationId xmlns:a16="http://schemas.microsoft.com/office/drawing/2014/main" id="{6816A099-1CD6-49B2-A7CB-D8D265FDAC2E}"/>
              </a:ext>
            </a:extLst>
          </p:cNvPr>
          <p:cNvSpPr>
            <a:spLocks noGrp="1"/>
          </p:cNvSpPr>
          <p:nvPr/>
        </p:nvSpPr>
        <p:spPr>
          <a:xfrm>
            <a:off x="8610600" y="4286250"/>
            <a:ext cx="2857500" cy="571500"/>
          </a:xfrm>
          <a:prstGeom prst="rect">
            <a:avLst/>
          </a:prstGeom>
          <a:noFill/>
          <a:ln w="0">
            <a:noFill/>
            <a:prstDash val="solid"/>
          </a:ln>
        </p:spPr>
        <p:txBody>
          <a:bodyPr anchor="t">
            <a:normAutofit/>
          </a:bodyPr>
          <a:lstStyle/>
          <a:p>
            <a:pPr algn="l">
              <a:buNone/>
              <a:defRPr sz="1575" b="0" i="0">
                <a:solidFill>
                  <a:srgbClr val="5B6472"/>
                </a:solidFill>
                <a:latin typeface="Helvetica Neue"/>
                <a:ea typeface="Helvetica Neue"/>
                <a:cs typeface="Helvetica Neue"/>
              </a:defRPr>
            </a:pPr>
            <a:r>
              <a:rPr sz="1575" b="0" i="0">
                <a:solidFill>
                  <a:srgbClr val="5B6472"/>
                </a:solidFill>
                <a:latin typeface="Helvetica Neue"/>
                <a:ea typeface="Helvetica Neue"/>
                <a:cs typeface="Helvetica Neue"/>
              </a:rPr>
              <a:t>Correct the identified residual when possible</a:t>
            </a:r>
          </a:p>
        </p:txBody>
      </p:sp>
      <p:sp>
        <p:nvSpPr>
          <p:cNvPr id="16" name="Rectangle 15">
            <a:extLst>
              <a:ext uri="{FF2B5EF4-FFF2-40B4-BE49-F238E27FC236}">
                <a16:creationId xmlns:a16="http://schemas.microsoft.com/office/drawing/2014/main" id="{022133C0-5435-4426-8613-A17865512513}"/>
              </a:ext>
            </a:extLst>
          </p:cNvPr>
          <p:cNvSpPr>
            <a:spLocks noGrp="1"/>
          </p:cNvSpPr>
          <p:nvPr/>
        </p:nvSpPr>
        <p:spPr>
          <a:xfrm>
            <a:off x="2076450" y="5362575"/>
            <a:ext cx="8039100" cy="666750"/>
          </a:xfrm>
          <a:prstGeom prst="rect">
            <a:avLst/>
          </a:prstGeom>
          <a:solidFill>
            <a:srgbClr val="F6F7F8"/>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04D35D32-9AA0-43D8-B390-4D4FE1788E4B}"/>
              </a:ext>
            </a:extLst>
          </p:cNvPr>
          <p:cNvSpPr>
            <a:spLocks noGrp="1"/>
          </p:cNvSpPr>
          <p:nvPr/>
        </p:nvSpPr>
        <p:spPr>
          <a:xfrm>
            <a:off x="2324100" y="5534025"/>
            <a:ext cx="7543800" cy="361950"/>
          </a:xfrm>
          <a:prstGeom prst="rect">
            <a:avLst/>
          </a:prstGeom>
          <a:noFill/>
          <a:ln w="0">
            <a:noFill/>
            <a:prstDash val="solid"/>
          </a:ln>
        </p:spPr>
        <p:txBody>
          <a:bodyPr anchor="t">
            <a:normAutofit fontScale="90837"/>
          </a:bodyPr>
          <a:lstStyle/>
          <a:p>
            <a:pPr algn="ctr">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The model interface must state X, Π, F₀, C⋆, and the information set I[u].</a:t>
            </a:r>
          </a:p>
        </p:txBody>
      </p:sp>
    </p:spTree>
    <p:extLst>
      <p:ext uri="{BB962C8B-B14F-4D97-AF65-F5344CB8AC3E}">
        <p14:creationId xmlns:p14="http://schemas.microsoft.com/office/powerpoint/2010/main" val="984885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720127FC-BA1F-48B3-8C33-A5205D11FD23}"/>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EC152A11-621F-4B0B-A814-83C08E39DB2C}"/>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Cumulants and histories may be the missing state</a:t>
            </a:r>
          </a:p>
        </p:txBody>
      </p:sp>
      <p:cxnSp>
        <p:nvCxnSpPr>
          <p:cNvPr id="30" name="Straight Arrow Connector 29"/>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FAAEF144-2FB0-4245-B96C-4E7E66B68909}"/>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9</a:t>
            </a:r>
          </a:p>
        </p:txBody>
      </p:sp>
      <p:sp>
        <p:nvSpPr>
          <p:cNvPr id="5" name="Rectangle 4">
            <a:extLst>
              <a:ext uri="{FF2B5EF4-FFF2-40B4-BE49-F238E27FC236}">
                <a16:creationId xmlns:a16="http://schemas.microsoft.com/office/drawing/2014/main" id="{BCC9BF1A-3A4E-4583-843F-0228FA6DF9BB}"/>
              </a:ext>
            </a:extLst>
          </p:cNvPr>
          <p:cNvSpPr>
            <a:spLocks noGrp="1"/>
          </p:cNvSpPr>
          <p:nvPr/>
        </p:nvSpPr>
        <p:spPr>
          <a:xfrm>
            <a:off x="400050" y="1466850"/>
            <a:ext cx="3238500" cy="3914775"/>
          </a:xfrm>
          <a:prstGeom prst="rect">
            <a:avLst/>
          </a:prstGeom>
          <a:solidFill>
            <a:srgbClr val="FCE6DE"/>
          </a:solidFill>
          <a:ln w="9525">
            <a:solidFill>
              <a:srgbClr val="F06A3C"/>
            </a:solidFill>
            <a:prstDash val="solid"/>
          </a:ln>
        </p:spPr>
        <p:txBody>
          <a:bodyPr/>
          <a:lstStyle/>
          <a:p>
            <a:endParaRPr lang="en-US"/>
          </a:p>
        </p:txBody>
      </p:sp>
      <p:sp>
        <p:nvSpPr>
          <p:cNvPr id="6" name="Rectangle 5">
            <a:extLst>
              <a:ext uri="{FF2B5EF4-FFF2-40B4-BE49-F238E27FC236}">
                <a16:creationId xmlns:a16="http://schemas.microsoft.com/office/drawing/2014/main" id="{F4D2FC3C-F9EB-458D-A02F-B3ACD295F723}"/>
              </a:ext>
            </a:extLst>
          </p:cNvPr>
          <p:cNvSpPr>
            <a:spLocks noGrp="1"/>
          </p:cNvSpPr>
          <p:nvPr/>
        </p:nvSpPr>
        <p:spPr>
          <a:xfrm>
            <a:off x="666750" y="1752600"/>
            <a:ext cx="2381250" cy="266700"/>
          </a:xfrm>
          <a:prstGeom prst="rect">
            <a:avLst/>
          </a:prstGeom>
          <a:noFill/>
          <a:ln w="0">
            <a:noFill/>
            <a:prstDash val="solid"/>
          </a:ln>
        </p:spPr>
        <p:txBody>
          <a:bodyPr anchor="t">
            <a:normAutofit fontScale="97696" lnSpcReduction="10000"/>
          </a:bodyPr>
          <a:lstStyle/>
          <a:p>
            <a:pPr algn="l">
              <a:buNone/>
              <a:defRPr sz="1275" b="1" i="0">
                <a:solidFill>
                  <a:srgbClr val="F06A3C"/>
                </a:solidFill>
                <a:latin typeface="Helvetica Neue"/>
                <a:ea typeface="Helvetica Neue"/>
                <a:cs typeface="Helvetica Neue"/>
              </a:defRPr>
            </a:pPr>
            <a:r>
              <a:rPr sz="1275" b="1" i="0">
                <a:solidFill>
                  <a:srgbClr val="F06A3C"/>
                </a:solidFill>
                <a:latin typeface="Helvetica Neue"/>
                <a:ea typeface="Helvetica Neue"/>
                <a:cs typeface="Helvetica Neue"/>
              </a:rPr>
              <a:t>CORRELATION</a:t>
            </a:r>
          </a:p>
        </p:txBody>
      </p:sp>
      <p:sp>
        <p:nvSpPr>
          <p:cNvPr id="7" name="Rectangle 6">
            <a:extLst>
              <a:ext uri="{FF2B5EF4-FFF2-40B4-BE49-F238E27FC236}">
                <a16:creationId xmlns:a16="http://schemas.microsoft.com/office/drawing/2014/main" id="{88273AB4-FB70-435A-BDA8-6077EFC5C1EC}"/>
              </a:ext>
            </a:extLst>
          </p:cNvPr>
          <p:cNvSpPr>
            <a:spLocks noGrp="1"/>
          </p:cNvSpPr>
          <p:nvPr/>
        </p:nvSpPr>
        <p:spPr>
          <a:xfrm>
            <a:off x="666750" y="2266950"/>
            <a:ext cx="2667000" cy="523875"/>
          </a:xfrm>
          <a:prstGeom prst="rect">
            <a:avLst/>
          </a:prstGeom>
          <a:noFill/>
          <a:ln w="0">
            <a:noFill/>
            <a:prstDash val="solid"/>
          </a:ln>
        </p:spPr>
        <p:txBody>
          <a:bodyPr anchor="t">
            <a:normAutofit/>
          </a:bodyPr>
          <a:lstStyle/>
          <a:p>
            <a:pPr algn="l">
              <a:buNone/>
              <a:defRPr sz="2400" b="1" i="0">
                <a:solidFill>
                  <a:srgbClr val="000000"/>
                </a:solidFill>
                <a:latin typeface="Helvetica Neue"/>
                <a:ea typeface="Helvetica Neue"/>
                <a:cs typeface="Helvetica Neue"/>
              </a:defRPr>
            </a:pPr>
            <a:r>
              <a:rPr sz="2400" b="1" i="0">
                <a:solidFill>
                  <a:srgbClr val="000000"/>
                </a:solidFill>
                <a:latin typeface="Helvetica Neue"/>
                <a:ea typeface="Helvetica Neue"/>
                <a:cs typeface="Helvetica Neue"/>
              </a:rPr>
              <a:t>f₂ = f₁ f₁ + g₂</a:t>
            </a:r>
          </a:p>
        </p:txBody>
      </p:sp>
      <p:sp>
        <p:nvSpPr>
          <p:cNvPr id="8" name="Rectangle 7">
            <a:extLst>
              <a:ext uri="{FF2B5EF4-FFF2-40B4-BE49-F238E27FC236}">
                <a16:creationId xmlns:a16="http://schemas.microsoft.com/office/drawing/2014/main" id="{A2DEA11B-8E10-4352-A3DB-D0B91507817A}"/>
              </a:ext>
            </a:extLst>
          </p:cNvPr>
          <p:cNvSpPr>
            <a:spLocks noGrp="1"/>
          </p:cNvSpPr>
          <p:nvPr/>
        </p:nvSpPr>
        <p:spPr>
          <a:xfrm>
            <a:off x="666750" y="3105150"/>
            <a:ext cx="2571750" cy="1619250"/>
          </a:xfrm>
          <a:prstGeom prst="rect">
            <a:avLst/>
          </a:prstGeom>
          <a:noFill/>
          <a:ln w="0">
            <a:noFill/>
            <a:prstDash val="solid"/>
          </a:ln>
        </p:spPr>
        <p:txBody>
          <a:bodyPr anchor="t">
            <a:normAutofit/>
          </a:bodyPr>
          <a:lstStyle/>
          <a:p>
            <a:pPr algn="l">
              <a:buNone/>
              <a:defRPr sz="1575" b="0" i="0">
                <a:solidFill>
                  <a:srgbClr val="5B6472"/>
                </a:solidFill>
                <a:latin typeface="Helvetica Neue"/>
                <a:ea typeface="Helvetica Neue"/>
                <a:cs typeface="Helvetica Neue"/>
              </a:defRPr>
            </a:pPr>
            <a:r>
              <a:rPr sz="1575" b="0" i="0">
                <a:solidFill>
                  <a:srgbClr val="5B6472"/>
                </a:solidFill>
                <a:latin typeface="Helvetica Neue"/>
                <a:ea typeface="Helvetica Neue"/>
                <a:cs typeface="Helvetica Neue"/>
              </a:rPr>
              <a:t>g₂ measures departure from factorization; higher connected cumulants expose structure that a one-point state cannot carry.</a:t>
            </a:r>
          </a:p>
        </p:txBody>
      </p:sp>
      <p:sp>
        <p:nvSpPr>
          <p:cNvPr id="9" name="Rectangle 8">
            <a:extLst>
              <a:ext uri="{FF2B5EF4-FFF2-40B4-BE49-F238E27FC236}">
                <a16:creationId xmlns:a16="http://schemas.microsoft.com/office/drawing/2014/main" id="{36133200-3C48-4BFD-8100-8E0482BF0CA5}"/>
              </a:ext>
            </a:extLst>
          </p:cNvPr>
          <p:cNvSpPr>
            <a:spLocks noGrp="1"/>
          </p:cNvSpPr>
          <p:nvPr/>
        </p:nvSpPr>
        <p:spPr>
          <a:xfrm>
            <a:off x="4476750" y="1466850"/>
            <a:ext cx="3238500" cy="3914775"/>
          </a:xfrm>
          <a:prstGeom prst="rect">
            <a:avLst/>
          </a:prstGeom>
          <a:solidFill>
            <a:srgbClr val="D0EDFA"/>
          </a:solidFill>
          <a:ln w="9525">
            <a:solidFill>
              <a:srgbClr val="3D8DFF"/>
            </a:solidFill>
            <a:prstDash val="solid"/>
          </a:ln>
        </p:spPr>
        <p:txBody>
          <a:bodyPr/>
          <a:lstStyle/>
          <a:p>
            <a:endParaRPr lang="en-US"/>
          </a:p>
        </p:txBody>
      </p:sp>
      <p:sp>
        <p:nvSpPr>
          <p:cNvPr id="10" name="Rectangle 9">
            <a:extLst>
              <a:ext uri="{FF2B5EF4-FFF2-40B4-BE49-F238E27FC236}">
                <a16:creationId xmlns:a16="http://schemas.microsoft.com/office/drawing/2014/main" id="{C197A39D-B211-4184-9305-6BFA1782EB9C}"/>
              </a:ext>
            </a:extLst>
          </p:cNvPr>
          <p:cNvSpPr>
            <a:spLocks noGrp="1"/>
          </p:cNvSpPr>
          <p:nvPr/>
        </p:nvSpPr>
        <p:spPr>
          <a:xfrm>
            <a:off x="4743450" y="1752600"/>
            <a:ext cx="2571750" cy="266700"/>
          </a:xfrm>
          <a:prstGeom prst="rect">
            <a:avLst/>
          </a:prstGeom>
          <a:noFill/>
          <a:ln w="0">
            <a:noFill/>
            <a:prstDash val="solid"/>
          </a:ln>
        </p:spPr>
        <p:txBody>
          <a:bodyPr anchor="t">
            <a:normAutofit fontScale="97696" lnSpcReduction="10000"/>
          </a:bodyPr>
          <a:lstStyle/>
          <a:p>
            <a:pPr algn="l">
              <a:buNone/>
              <a:defRPr sz="1275" b="1" i="0">
                <a:solidFill>
                  <a:srgbClr val="143A72"/>
                </a:solidFill>
                <a:latin typeface="Helvetica Neue"/>
                <a:ea typeface="Helvetica Neue"/>
                <a:cs typeface="Helvetica Neue"/>
              </a:defRPr>
            </a:pPr>
            <a:r>
              <a:rPr sz="1275" b="1" i="0">
                <a:solidFill>
                  <a:srgbClr val="143A72"/>
                </a:solidFill>
                <a:latin typeface="Helvetica Neue"/>
                <a:ea typeface="Helvetica Neue"/>
                <a:cs typeface="Helvetica Neue"/>
              </a:rPr>
              <a:t>TIME-LAYERED STATE</a:t>
            </a:r>
          </a:p>
        </p:txBody>
      </p:sp>
      <p:sp>
        <p:nvSpPr>
          <p:cNvPr id="11" name="Rectangle 10">
            <a:extLst>
              <a:ext uri="{FF2B5EF4-FFF2-40B4-BE49-F238E27FC236}">
                <a16:creationId xmlns:a16="http://schemas.microsoft.com/office/drawing/2014/main" id="{CC373DA6-FF6A-4443-91D6-ECD2D666BEC3}"/>
              </a:ext>
            </a:extLst>
          </p:cNvPr>
          <p:cNvSpPr>
            <a:spLocks noGrp="1"/>
          </p:cNvSpPr>
          <p:nvPr/>
        </p:nvSpPr>
        <p:spPr>
          <a:xfrm>
            <a:off x="4743450" y="2266950"/>
            <a:ext cx="2971800" cy="666750"/>
          </a:xfrm>
          <a:prstGeom prst="rect">
            <a:avLst/>
          </a:prstGeom>
          <a:noFill/>
          <a:ln w="0">
            <a:noFill/>
            <a:prstDash val="solid"/>
          </a:ln>
        </p:spPr>
        <p:txBody>
          <a:bodyPr anchor="t">
            <a:normAutofit fontScale="94282"/>
          </a:bodyPr>
          <a:lstStyle/>
          <a:p>
            <a:pPr algn="l">
              <a:buNone/>
              <a:defRPr sz="2175" b="1" i="0">
                <a:solidFill>
                  <a:srgbClr val="000000"/>
                </a:solidFill>
                <a:latin typeface="Helvetica Neue"/>
                <a:ea typeface="Helvetica Neue"/>
                <a:cs typeface="Helvetica Neue"/>
              </a:defRPr>
            </a:pPr>
            <a:r>
              <a:rPr sz="2175" b="1" i="0" dirty="0">
                <a:solidFill>
                  <a:srgbClr val="000000"/>
                </a:solidFill>
                <a:latin typeface="Helvetica Neue"/>
                <a:ea typeface="Helvetica Neue"/>
                <a:cs typeface="Helvetica Neue"/>
              </a:rPr>
              <a:t>S</a:t>
            </a:r>
            <a:r>
              <a:rPr sz="2175" b="1" i="0" baseline="-25000" dirty="0">
                <a:solidFill>
                  <a:srgbClr val="000000"/>
                </a:solidFill>
                <a:latin typeface="Helvetica Neue"/>
                <a:ea typeface="Helvetica Neue"/>
                <a:cs typeface="Helvetica Neue"/>
              </a:rPr>
              <a:t>ℓ</a:t>
            </a:r>
            <a:r>
              <a:rPr sz="2175" b="1" i="0" dirty="0">
                <a:solidFill>
                  <a:srgbClr val="000000"/>
                </a:solidFill>
                <a:latin typeface="Helvetica Neue"/>
                <a:ea typeface="Helvetica Neue"/>
                <a:cs typeface="Helvetica Neue"/>
              </a:rPr>
              <a:t> = (f₁, </a:t>
            </a:r>
            <a:r>
              <a:rPr sz="2175" b="1" i="0" dirty="0" err="1">
                <a:solidFill>
                  <a:srgbClr val="000000"/>
                </a:solidFill>
                <a:latin typeface="Helvetica Neue"/>
                <a:ea typeface="Helvetica Neue"/>
                <a:cs typeface="Helvetica Neue"/>
              </a:rPr>
              <a:t>Πᵣg</a:t>
            </a:r>
            <a:r>
              <a:rPr sz="2175" b="1" i="0" dirty="0">
                <a:solidFill>
                  <a:srgbClr val="000000"/>
                </a:solidFill>
                <a:latin typeface="Helvetica Neue"/>
                <a:ea typeface="Helvetica Neue"/>
                <a:cs typeface="Helvetica Neue"/>
              </a:rPr>
              <a:t>₂, </a:t>
            </a:r>
            <a:r>
              <a:rPr sz="2175" b="1" i="0" dirty="0" err="1">
                <a:solidFill>
                  <a:srgbClr val="000000"/>
                </a:solidFill>
                <a:latin typeface="Helvetica Neue"/>
                <a:ea typeface="Helvetica Neue"/>
                <a:cs typeface="Helvetica Neue"/>
              </a:rPr>
              <a:t>Πᵣg</a:t>
            </a:r>
            <a:r>
              <a:rPr sz="2175" b="1" i="0" dirty="0">
                <a:solidFill>
                  <a:srgbClr val="000000"/>
                </a:solidFill>
                <a:latin typeface="Helvetica Neue"/>
                <a:ea typeface="Helvetica Neue"/>
                <a:cs typeface="Helvetica Neue"/>
              </a:rPr>
              <a:t>₃, h</a:t>
            </a:r>
            <a:r>
              <a:rPr sz="2175" b="1" i="0" baseline="-25000" dirty="0">
                <a:solidFill>
                  <a:srgbClr val="000000"/>
                </a:solidFill>
                <a:latin typeface="Helvetica Neue"/>
                <a:ea typeface="Helvetica Neue"/>
                <a:cs typeface="Helvetica Neue"/>
              </a:rPr>
              <a:t>ℓ</a:t>
            </a:r>
            <a:r>
              <a:rPr sz="2175" b="1" i="0" dirty="0">
                <a:solidFill>
                  <a:srgbClr val="000000"/>
                </a:solidFill>
                <a:latin typeface="Helvetica Neue"/>
                <a:ea typeface="Helvetica Neue"/>
                <a:cs typeface="Helvetica Neue"/>
              </a:rPr>
              <a:t>)</a:t>
            </a:r>
          </a:p>
        </p:txBody>
      </p:sp>
      <p:sp>
        <p:nvSpPr>
          <p:cNvPr id="12" name="Rectangle 11">
            <a:extLst>
              <a:ext uri="{FF2B5EF4-FFF2-40B4-BE49-F238E27FC236}">
                <a16:creationId xmlns:a16="http://schemas.microsoft.com/office/drawing/2014/main" id="{74950621-D791-4189-9C5E-837345918539}"/>
              </a:ext>
            </a:extLst>
          </p:cNvPr>
          <p:cNvSpPr>
            <a:spLocks noGrp="1"/>
          </p:cNvSpPr>
          <p:nvPr/>
        </p:nvSpPr>
        <p:spPr>
          <a:xfrm>
            <a:off x="4743450" y="3105150"/>
            <a:ext cx="2571750" cy="1619250"/>
          </a:xfrm>
          <a:prstGeom prst="rect">
            <a:avLst/>
          </a:prstGeom>
          <a:noFill/>
          <a:ln w="0">
            <a:noFill/>
            <a:prstDash val="solid"/>
          </a:ln>
        </p:spPr>
        <p:txBody>
          <a:bodyPr anchor="t">
            <a:normAutofit/>
          </a:bodyPr>
          <a:lstStyle/>
          <a:p>
            <a:pPr algn="l">
              <a:buNone/>
              <a:defRPr sz="1575" b="0" i="0">
                <a:solidFill>
                  <a:srgbClr val="5B6472"/>
                </a:solidFill>
                <a:latin typeface="Helvetica Neue"/>
                <a:ea typeface="Helvetica Neue"/>
                <a:cs typeface="Helvetica Neue"/>
              </a:defRPr>
            </a:pPr>
            <a:r>
              <a:rPr sz="1575" b="0" i="0" dirty="0">
                <a:solidFill>
                  <a:srgbClr val="5B6472"/>
                </a:solidFill>
                <a:latin typeface="Helvetica Neue"/>
                <a:ea typeface="Helvetica Neue"/>
                <a:cs typeface="Helvetica Neue"/>
              </a:rPr>
              <a:t>Short expansions restart while projected cumulants and a finite history state hℓ carry unresolved influence forward.</a:t>
            </a:r>
          </a:p>
        </p:txBody>
      </p:sp>
      <p:sp>
        <p:nvSpPr>
          <p:cNvPr id="13" name="Rectangle 12">
            <a:extLst>
              <a:ext uri="{FF2B5EF4-FFF2-40B4-BE49-F238E27FC236}">
                <a16:creationId xmlns:a16="http://schemas.microsoft.com/office/drawing/2014/main" id="{50D2D48F-4FF9-495A-85C5-56576AFD94B2}"/>
              </a:ext>
            </a:extLst>
          </p:cNvPr>
          <p:cNvSpPr>
            <a:spLocks noGrp="1"/>
          </p:cNvSpPr>
          <p:nvPr/>
        </p:nvSpPr>
        <p:spPr>
          <a:xfrm>
            <a:off x="8305800" y="1387234"/>
            <a:ext cx="3143250" cy="285750"/>
          </a:xfrm>
          <a:prstGeom prst="rect">
            <a:avLst/>
          </a:prstGeom>
          <a:noFill/>
          <a:ln w="0">
            <a:noFill/>
            <a:prstDash val="solid"/>
          </a:ln>
        </p:spPr>
        <p:txBody>
          <a:bodyPr anchor="t">
            <a:normAutofit/>
          </a:bodyPr>
          <a:lstStyle/>
          <a:p>
            <a:pPr algn="l">
              <a:buNone/>
              <a:defRPr sz="1275" b="1" i="0">
                <a:solidFill>
                  <a:srgbClr val="18AEB5"/>
                </a:solidFill>
                <a:latin typeface="Helvetica Neue"/>
                <a:ea typeface="Helvetica Neue"/>
                <a:cs typeface="Helvetica Neue"/>
              </a:defRPr>
            </a:pPr>
            <a:r>
              <a:rPr sz="1275" b="1" i="0" dirty="0">
                <a:solidFill>
                  <a:srgbClr val="18AEB5"/>
                </a:solidFill>
                <a:latin typeface="Helvetica Neue"/>
                <a:ea typeface="Helvetica Neue"/>
                <a:cs typeface="Helvetica Neue"/>
              </a:rPr>
              <a:t>FOUR FALSIFIABLE HYPOTHESES</a:t>
            </a:r>
          </a:p>
        </p:txBody>
      </p:sp>
      <p:sp>
        <p:nvSpPr>
          <p:cNvPr id="14" name="Rectangle 13">
            <a:extLst>
              <a:ext uri="{FF2B5EF4-FFF2-40B4-BE49-F238E27FC236}">
                <a16:creationId xmlns:a16="http://schemas.microsoft.com/office/drawing/2014/main" id="{B5779346-F47E-4A47-A0FB-5C33B5643086}"/>
              </a:ext>
            </a:extLst>
          </p:cNvPr>
          <p:cNvSpPr>
            <a:spLocks noGrp="1"/>
          </p:cNvSpPr>
          <p:nvPr/>
        </p:nvSpPr>
        <p:spPr>
          <a:xfrm>
            <a:off x="7963893" y="1668019"/>
            <a:ext cx="228600" cy="266700"/>
          </a:xfrm>
          <a:prstGeom prst="rect">
            <a:avLst/>
          </a:prstGeom>
          <a:noFill/>
          <a:ln w="0">
            <a:noFill/>
            <a:prstDash val="solid"/>
          </a:ln>
        </p:spPr>
        <p:txBody>
          <a:bodyPr anchor="t">
            <a:noAutofit/>
          </a:bodyPr>
          <a:lstStyle/>
          <a:p>
            <a:pPr algn="l">
              <a:buNone/>
              <a:defRPr sz="1800" b="1" i="0">
                <a:solidFill>
                  <a:srgbClr val="18AEB5"/>
                </a:solidFill>
                <a:latin typeface="Helvetica Neue"/>
                <a:ea typeface="Helvetica Neue"/>
                <a:cs typeface="Helvetica Neue"/>
              </a:defRPr>
            </a:pPr>
            <a:r>
              <a:rPr sz="1800" b="1" i="0" dirty="0">
                <a:solidFill>
                  <a:srgbClr val="18AEB5"/>
                </a:solidFill>
                <a:latin typeface="Helvetica Neue"/>
                <a:ea typeface="Helvetica Neue"/>
                <a:cs typeface="Helvetica Neue"/>
              </a:rPr>
              <a:t>•</a:t>
            </a:r>
          </a:p>
        </p:txBody>
      </p:sp>
      <p:sp>
        <p:nvSpPr>
          <p:cNvPr id="15" name="Rectangle 14">
            <a:extLst>
              <a:ext uri="{FF2B5EF4-FFF2-40B4-BE49-F238E27FC236}">
                <a16:creationId xmlns:a16="http://schemas.microsoft.com/office/drawing/2014/main" id="{F332A482-2381-4BA9-B31D-BCD64BFEBA65}"/>
              </a:ext>
            </a:extLst>
          </p:cNvPr>
          <p:cNvSpPr>
            <a:spLocks noGrp="1"/>
          </p:cNvSpPr>
          <p:nvPr/>
        </p:nvSpPr>
        <p:spPr>
          <a:xfrm>
            <a:off x="8169600" y="1689620"/>
            <a:ext cx="4050259" cy="3713330"/>
          </a:xfrm>
          <a:prstGeom prst="rect">
            <a:avLst/>
          </a:prstGeom>
          <a:noFill/>
          <a:ln w="0">
            <a:noFill/>
            <a:prstDash val="solid"/>
          </a:ln>
        </p:spPr>
        <p:txBody>
          <a:bodyPr anchor="t">
            <a:noAutofit/>
          </a:bodyPr>
          <a:lstStyle/>
          <a:p>
            <a:pPr>
              <a:defRPr sz="1800" b="0" i="0">
                <a:solidFill>
                  <a:srgbClr val="000000"/>
                </a:solidFill>
                <a:latin typeface="Helvetica Neue"/>
                <a:ea typeface="Helvetica Neue"/>
                <a:cs typeface="Helvetica Neue"/>
              </a:defRPr>
            </a:pPr>
            <a:r>
              <a:rPr lang="en-US" sz="1600" b="1" dirty="0">
                <a:solidFill>
                  <a:srgbClr val="000000"/>
                </a:solidFill>
                <a:latin typeface="Helvetica Neue"/>
                <a:ea typeface="Helvetica Neue"/>
                <a:cs typeface="Helvetica Neue"/>
              </a:rPr>
              <a:t>Detectability:</a:t>
            </a:r>
            <a:r>
              <a:rPr lang="en-US" sz="1600" dirty="0">
                <a:solidFill>
                  <a:srgbClr val="000000"/>
                </a:solidFill>
                <a:latin typeface="Helvetica Neue"/>
                <a:ea typeface="Helvetica Neue"/>
                <a:cs typeface="Helvetica Neue"/>
              </a:rPr>
              <a:t> projected cumulants or interaction-history features identify the onset of closure failure before large error.</a:t>
            </a:r>
          </a:p>
          <a:p>
            <a:pPr>
              <a:defRPr sz="1800" b="0" i="0">
                <a:solidFill>
                  <a:srgbClr val="000000"/>
                </a:solidFill>
                <a:latin typeface="Helvetica Neue"/>
                <a:ea typeface="Helvetica Neue"/>
                <a:cs typeface="Helvetica Neue"/>
              </a:defRPr>
            </a:pPr>
            <a:r>
              <a:rPr lang="en-US" sz="1600" b="1" dirty="0">
                <a:solidFill>
                  <a:srgbClr val="000000"/>
                </a:solidFill>
                <a:latin typeface="Helvetica Neue"/>
                <a:ea typeface="Helvetica Neue"/>
                <a:cs typeface="Helvetica Neue"/>
              </a:rPr>
              <a:t>Compressibility: </a:t>
            </a:r>
            <a:r>
              <a:rPr lang="en-US" sz="1600" dirty="0">
                <a:solidFill>
                  <a:srgbClr val="000000"/>
                </a:solidFill>
                <a:latin typeface="Helvetica Neue"/>
                <a:ea typeface="Helvetica Neue"/>
                <a:cs typeface="Helvetica Neue"/>
              </a:rPr>
              <a:t>the dynamically important closure defect occupies a tractable representation.</a:t>
            </a:r>
          </a:p>
          <a:p>
            <a:pPr>
              <a:defRPr sz="1800" b="0" i="0">
                <a:solidFill>
                  <a:srgbClr val="000000"/>
                </a:solidFill>
                <a:latin typeface="Helvetica Neue"/>
                <a:ea typeface="Helvetica Neue"/>
                <a:cs typeface="Helvetica Neue"/>
              </a:defRPr>
            </a:pPr>
            <a:r>
              <a:rPr lang="en-US" sz="1600" b="1" dirty="0">
                <a:solidFill>
                  <a:srgbClr val="000000"/>
                </a:solidFill>
                <a:latin typeface="Helvetica Neue"/>
                <a:ea typeface="Helvetica Neue"/>
                <a:cs typeface="Helvetica Neue"/>
              </a:rPr>
              <a:t>Finite memory: </a:t>
            </a:r>
            <a:r>
              <a:rPr lang="en-US" sz="1600" dirty="0">
                <a:solidFill>
                  <a:srgbClr val="000000"/>
                </a:solidFill>
                <a:latin typeface="Helvetica Neue"/>
                <a:ea typeface="Helvetica Neue"/>
                <a:cs typeface="Helvetica Neue"/>
              </a:rPr>
              <a:t>a bounded history state materially improves long-time prediction over a Markov closure without growing indefinitely.</a:t>
            </a:r>
          </a:p>
          <a:p>
            <a:pPr>
              <a:defRPr sz="1800" b="0" i="0">
                <a:solidFill>
                  <a:srgbClr val="000000"/>
                </a:solidFill>
                <a:latin typeface="Helvetica Neue"/>
                <a:ea typeface="Helvetica Neue"/>
                <a:cs typeface="Helvetica Neue"/>
              </a:defRPr>
            </a:pPr>
            <a:r>
              <a:rPr lang="en-US" sz="1600" b="1" dirty="0">
                <a:solidFill>
                  <a:srgbClr val="000000"/>
                </a:solidFill>
                <a:latin typeface="Helvetica Neue"/>
                <a:ea typeface="Helvetica Neue"/>
                <a:cs typeface="Helvetica Neue"/>
              </a:rPr>
              <a:t>Transfer</a:t>
            </a:r>
            <a:r>
              <a:rPr lang="en-US" sz="1600" dirty="0">
                <a:solidFill>
                  <a:srgbClr val="000000"/>
                </a:solidFill>
                <a:latin typeface="Helvetica Neue"/>
                <a:ea typeface="Helvetica Neue"/>
                <a:cs typeface="Helvetica Neue"/>
              </a:rPr>
              <a:t>: the representation and diagnostics learned in canonical system remain useful, after physics-specific adaptation, for other closures.</a:t>
            </a:r>
          </a:p>
          <a:p>
            <a:pPr>
              <a:defRPr sz="1800" b="0" i="0">
                <a:solidFill>
                  <a:srgbClr val="000000"/>
                </a:solidFill>
                <a:latin typeface="Helvetica Neue"/>
                <a:ea typeface="Helvetica Neue"/>
                <a:cs typeface="Helvetica Neue"/>
              </a:defRPr>
            </a:pPr>
            <a:endParaRPr lang="en-US" sz="1600" dirty="0">
              <a:solidFill>
                <a:srgbClr val="000000"/>
              </a:solidFill>
              <a:latin typeface="Helvetica Neue"/>
              <a:ea typeface="Helvetica Neue"/>
              <a:cs typeface="Helvetica Neue"/>
            </a:endParaRPr>
          </a:p>
        </p:txBody>
      </p:sp>
      <p:sp>
        <p:nvSpPr>
          <p:cNvPr id="16" name="Rectangle 15">
            <a:extLst>
              <a:ext uri="{FF2B5EF4-FFF2-40B4-BE49-F238E27FC236}">
                <a16:creationId xmlns:a16="http://schemas.microsoft.com/office/drawing/2014/main" id="{D86DD9B1-32CE-4F48-B4D1-B67D2942811A}"/>
              </a:ext>
            </a:extLst>
          </p:cNvPr>
          <p:cNvSpPr>
            <a:spLocks noGrp="1"/>
          </p:cNvSpPr>
          <p:nvPr/>
        </p:nvSpPr>
        <p:spPr>
          <a:xfrm flipV="1">
            <a:off x="8084021" y="2469534"/>
            <a:ext cx="81176" cy="266700"/>
          </a:xfrm>
          <a:prstGeom prst="rect">
            <a:avLst/>
          </a:prstGeom>
          <a:noFill/>
          <a:ln w="0">
            <a:noFill/>
            <a:prstDash val="solid"/>
          </a:ln>
        </p:spPr>
        <p:txBody>
          <a:bodyPr anchor="t">
            <a:noAutofit/>
          </a:bodyPr>
          <a:lstStyle/>
          <a:p>
            <a:pPr algn="l">
              <a:buNone/>
              <a:defRPr sz="1800" b="1" i="0">
                <a:solidFill>
                  <a:srgbClr val="18AEB5"/>
                </a:solidFill>
                <a:latin typeface="Helvetica Neue"/>
                <a:ea typeface="Helvetica Neue"/>
                <a:cs typeface="Helvetica Neue"/>
              </a:defRPr>
            </a:pPr>
            <a:r>
              <a:rPr sz="1800" b="1" i="0" dirty="0">
                <a:solidFill>
                  <a:srgbClr val="18AEB5"/>
                </a:solidFill>
                <a:latin typeface="Helvetica Neue"/>
                <a:ea typeface="Helvetica Neue"/>
                <a:cs typeface="Helvetica Neue"/>
              </a:rPr>
              <a:t>•</a:t>
            </a:r>
          </a:p>
        </p:txBody>
      </p:sp>
      <p:sp>
        <p:nvSpPr>
          <p:cNvPr id="18" name="Rectangle 17">
            <a:extLst>
              <a:ext uri="{FF2B5EF4-FFF2-40B4-BE49-F238E27FC236}">
                <a16:creationId xmlns:a16="http://schemas.microsoft.com/office/drawing/2014/main" id="{57BF111D-B7B9-496F-9725-2E9EDB7FC08D}"/>
              </a:ext>
            </a:extLst>
          </p:cNvPr>
          <p:cNvSpPr>
            <a:spLocks noGrp="1"/>
          </p:cNvSpPr>
          <p:nvPr/>
        </p:nvSpPr>
        <p:spPr>
          <a:xfrm>
            <a:off x="7937309" y="3123058"/>
            <a:ext cx="228600" cy="266700"/>
          </a:xfrm>
          <a:prstGeom prst="rect">
            <a:avLst/>
          </a:prstGeom>
          <a:noFill/>
          <a:ln w="0">
            <a:noFill/>
            <a:prstDash val="solid"/>
          </a:ln>
        </p:spPr>
        <p:txBody>
          <a:bodyPr anchor="t">
            <a:noAutofit/>
          </a:bodyPr>
          <a:lstStyle/>
          <a:p>
            <a:pPr algn="l">
              <a:buNone/>
              <a:defRPr sz="1800" b="1" i="0">
                <a:solidFill>
                  <a:srgbClr val="18AEB5"/>
                </a:solidFill>
                <a:latin typeface="Helvetica Neue"/>
                <a:ea typeface="Helvetica Neue"/>
                <a:cs typeface="Helvetica Neue"/>
              </a:defRPr>
            </a:pPr>
            <a:r>
              <a:rPr sz="1800" b="1" i="0" dirty="0">
                <a:solidFill>
                  <a:srgbClr val="18AEB5"/>
                </a:solidFill>
                <a:latin typeface="Helvetica Neue"/>
                <a:ea typeface="Helvetica Neue"/>
                <a:cs typeface="Helvetica Neue"/>
              </a:rPr>
              <a:t>•</a:t>
            </a:r>
          </a:p>
        </p:txBody>
      </p:sp>
      <p:sp>
        <p:nvSpPr>
          <p:cNvPr id="20" name="Rectangle 19">
            <a:extLst>
              <a:ext uri="{FF2B5EF4-FFF2-40B4-BE49-F238E27FC236}">
                <a16:creationId xmlns:a16="http://schemas.microsoft.com/office/drawing/2014/main" id="{1BF831B3-510A-4982-BFDF-A02FE7DB82DC}"/>
              </a:ext>
            </a:extLst>
          </p:cNvPr>
          <p:cNvSpPr>
            <a:spLocks noGrp="1"/>
          </p:cNvSpPr>
          <p:nvPr/>
        </p:nvSpPr>
        <p:spPr>
          <a:xfrm>
            <a:off x="7963893" y="4094797"/>
            <a:ext cx="228600" cy="266700"/>
          </a:xfrm>
          <a:prstGeom prst="rect">
            <a:avLst/>
          </a:prstGeom>
          <a:noFill/>
          <a:ln w="0">
            <a:noFill/>
            <a:prstDash val="solid"/>
          </a:ln>
        </p:spPr>
        <p:txBody>
          <a:bodyPr anchor="t">
            <a:noAutofit/>
          </a:bodyPr>
          <a:lstStyle/>
          <a:p>
            <a:pPr algn="l">
              <a:buNone/>
              <a:defRPr sz="1800" b="1" i="0">
                <a:solidFill>
                  <a:srgbClr val="18AEB5"/>
                </a:solidFill>
                <a:latin typeface="Helvetica Neue"/>
                <a:ea typeface="Helvetica Neue"/>
                <a:cs typeface="Helvetica Neue"/>
              </a:defRPr>
            </a:pPr>
            <a:r>
              <a:rPr sz="1800" b="1" i="0">
                <a:solidFill>
                  <a:srgbClr val="18AEB5"/>
                </a:solidFill>
                <a:latin typeface="Helvetica Neue"/>
                <a:ea typeface="Helvetica Neue"/>
                <a:cs typeface="Helvetica Neue"/>
              </a:rPr>
              <a:t>•</a:t>
            </a:r>
          </a:p>
        </p:txBody>
      </p:sp>
      <p:sp>
        <p:nvSpPr>
          <p:cNvPr id="3" name="TextBox 2">
            <a:extLst>
              <a:ext uri="{FF2B5EF4-FFF2-40B4-BE49-F238E27FC236}">
                <a16:creationId xmlns:a16="http://schemas.microsoft.com/office/drawing/2014/main" id="{DF7C7EC2-B3B7-BFD6-B76D-C83DD7B06603}"/>
              </a:ext>
            </a:extLst>
          </p:cNvPr>
          <p:cNvSpPr txBox="1"/>
          <p:nvPr/>
        </p:nvSpPr>
        <p:spPr>
          <a:xfrm>
            <a:off x="8305799" y="5470766"/>
            <a:ext cx="3629557" cy="954107"/>
          </a:xfrm>
          <a:prstGeom prst="rect">
            <a:avLst/>
          </a:prstGeom>
          <a:noFill/>
        </p:spPr>
        <p:txBody>
          <a:bodyPr wrap="square" rtlCol="0">
            <a:spAutoFit/>
          </a:bodyPr>
          <a:lstStyle/>
          <a:p>
            <a:pPr>
              <a:defRPr sz="1800" b="0" i="0">
                <a:solidFill>
                  <a:srgbClr val="000000"/>
                </a:solidFill>
                <a:latin typeface="Helvetica Neue"/>
                <a:ea typeface="Helvetica Neue"/>
                <a:cs typeface="Helvetica Neue"/>
              </a:defRPr>
            </a:pPr>
            <a:r>
              <a:rPr lang="en-US" sz="1400" dirty="0">
                <a:solidFill>
                  <a:schemeClr val="tx1">
                    <a:lumMod val="50000"/>
                    <a:lumOff val="50000"/>
                  </a:schemeClr>
                </a:solidFill>
                <a:latin typeface="Helvetica Neue"/>
                <a:ea typeface="Helvetica Neue"/>
                <a:cs typeface="Helvetica Neue"/>
              </a:rPr>
              <a:t>Failure of any hypothesis is a reportable scientific outcome and triggers a</a:t>
            </a:r>
          </a:p>
          <a:p>
            <a:pPr>
              <a:defRPr sz="1800" b="0" i="0">
                <a:solidFill>
                  <a:srgbClr val="000000"/>
                </a:solidFill>
                <a:latin typeface="Helvetica Neue"/>
                <a:ea typeface="Helvetica Neue"/>
                <a:cs typeface="Helvetica Neue"/>
              </a:defRPr>
            </a:pPr>
            <a:r>
              <a:rPr lang="en-US" sz="1400" dirty="0">
                <a:solidFill>
                  <a:schemeClr val="tx1">
                    <a:lumMod val="50000"/>
                    <a:lumOff val="50000"/>
                  </a:schemeClr>
                </a:solidFill>
                <a:latin typeface="Helvetica Neue"/>
                <a:ea typeface="Helvetica Neue"/>
                <a:cs typeface="Helvetica Neue"/>
              </a:rPr>
              <a:t>stop, pivot, or restriction of scope.</a:t>
            </a:r>
          </a:p>
          <a:p>
            <a:endParaRPr lang="en-US" sz="1400" dirty="0">
              <a:solidFill>
                <a:schemeClr val="tx1">
                  <a:lumMod val="50000"/>
                  <a:lumOff val="50000"/>
                </a:schemeClr>
              </a:solidFill>
            </a:endParaRPr>
          </a:p>
        </p:txBody>
      </p:sp>
      <p:sp>
        <p:nvSpPr>
          <p:cNvPr id="23" name="Rectangle 22">
            <a:extLst>
              <a:ext uri="{FF2B5EF4-FFF2-40B4-BE49-F238E27FC236}">
                <a16:creationId xmlns:a16="http://schemas.microsoft.com/office/drawing/2014/main" id="{548E381D-6F8E-9EDB-0AD6-8CD105B1333C}"/>
              </a:ext>
            </a:extLst>
          </p:cNvPr>
          <p:cNvSpPr>
            <a:spLocks noGrp="1"/>
          </p:cNvSpPr>
          <p:nvPr/>
        </p:nvSpPr>
        <p:spPr>
          <a:xfrm>
            <a:off x="256645" y="5981700"/>
            <a:ext cx="3629558" cy="400050"/>
          </a:xfrm>
          <a:prstGeom prst="rect">
            <a:avLst/>
          </a:prstGeom>
          <a:noFill/>
          <a:ln w="0">
            <a:noFill/>
            <a:prstDash val="solid"/>
          </a:ln>
        </p:spPr>
        <p:txBody>
          <a:bodyPr anchor="t">
            <a:normAutofit/>
          </a:bodyPr>
          <a:lstStyle/>
          <a:p>
            <a:pPr algn="l">
              <a:buNone/>
              <a:defRPr sz="1725" b="1" i="0">
                <a:solidFill>
                  <a:srgbClr val="143A72"/>
                </a:solidFill>
                <a:latin typeface="Helvetica Neue"/>
                <a:ea typeface="Helvetica Neue"/>
                <a:cs typeface="Helvetica Neue"/>
              </a:defRPr>
            </a:pPr>
            <a:r>
              <a:rPr lang="en-US" sz="1400" b="1" dirty="0">
                <a:solidFill>
                  <a:srgbClr val="143A72"/>
                </a:solidFill>
                <a:latin typeface="Helvetica Neue"/>
                <a:ea typeface="Helvetica Neue"/>
                <a:cs typeface="Helvetica Neue"/>
              </a:rPr>
              <a:t>From </a:t>
            </a:r>
            <a:r>
              <a:rPr lang="en-US" sz="1400" b="1" i="0" dirty="0">
                <a:solidFill>
                  <a:srgbClr val="143A72"/>
                </a:solidFill>
                <a:latin typeface="Helvetica Neue"/>
                <a:ea typeface="Helvetica Neue"/>
                <a:cs typeface="Helvetica Neue"/>
              </a:rPr>
              <a:t>[Deng &amp; Hani, ’23,’24,’25]</a:t>
            </a:r>
            <a:endParaRPr sz="1400" b="1" i="0" dirty="0">
              <a:solidFill>
                <a:srgbClr val="143A72"/>
              </a:solidFill>
              <a:latin typeface="Helvetica Neue"/>
              <a:ea typeface="Helvetica Neue"/>
              <a:cs typeface="Helvetica Neue"/>
            </a:endParaRPr>
          </a:p>
        </p:txBody>
      </p:sp>
    </p:spTree>
    <p:extLst>
      <p:ext uri="{BB962C8B-B14F-4D97-AF65-F5344CB8AC3E}">
        <p14:creationId xmlns:p14="http://schemas.microsoft.com/office/powerpoint/2010/main" val="15536792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4D978514-1CDE-4CE8-AC00-F8661468F7C1}"/>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FB114018-2592-444C-86F2-AB05CC3D6CAD}"/>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One ensemble supports two higher closures</a:t>
            </a:r>
          </a:p>
        </p:txBody>
      </p:sp>
      <p:cxnSp>
        <p:nvCxnSpPr>
          <p:cNvPr id="33" name="Straight Arrow Connector 32"/>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BEDE51D9-BB0E-4FD3-8306-F4EAA89C7F8B}"/>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16</a:t>
            </a:r>
          </a:p>
        </p:txBody>
      </p:sp>
      <p:sp>
        <p:nvSpPr>
          <p:cNvPr id="5" name="Rectangle 4">
            <a:extLst>
              <a:ext uri="{FF2B5EF4-FFF2-40B4-BE49-F238E27FC236}">
                <a16:creationId xmlns:a16="http://schemas.microsoft.com/office/drawing/2014/main" id="{542036B6-C480-434A-91C3-C642A4DC618C}"/>
              </a:ext>
            </a:extLst>
          </p:cNvPr>
          <p:cNvSpPr>
            <a:spLocks noGrp="1"/>
          </p:cNvSpPr>
          <p:nvPr/>
        </p:nvSpPr>
        <p:spPr>
          <a:xfrm>
            <a:off x="400050" y="1485900"/>
            <a:ext cx="4762500" cy="285750"/>
          </a:xfrm>
          <a:prstGeom prst="rect">
            <a:avLst/>
          </a:prstGeom>
          <a:noFill/>
          <a:ln w="0">
            <a:noFill/>
            <a:prstDash val="solid"/>
          </a:ln>
        </p:spPr>
        <p:txBody>
          <a:bodyPr anchor="t">
            <a:normAutofit fontScale="94444" lnSpcReduction="10000"/>
          </a:bodyPr>
          <a:lstStyle/>
          <a:p>
            <a:pPr algn="l">
              <a:buNone/>
              <a:defRPr sz="1350" b="1" i="0">
                <a:solidFill>
                  <a:srgbClr val="3D8DFF"/>
                </a:solidFill>
                <a:latin typeface="Helvetica Neue"/>
                <a:ea typeface="Helvetica Neue"/>
                <a:cs typeface="Helvetica Neue"/>
              </a:defRPr>
            </a:pPr>
            <a:r>
              <a:rPr sz="1350" b="1" i="0">
                <a:solidFill>
                  <a:srgbClr val="3D8DFF"/>
                </a:solidFill>
                <a:latin typeface="Helvetica Neue"/>
                <a:ea typeface="Helvetica Neue"/>
                <a:cs typeface="Helvetica Neue"/>
              </a:rPr>
              <a:t>PARTICLE → KINETIC</a:t>
            </a:r>
          </a:p>
        </p:txBody>
      </p:sp>
      <p:sp>
        <p:nvSpPr>
          <p:cNvPr id="6" name="Rectangle 5">
            <a:extLst>
              <a:ext uri="{FF2B5EF4-FFF2-40B4-BE49-F238E27FC236}">
                <a16:creationId xmlns:a16="http://schemas.microsoft.com/office/drawing/2014/main" id="{4609ECBE-489F-4EEB-8260-A9A751A40360}"/>
              </a:ext>
            </a:extLst>
          </p:cNvPr>
          <p:cNvSpPr>
            <a:spLocks noGrp="1"/>
          </p:cNvSpPr>
          <p:nvPr/>
        </p:nvSpPr>
        <p:spPr>
          <a:xfrm>
            <a:off x="400050" y="1952625"/>
            <a:ext cx="952500" cy="266700"/>
          </a:xfrm>
          <a:prstGeom prst="rect">
            <a:avLst/>
          </a:prstGeom>
          <a:noFill/>
          <a:ln w="0">
            <a:noFill/>
            <a:prstDash val="solid"/>
          </a:ln>
        </p:spPr>
        <p:txBody>
          <a:bodyPr anchor="t">
            <a:normAutofit fontScale="85185"/>
          </a:bodyPr>
          <a:lstStyle/>
          <a:p>
            <a:pPr algn="l">
              <a:buNone/>
              <a:defRPr sz="1350" b="1" i="0">
                <a:solidFill>
                  <a:srgbClr val="000000"/>
                </a:solidFill>
                <a:latin typeface="Helvetica Neue"/>
                <a:ea typeface="Helvetica Neue"/>
                <a:cs typeface="Helvetica Neue"/>
              </a:defRPr>
            </a:pPr>
            <a:r>
              <a:rPr sz="1350" b="1" i="0">
                <a:solidFill>
                  <a:srgbClr val="000000"/>
                </a:solidFill>
                <a:latin typeface="Helvetica Neue"/>
                <a:ea typeface="Helvetica Neue"/>
                <a:cs typeface="Helvetica Neue"/>
              </a:rPr>
              <a:t>Retain</a:t>
            </a:r>
          </a:p>
        </p:txBody>
      </p:sp>
      <p:sp>
        <p:nvSpPr>
          <p:cNvPr id="7" name="Rectangle 6">
            <a:extLst>
              <a:ext uri="{FF2B5EF4-FFF2-40B4-BE49-F238E27FC236}">
                <a16:creationId xmlns:a16="http://schemas.microsoft.com/office/drawing/2014/main" id="{E80F3D40-0E86-4600-8996-88965C5B4517}"/>
              </a:ext>
            </a:extLst>
          </p:cNvPr>
          <p:cNvSpPr>
            <a:spLocks noGrp="1"/>
          </p:cNvSpPr>
          <p:nvPr/>
        </p:nvSpPr>
        <p:spPr>
          <a:xfrm>
            <a:off x="1562100" y="1952625"/>
            <a:ext cx="3905250" cy="266700"/>
          </a:xfrm>
          <a:prstGeom prst="rect">
            <a:avLst/>
          </a:prstGeom>
          <a:noFill/>
          <a:ln w="0">
            <a:noFill/>
            <a:prstDash val="solid"/>
          </a:ln>
        </p:spPr>
        <p:txBody>
          <a:bodyPr anchor="t">
            <a:normAutofit fontScale="84697" lnSpcReduction="20000"/>
          </a:bodyPr>
          <a:lstStyle/>
          <a:p>
            <a:pPr algn="l">
              <a:buNone/>
              <a:defRPr sz="1650" b="0" i="0">
                <a:solidFill>
                  <a:srgbClr val="000000"/>
                </a:solidFill>
                <a:latin typeface="Helvetica Neue"/>
                <a:ea typeface="Helvetica Neue"/>
                <a:cs typeface="Helvetica Neue"/>
              </a:defRPr>
            </a:pPr>
            <a:r>
              <a:rPr sz="1650" b="0" i="0">
                <a:solidFill>
                  <a:srgbClr val="000000"/>
                </a:solidFill>
                <a:latin typeface="Helvetica Neue"/>
                <a:ea typeface="Helvetica Neue"/>
                <a:cs typeface="Helvetica Neue"/>
              </a:rPr>
              <a:t>one-particle distribution</a:t>
            </a:r>
          </a:p>
        </p:txBody>
      </p:sp>
      <p:sp>
        <p:nvSpPr>
          <p:cNvPr id="8" name="Rectangle 7">
            <a:extLst>
              <a:ext uri="{FF2B5EF4-FFF2-40B4-BE49-F238E27FC236}">
                <a16:creationId xmlns:a16="http://schemas.microsoft.com/office/drawing/2014/main" id="{4EFDFA1E-8820-40ED-ACC9-A14EAC98076A}"/>
              </a:ext>
            </a:extLst>
          </p:cNvPr>
          <p:cNvSpPr>
            <a:spLocks noGrp="1"/>
          </p:cNvSpPr>
          <p:nvPr/>
        </p:nvSpPr>
        <p:spPr>
          <a:xfrm>
            <a:off x="400050" y="2447925"/>
            <a:ext cx="952500" cy="266700"/>
          </a:xfrm>
          <a:prstGeom prst="rect">
            <a:avLst/>
          </a:prstGeom>
          <a:noFill/>
          <a:ln w="0">
            <a:noFill/>
            <a:prstDash val="solid"/>
          </a:ln>
        </p:spPr>
        <p:txBody>
          <a:bodyPr anchor="t">
            <a:normAutofit fontScale="85185"/>
          </a:bodyPr>
          <a:lstStyle/>
          <a:p>
            <a:pPr algn="l">
              <a:buNone/>
              <a:defRPr sz="1350" b="1" i="0">
                <a:solidFill>
                  <a:srgbClr val="000000"/>
                </a:solidFill>
                <a:latin typeface="Helvetica Neue"/>
                <a:ea typeface="Helvetica Neue"/>
                <a:cs typeface="Helvetica Neue"/>
              </a:defRPr>
            </a:pPr>
            <a:r>
              <a:rPr sz="1350" b="1" i="0">
                <a:solidFill>
                  <a:srgbClr val="000000"/>
                </a:solidFill>
                <a:latin typeface="Helvetica Neue"/>
                <a:ea typeface="Helvetica Neue"/>
                <a:cs typeface="Helvetica Neue"/>
              </a:rPr>
              <a:t>Discard</a:t>
            </a:r>
          </a:p>
        </p:txBody>
      </p:sp>
      <p:sp>
        <p:nvSpPr>
          <p:cNvPr id="9" name="Rectangle 8">
            <a:extLst>
              <a:ext uri="{FF2B5EF4-FFF2-40B4-BE49-F238E27FC236}">
                <a16:creationId xmlns:a16="http://schemas.microsoft.com/office/drawing/2014/main" id="{744E57A6-9E79-4B78-BFA9-F25B7582B998}"/>
              </a:ext>
            </a:extLst>
          </p:cNvPr>
          <p:cNvSpPr>
            <a:spLocks noGrp="1"/>
          </p:cNvSpPr>
          <p:nvPr/>
        </p:nvSpPr>
        <p:spPr>
          <a:xfrm>
            <a:off x="1562100" y="2447925"/>
            <a:ext cx="4000500" cy="533400"/>
          </a:xfrm>
          <a:prstGeom prst="rect">
            <a:avLst/>
          </a:prstGeom>
          <a:noFill/>
          <a:ln w="0">
            <a:noFill/>
            <a:prstDash val="solid"/>
          </a:ln>
        </p:spPr>
        <p:txBody>
          <a:bodyPr anchor="t">
            <a:normAutofit fontScale="95143" lnSpcReduction="10000"/>
          </a:bodyPr>
          <a:lstStyle/>
          <a:p>
            <a:pPr algn="l">
              <a:buNone/>
              <a:defRPr sz="1650" b="0" i="0">
                <a:solidFill>
                  <a:srgbClr val="000000"/>
                </a:solidFill>
                <a:latin typeface="Helvetica Neue"/>
                <a:ea typeface="Helvetica Neue"/>
                <a:cs typeface="Helvetica Neue"/>
              </a:defRPr>
            </a:pPr>
            <a:r>
              <a:rPr sz="1650" b="0" i="0">
                <a:solidFill>
                  <a:srgbClr val="000000"/>
                </a:solidFill>
                <a:latin typeface="Helvetica Neue"/>
                <a:ea typeface="Helvetica Neue"/>
                <a:cs typeface="Helvetica Neue"/>
              </a:rPr>
              <a:t>identities, connected correlations, histories</a:t>
            </a:r>
          </a:p>
        </p:txBody>
      </p:sp>
      <p:sp>
        <p:nvSpPr>
          <p:cNvPr id="10" name="Rectangle 9">
            <a:extLst>
              <a:ext uri="{FF2B5EF4-FFF2-40B4-BE49-F238E27FC236}">
                <a16:creationId xmlns:a16="http://schemas.microsoft.com/office/drawing/2014/main" id="{E23A8AD3-AC6D-441A-97BA-7C83CF0313EB}"/>
              </a:ext>
            </a:extLst>
          </p:cNvPr>
          <p:cNvSpPr>
            <a:spLocks noGrp="1"/>
          </p:cNvSpPr>
          <p:nvPr/>
        </p:nvSpPr>
        <p:spPr>
          <a:xfrm>
            <a:off x="400050" y="3209925"/>
            <a:ext cx="952500" cy="266700"/>
          </a:xfrm>
          <a:prstGeom prst="rect">
            <a:avLst/>
          </a:prstGeom>
          <a:noFill/>
          <a:ln w="0">
            <a:noFill/>
            <a:prstDash val="solid"/>
          </a:ln>
        </p:spPr>
        <p:txBody>
          <a:bodyPr anchor="t">
            <a:normAutofit fontScale="85185"/>
          </a:bodyPr>
          <a:lstStyle/>
          <a:p>
            <a:pPr algn="l">
              <a:buNone/>
              <a:defRPr sz="1350" b="1" i="0">
                <a:solidFill>
                  <a:srgbClr val="000000"/>
                </a:solidFill>
                <a:latin typeface="Helvetica Neue"/>
                <a:ea typeface="Helvetica Neue"/>
                <a:cs typeface="Helvetica Neue"/>
              </a:defRPr>
            </a:pPr>
            <a:r>
              <a:rPr sz="1350" b="1" i="0">
                <a:solidFill>
                  <a:srgbClr val="000000"/>
                </a:solidFill>
                <a:latin typeface="Helvetica Neue"/>
                <a:ea typeface="Helvetica Neue"/>
                <a:cs typeface="Helvetica Neue"/>
              </a:rPr>
              <a:t>Targets</a:t>
            </a:r>
          </a:p>
        </p:txBody>
      </p:sp>
      <p:sp>
        <p:nvSpPr>
          <p:cNvPr id="11" name="Rectangle 10">
            <a:extLst>
              <a:ext uri="{FF2B5EF4-FFF2-40B4-BE49-F238E27FC236}">
                <a16:creationId xmlns:a16="http://schemas.microsoft.com/office/drawing/2014/main" id="{6B43CF3D-ED9C-4733-A992-E6583E5C41A6}"/>
              </a:ext>
            </a:extLst>
          </p:cNvPr>
          <p:cNvSpPr>
            <a:spLocks noGrp="1"/>
          </p:cNvSpPr>
          <p:nvPr/>
        </p:nvSpPr>
        <p:spPr>
          <a:xfrm>
            <a:off x="1562100" y="3209925"/>
            <a:ext cx="4000500" cy="666750"/>
          </a:xfrm>
          <a:prstGeom prst="rect">
            <a:avLst/>
          </a:prstGeom>
          <a:noFill/>
          <a:ln w="0">
            <a:noFill/>
            <a:prstDash val="solid"/>
          </a:ln>
        </p:spPr>
        <p:txBody>
          <a:bodyPr anchor="t">
            <a:normAutofit/>
          </a:bodyPr>
          <a:lstStyle/>
          <a:p>
            <a:pPr algn="l">
              <a:buNone/>
              <a:defRPr sz="1650" b="0" i="0">
                <a:solidFill>
                  <a:srgbClr val="000000"/>
                </a:solidFill>
                <a:latin typeface="Helvetica Neue"/>
                <a:ea typeface="Helvetica Neue"/>
                <a:cs typeface="Helvetica Neue"/>
              </a:defRPr>
            </a:pPr>
            <a:r>
              <a:rPr sz="1650" b="0" i="0">
                <a:solidFill>
                  <a:srgbClr val="000000"/>
                </a:solidFill>
                <a:latin typeface="Helvetica Neue"/>
                <a:ea typeface="Helvetica Neue"/>
                <a:cs typeface="Helvetica Neue"/>
              </a:rPr>
              <a:t>correlation / collision residual, projected cumulants, memory</a:t>
            </a:r>
          </a:p>
        </p:txBody>
      </p:sp>
      <p:sp>
        <p:nvSpPr>
          <p:cNvPr id="12" name="Rectangle 11">
            <a:extLst>
              <a:ext uri="{FF2B5EF4-FFF2-40B4-BE49-F238E27FC236}">
                <a16:creationId xmlns:a16="http://schemas.microsoft.com/office/drawing/2014/main" id="{06588172-669C-49E9-8D97-BF285598E10C}"/>
              </a:ext>
            </a:extLst>
          </p:cNvPr>
          <p:cNvSpPr>
            <a:spLocks noGrp="1"/>
          </p:cNvSpPr>
          <p:nvPr/>
        </p:nvSpPr>
        <p:spPr>
          <a:xfrm>
            <a:off x="400050" y="4162425"/>
            <a:ext cx="952500" cy="266700"/>
          </a:xfrm>
          <a:prstGeom prst="rect">
            <a:avLst/>
          </a:prstGeom>
          <a:noFill/>
          <a:ln w="0">
            <a:noFill/>
            <a:prstDash val="solid"/>
          </a:ln>
        </p:spPr>
        <p:txBody>
          <a:bodyPr anchor="t">
            <a:normAutofit fontScale="85185"/>
          </a:bodyPr>
          <a:lstStyle/>
          <a:p>
            <a:pPr algn="l">
              <a:buNone/>
              <a:defRPr sz="1350" b="1" i="0">
                <a:solidFill>
                  <a:srgbClr val="000000"/>
                </a:solidFill>
                <a:latin typeface="Helvetica Neue"/>
                <a:ea typeface="Helvetica Neue"/>
                <a:cs typeface="Helvetica Neue"/>
              </a:defRPr>
            </a:pPr>
            <a:r>
              <a:rPr sz="1350" b="1" i="0">
                <a:solidFill>
                  <a:srgbClr val="000000"/>
                </a:solidFill>
                <a:latin typeface="Helvetica Neue"/>
                <a:ea typeface="Helvetica Neue"/>
                <a:cs typeface="Helvetica Neue"/>
              </a:rPr>
              <a:t>Tests</a:t>
            </a:r>
          </a:p>
        </p:txBody>
      </p:sp>
      <p:sp>
        <p:nvSpPr>
          <p:cNvPr id="13" name="Rectangle 12">
            <a:extLst>
              <a:ext uri="{FF2B5EF4-FFF2-40B4-BE49-F238E27FC236}">
                <a16:creationId xmlns:a16="http://schemas.microsoft.com/office/drawing/2014/main" id="{ABCCD0A9-997E-4AA0-9DFC-85D7E1EEB665}"/>
              </a:ext>
            </a:extLst>
          </p:cNvPr>
          <p:cNvSpPr>
            <a:spLocks noGrp="1"/>
          </p:cNvSpPr>
          <p:nvPr/>
        </p:nvSpPr>
        <p:spPr>
          <a:xfrm>
            <a:off x="1562100" y="4162425"/>
            <a:ext cx="4000500" cy="666750"/>
          </a:xfrm>
          <a:prstGeom prst="rect">
            <a:avLst/>
          </a:prstGeom>
          <a:noFill/>
          <a:ln w="0">
            <a:noFill/>
            <a:prstDash val="solid"/>
          </a:ln>
        </p:spPr>
        <p:txBody>
          <a:bodyPr anchor="t">
            <a:normAutofit/>
          </a:bodyPr>
          <a:lstStyle/>
          <a:p>
            <a:pPr algn="l">
              <a:buNone/>
              <a:defRPr sz="1650" b="0" i="0">
                <a:solidFill>
                  <a:srgbClr val="000000"/>
                </a:solidFill>
                <a:latin typeface="Helvetica Neue"/>
                <a:ea typeface="Helvetica Neue"/>
                <a:cs typeface="Helvetica Neue"/>
              </a:defRPr>
            </a:pPr>
            <a:r>
              <a:rPr sz="1650" b="0" i="0">
                <a:solidFill>
                  <a:srgbClr val="000000"/>
                </a:solidFill>
                <a:latin typeface="Helvetica Neue"/>
                <a:ea typeface="Helvetica Neue"/>
                <a:cs typeface="Helvetica Neue"/>
              </a:rPr>
              <a:t>distributions, modes, transport, factorization, kinetic rollout</a:t>
            </a:r>
          </a:p>
        </p:txBody>
      </p:sp>
      <p:sp>
        <p:nvSpPr>
          <p:cNvPr id="14" name="Rectangle 13">
            <a:extLst>
              <a:ext uri="{FF2B5EF4-FFF2-40B4-BE49-F238E27FC236}">
                <a16:creationId xmlns:a16="http://schemas.microsoft.com/office/drawing/2014/main" id="{41EC728D-073F-4F6A-8A26-327B8947659F}"/>
              </a:ext>
            </a:extLst>
          </p:cNvPr>
          <p:cNvSpPr>
            <a:spLocks noGrp="1"/>
          </p:cNvSpPr>
          <p:nvPr/>
        </p:nvSpPr>
        <p:spPr>
          <a:xfrm>
            <a:off x="5962650" y="1438275"/>
            <a:ext cx="9525" cy="3810000"/>
          </a:xfrm>
          <a:prstGeom prst="rect">
            <a:avLst/>
          </a:prstGeom>
          <a:solidFill>
            <a:srgbClr val="B8BCC4"/>
          </a:solidFill>
          <a:ln w="0">
            <a:solidFill>
              <a:srgbClr val="B8BCC4"/>
            </a:solidFill>
            <a:prstDash val="solid"/>
          </a:ln>
        </p:spPr>
        <p:txBody>
          <a:bodyPr/>
          <a:lstStyle/>
          <a:p>
            <a:endParaRPr lang="en-US"/>
          </a:p>
        </p:txBody>
      </p:sp>
      <p:sp>
        <p:nvSpPr>
          <p:cNvPr id="15" name="Rectangle 14">
            <a:extLst>
              <a:ext uri="{FF2B5EF4-FFF2-40B4-BE49-F238E27FC236}">
                <a16:creationId xmlns:a16="http://schemas.microsoft.com/office/drawing/2014/main" id="{F57B316B-6B41-42B5-A71A-7CCF5B56353D}"/>
              </a:ext>
            </a:extLst>
          </p:cNvPr>
          <p:cNvSpPr>
            <a:spLocks noGrp="1"/>
          </p:cNvSpPr>
          <p:nvPr/>
        </p:nvSpPr>
        <p:spPr>
          <a:xfrm>
            <a:off x="6534150" y="1485900"/>
            <a:ext cx="4762500" cy="285750"/>
          </a:xfrm>
          <a:prstGeom prst="rect">
            <a:avLst/>
          </a:prstGeom>
          <a:noFill/>
          <a:ln w="0">
            <a:noFill/>
            <a:prstDash val="solid"/>
          </a:ln>
        </p:spPr>
        <p:txBody>
          <a:bodyPr anchor="t">
            <a:normAutofit fontScale="94444" lnSpcReduction="10000"/>
          </a:bodyPr>
          <a:lstStyle/>
          <a:p>
            <a:pPr algn="l">
              <a:buNone/>
              <a:defRPr sz="1350" b="1" i="0">
                <a:solidFill>
                  <a:srgbClr val="18AEB5"/>
                </a:solidFill>
                <a:latin typeface="Helvetica Neue"/>
                <a:ea typeface="Helvetica Neue"/>
                <a:cs typeface="Helvetica Neue"/>
              </a:defRPr>
            </a:pPr>
            <a:r>
              <a:rPr sz="1350" b="1" i="0">
                <a:solidFill>
                  <a:srgbClr val="18AEB5"/>
                </a:solidFill>
                <a:latin typeface="Helvetica Neue"/>
                <a:ea typeface="Helvetica Neue"/>
                <a:cs typeface="Helvetica Neue"/>
              </a:rPr>
              <a:t>KINETIC → MOMENTS</a:t>
            </a:r>
          </a:p>
        </p:txBody>
      </p:sp>
      <p:sp>
        <p:nvSpPr>
          <p:cNvPr id="16" name="Rectangle 15">
            <a:extLst>
              <a:ext uri="{FF2B5EF4-FFF2-40B4-BE49-F238E27FC236}">
                <a16:creationId xmlns:a16="http://schemas.microsoft.com/office/drawing/2014/main" id="{3938BDD9-4099-40BD-B60D-D829B0341531}"/>
              </a:ext>
            </a:extLst>
          </p:cNvPr>
          <p:cNvSpPr>
            <a:spLocks noGrp="1"/>
          </p:cNvSpPr>
          <p:nvPr/>
        </p:nvSpPr>
        <p:spPr>
          <a:xfrm>
            <a:off x="6534150" y="1952625"/>
            <a:ext cx="952500" cy="266700"/>
          </a:xfrm>
          <a:prstGeom prst="rect">
            <a:avLst/>
          </a:prstGeom>
          <a:noFill/>
          <a:ln w="0">
            <a:noFill/>
            <a:prstDash val="solid"/>
          </a:ln>
        </p:spPr>
        <p:txBody>
          <a:bodyPr anchor="t">
            <a:normAutofit fontScale="85185"/>
          </a:bodyPr>
          <a:lstStyle/>
          <a:p>
            <a:pPr algn="l">
              <a:buNone/>
              <a:defRPr sz="1350" b="1" i="0">
                <a:solidFill>
                  <a:srgbClr val="000000"/>
                </a:solidFill>
                <a:latin typeface="Helvetica Neue"/>
                <a:ea typeface="Helvetica Neue"/>
                <a:cs typeface="Helvetica Neue"/>
              </a:defRPr>
            </a:pPr>
            <a:r>
              <a:rPr sz="1350" b="1" i="0">
                <a:solidFill>
                  <a:srgbClr val="000000"/>
                </a:solidFill>
                <a:latin typeface="Helvetica Neue"/>
                <a:ea typeface="Helvetica Neue"/>
                <a:cs typeface="Helvetica Neue"/>
              </a:rPr>
              <a:t>Retain</a:t>
            </a:r>
          </a:p>
        </p:txBody>
      </p:sp>
      <p:sp>
        <p:nvSpPr>
          <p:cNvPr id="17" name="Rectangle 16">
            <a:extLst>
              <a:ext uri="{FF2B5EF4-FFF2-40B4-BE49-F238E27FC236}">
                <a16:creationId xmlns:a16="http://schemas.microsoft.com/office/drawing/2014/main" id="{2D671686-EAB9-4661-A42E-360A9A52C0BA}"/>
              </a:ext>
            </a:extLst>
          </p:cNvPr>
          <p:cNvSpPr>
            <a:spLocks noGrp="1"/>
          </p:cNvSpPr>
          <p:nvPr/>
        </p:nvSpPr>
        <p:spPr>
          <a:xfrm>
            <a:off x="7696200" y="1952625"/>
            <a:ext cx="3810000" cy="533400"/>
          </a:xfrm>
          <a:prstGeom prst="rect">
            <a:avLst/>
          </a:prstGeom>
          <a:noFill/>
          <a:ln w="0">
            <a:noFill/>
            <a:prstDash val="solid"/>
          </a:ln>
        </p:spPr>
        <p:txBody>
          <a:bodyPr anchor="t">
            <a:normAutofit fontScale="87879" lnSpcReduction="10000"/>
          </a:bodyPr>
          <a:lstStyle/>
          <a:p>
            <a:pPr algn="l">
              <a:buNone/>
              <a:defRPr sz="1650" b="0" i="0">
                <a:solidFill>
                  <a:srgbClr val="000000"/>
                </a:solidFill>
                <a:latin typeface="Helvetica Neue"/>
                <a:ea typeface="Helvetica Neue"/>
                <a:cs typeface="Helvetica Neue"/>
              </a:defRPr>
            </a:pPr>
            <a:r>
              <a:rPr sz="1650" b="0" i="0">
                <a:solidFill>
                  <a:srgbClr val="000000"/>
                </a:solidFill>
                <a:latin typeface="Helvetica Neue"/>
                <a:ea typeface="Helvetica Neue"/>
                <a:cs typeface="Helvetica Neue"/>
              </a:rPr>
              <a:t>density, momentum, energy, chosen moments</a:t>
            </a:r>
          </a:p>
        </p:txBody>
      </p:sp>
      <p:sp>
        <p:nvSpPr>
          <p:cNvPr id="18" name="Rectangle 17">
            <a:extLst>
              <a:ext uri="{FF2B5EF4-FFF2-40B4-BE49-F238E27FC236}">
                <a16:creationId xmlns:a16="http://schemas.microsoft.com/office/drawing/2014/main" id="{B0CC67D7-0919-45A2-83ED-F24212E6807E}"/>
              </a:ext>
            </a:extLst>
          </p:cNvPr>
          <p:cNvSpPr>
            <a:spLocks noGrp="1"/>
          </p:cNvSpPr>
          <p:nvPr/>
        </p:nvSpPr>
        <p:spPr>
          <a:xfrm>
            <a:off x="6534150" y="2714625"/>
            <a:ext cx="952500" cy="266700"/>
          </a:xfrm>
          <a:prstGeom prst="rect">
            <a:avLst/>
          </a:prstGeom>
          <a:noFill/>
          <a:ln w="0">
            <a:noFill/>
            <a:prstDash val="solid"/>
          </a:ln>
        </p:spPr>
        <p:txBody>
          <a:bodyPr anchor="t">
            <a:normAutofit fontScale="85185"/>
          </a:bodyPr>
          <a:lstStyle/>
          <a:p>
            <a:pPr algn="l">
              <a:buNone/>
              <a:defRPr sz="1350" b="1" i="0">
                <a:solidFill>
                  <a:srgbClr val="000000"/>
                </a:solidFill>
                <a:latin typeface="Helvetica Neue"/>
                <a:ea typeface="Helvetica Neue"/>
                <a:cs typeface="Helvetica Neue"/>
              </a:defRPr>
            </a:pPr>
            <a:r>
              <a:rPr sz="1350" b="1" i="0">
                <a:solidFill>
                  <a:srgbClr val="000000"/>
                </a:solidFill>
                <a:latin typeface="Helvetica Neue"/>
                <a:ea typeface="Helvetica Neue"/>
                <a:cs typeface="Helvetica Neue"/>
              </a:rPr>
              <a:t>Discard</a:t>
            </a:r>
          </a:p>
        </p:txBody>
      </p:sp>
      <p:sp>
        <p:nvSpPr>
          <p:cNvPr id="19" name="Rectangle 18">
            <a:extLst>
              <a:ext uri="{FF2B5EF4-FFF2-40B4-BE49-F238E27FC236}">
                <a16:creationId xmlns:a16="http://schemas.microsoft.com/office/drawing/2014/main" id="{C02E0F2C-3B4C-42AC-9572-95053A9AE896}"/>
              </a:ext>
            </a:extLst>
          </p:cNvPr>
          <p:cNvSpPr>
            <a:spLocks noGrp="1"/>
          </p:cNvSpPr>
          <p:nvPr/>
        </p:nvSpPr>
        <p:spPr>
          <a:xfrm>
            <a:off x="7696200" y="2714625"/>
            <a:ext cx="3810000" cy="666750"/>
          </a:xfrm>
          <a:prstGeom prst="rect">
            <a:avLst/>
          </a:prstGeom>
          <a:noFill/>
          <a:ln w="0">
            <a:noFill/>
            <a:prstDash val="solid"/>
          </a:ln>
        </p:spPr>
        <p:txBody>
          <a:bodyPr anchor="t">
            <a:normAutofit/>
          </a:bodyPr>
          <a:lstStyle/>
          <a:p>
            <a:pPr algn="l">
              <a:buNone/>
              <a:defRPr sz="1650" b="0" i="0">
                <a:solidFill>
                  <a:srgbClr val="000000"/>
                </a:solidFill>
                <a:latin typeface="Helvetica Neue"/>
                <a:ea typeface="Helvetica Neue"/>
                <a:cs typeface="Helvetica Neue"/>
              </a:defRPr>
            </a:pPr>
            <a:r>
              <a:rPr sz="1650" b="0" i="0">
                <a:solidFill>
                  <a:srgbClr val="000000"/>
                </a:solidFill>
                <a:latin typeface="Helvetica Neue"/>
                <a:ea typeface="Helvetica Neue"/>
                <a:cs typeface="Helvetica Neue"/>
              </a:rPr>
              <a:t>velocity-space tails, higher moments, relaxation history</a:t>
            </a:r>
          </a:p>
        </p:txBody>
      </p:sp>
      <p:sp>
        <p:nvSpPr>
          <p:cNvPr id="20" name="Rectangle 19">
            <a:extLst>
              <a:ext uri="{FF2B5EF4-FFF2-40B4-BE49-F238E27FC236}">
                <a16:creationId xmlns:a16="http://schemas.microsoft.com/office/drawing/2014/main" id="{B2AD43E4-07B8-4EF6-8E83-EF7A188AB9C3}"/>
              </a:ext>
            </a:extLst>
          </p:cNvPr>
          <p:cNvSpPr>
            <a:spLocks noGrp="1"/>
          </p:cNvSpPr>
          <p:nvPr/>
        </p:nvSpPr>
        <p:spPr>
          <a:xfrm>
            <a:off x="6534150" y="3667125"/>
            <a:ext cx="952500" cy="266700"/>
          </a:xfrm>
          <a:prstGeom prst="rect">
            <a:avLst/>
          </a:prstGeom>
          <a:noFill/>
          <a:ln w="0">
            <a:noFill/>
            <a:prstDash val="solid"/>
          </a:ln>
        </p:spPr>
        <p:txBody>
          <a:bodyPr anchor="t">
            <a:normAutofit fontScale="85185"/>
          </a:bodyPr>
          <a:lstStyle/>
          <a:p>
            <a:pPr algn="l">
              <a:buNone/>
              <a:defRPr sz="1350" b="1" i="0">
                <a:solidFill>
                  <a:srgbClr val="000000"/>
                </a:solidFill>
                <a:latin typeface="Helvetica Neue"/>
                <a:ea typeface="Helvetica Neue"/>
                <a:cs typeface="Helvetica Neue"/>
              </a:defRPr>
            </a:pPr>
            <a:r>
              <a:rPr sz="1350" b="1" i="0">
                <a:solidFill>
                  <a:srgbClr val="000000"/>
                </a:solidFill>
                <a:latin typeface="Helvetica Neue"/>
                <a:ea typeface="Helvetica Neue"/>
                <a:cs typeface="Helvetica Neue"/>
              </a:rPr>
              <a:t>Targets</a:t>
            </a:r>
          </a:p>
        </p:txBody>
      </p:sp>
      <p:sp>
        <p:nvSpPr>
          <p:cNvPr id="21" name="Rectangle 20">
            <a:extLst>
              <a:ext uri="{FF2B5EF4-FFF2-40B4-BE49-F238E27FC236}">
                <a16:creationId xmlns:a16="http://schemas.microsoft.com/office/drawing/2014/main" id="{20735BF7-C0D8-4077-BD89-D597D799D755}"/>
              </a:ext>
            </a:extLst>
          </p:cNvPr>
          <p:cNvSpPr>
            <a:spLocks noGrp="1"/>
          </p:cNvSpPr>
          <p:nvPr/>
        </p:nvSpPr>
        <p:spPr>
          <a:xfrm>
            <a:off x="7696200" y="3667125"/>
            <a:ext cx="3810000" cy="533400"/>
          </a:xfrm>
          <a:prstGeom prst="rect">
            <a:avLst/>
          </a:prstGeom>
          <a:noFill/>
          <a:ln w="0">
            <a:noFill/>
            <a:prstDash val="solid"/>
          </a:ln>
        </p:spPr>
        <p:txBody>
          <a:bodyPr anchor="t">
            <a:normAutofit fontScale="94430" lnSpcReduction="10000"/>
          </a:bodyPr>
          <a:lstStyle/>
          <a:p>
            <a:pPr algn="l">
              <a:buNone/>
              <a:defRPr sz="1650" b="0" i="0">
                <a:solidFill>
                  <a:srgbClr val="000000"/>
                </a:solidFill>
                <a:latin typeface="Helvetica Neue"/>
                <a:ea typeface="Helvetica Neue"/>
                <a:cs typeface="Helvetica Neue"/>
              </a:defRPr>
            </a:pPr>
            <a:r>
              <a:rPr sz="1650" b="0" i="0">
                <a:solidFill>
                  <a:srgbClr val="000000"/>
                </a:solidFill>
                <a:latin typeface="Helvetica Neue"/>
                <a:ea typeface="Helvetica Neue"/>
                <a:cs typeface="Helvetica Neue"/>
              </a:rPr>
              <a:t>stress, heat flux, production and memory</a:t>
            </a:r>
          </a:p>
        </p:txBody>
      </p:sp>
      <p:sp>
        <p:nvSpPr>
          <p:cNvPr id="22" name="Rectangle 21">
            <a:extLst>
              <a:ext uri="{FF2B5EF4-FFF2-40B4-BE49-F238E27FC236}">
                <a16:creationId xmlns:a16="http://schemas.microsoft.com/office/drawing/2014/main" id="{978A0103-4727-4A8F-B8B1-2B909ABEF469}"/>
              </a:ext>
            </a:extLst>
          </p:cNvPr>
          <p:cNvSpPr>
            <a:spLocks noGrp="1"/>
          </p:cNvSpPr>
          <p:nvPr/>
        </p:nvSpPr>
        <p:spPr>
          <a:xfrm>
            <a:off x="6534150" y="4429125"/>
            <a:ext cx="952500" cy="266700"/>
          </a:xfrm>
          <a:prstGeom prst="rect">
            <a:avLst/>
          </a:prstGeom>
          <a:noFill/>
          <a:ln w="0">
            <a:noFill/>
            <a:prstDash val="solid"/>
          </a:ln>
        </p:spPr>
        <p:txBody>
          <a:bodyPr anchor="t">
            <a:normAutofit fontScale="85185"/>
          </a:bodyPr>
          <a:lstStyle/>
          <a:p>
            <a:pPr algn="l">
              <a:buNone/>
              <a:defRPr sz="1350" b="1" i="0">
                <a:solidFill>
                  <a:srgbClr val="000000"/>
                </a:solidFill>
                <a:latin typeface="Helvetica Neue"/>
                <a:ea typeface="Helvetica Neue"/>
                <a:cs typeface="Helvetica Neue"/>
              </a:defRPr>
            </a:pPr>
            <a:r>
              <a:rPr sz="1350" b="1" i="0">
                <a:solidFill>
                  <a:srgbClr val="000000"/>
                </a:solidFill>
                <a:latin typeface="Helvetica Neue"/>
                <a:ea typeface="Helvetica Neue"/>
                <a:cs typeface="Helvetica Neue"/>
              </a:rPr>
              <a:t>Tests</a:t>
            </a:r>
          </a:p>
        </p:txBody>
      </p:sp>
      <p:sp>
        <p:nvSpPr>
          <p:cNvPr id="23" name="Rectangle 22">
            <a:extLst>
              <a:ext uri="{FF2B5EF4-FFF2-40B4-BE49-F238E27FC236}">
                <a16:creationId xmlns:a16="http://schemas.microsoft.com/office/drawing/2014/main" id="{7D5D15F1-39D5-4CF4-9833-82E3E0653DA5}"/>
              </a:ext>
            </a:extLst>
          </p:cNvPr>
          <p:cNvSpPr>
            <a:spLocks noGrp="1"/>
          </p:cNvSpPr>
          <p:nvPr/>
        </p:nvSpPr>
        <p:spPr>
          <a:xfrm>
            <a:off x="7696200" y="4429125"/>
            <a:ext cx="3810000" cy="666750"/>
          </a:xfrm>
          <a:prstGeom prst="rect">
            <a:avLst/>
          </a:prstGeom>
          <a:noFill/>
          <a:ln w="0">
            <a:noFill/>
            <a:prstDash val="solid"/>
          </a:ln>
        </p:spPr>
        <p:txBody>
          <a:bodyPr anchor="t">
            <a:normAutofit fontScale="98061"/>
          </a:bodyPr>
          <a:lstStyle/>
          <a:p>
            <a:pPr algn="l">
              <a:buNone/>
              <a:defRPr sz="1650" b="0" i="0">
                <a:solidFill>
                  <a:srgbClr val="000000"/>
                </a:solidFill>
                <a:latin typeface="Helvetica Neue"/>
                <a:ea typeface="Helvetica Neue"/>
                <a:cs typeface="Helvetica Neue"/>
              </a:defRPr>
            </a:pPr>
            <a:r>
              <a:rPr sz="1650" b="0" i="0">
                <a:solidFill>
                  <a:srgbClr val="000000"/>
                </a:solidFill>
                <a:latin typeface="Helvetica Neue"/>
                <a:ea typeface="Helvetica Neue"/>
                <a:cs typeface="Helvetica Neue"/>
              </a:rPr>
              <a:t>realizability, hyperbolicity, conservation, entropy, embedded rollout</a:t>
            </a:r>
          </a:p>
        </p:txBody>
      </p:sp>
      <p:sp>
        <p:nvSpPr>
          <p:cNvPr id="24" name="Rectangle 23">
            <a:extLst>
              <a:ext uri="{FF2B5EF4-FFF2-40B4-BE49-F238E27FC236}">
                <a16:creationId xmlns:a16="http://schemas.microsoft.com/office/drawing/2014/main" id="{B4E2B429-DDE2-4D7B-8F2F-02BA171861A8}"/>
              </a:ext>
            </a:extLst>
          </p:cNvPr>
          <p:cNvSpPr>
            <a:spLocks noGrp="1"/>
          </p:cNvSpPr>
          <p:nvPr/>
        </p:nvSpPr>
        <p:spPr>
          <a:xfrm>
            <a:off x="1390650" y="5657850"/>
            <a:ext cx="9410700" cy="400050"/>
          </a:xfrm>
          <a:prstGeom prst="rect">
            <a:avLst/>
          </a:prstGeom>
          <a:noFill/>
          <a:ln w="0">
            <a:noFill/>
            <a:prstDash val="solid"/>
          </a:ln>
        </p:spPr>
        <p:txBody>
          <a:bodyPr anchor="t">
            <a:normAutofit fontScale="94019"/>
          </a:bodyPr>
          <a:lstStyle/>
          <a:p>
            <a:pPr algn="ctr">
              <a:buNone/>
              <a:defRPr sz="1725" b="1" i="0">
                <a:solidFill>
                  <a:srgbClr val="143A72"/>
                </a:solidFill>
                <a:latin typeface="Helvetica Neue"/>
                <a:ea typeface="Helvetica Neue"/>
                <a:cs typeface="Helvetica Neue"/>
              </a:defRPr>
            </a:pPr>
            <a:r>
              <a:rPr sz="1725" b="1" i="0">
                <a:solidFill>
                  <a:srgbClr val="143A72"/>
                </a:solidFill>
                <a:latin typeface="Helvetica Neue"/>
                <a:ea typeface="Helvetica Neue"/>
                <a:cs typeface="Helvetica Neue"/>
              </a:rPr>
              <a:t>Interaction learning becomes multiscale closure when its ensembles feed the next reductions.</a:t>
            </a:r>
          </a:p>
        </p:txBody>
      </p:sp>
    </p:spTree>
    <p:extLst>
      <p:ext uri="{BB962C8B-B14F-4D97-AF65-F5344CB8AC3E}">
        <p14:creationId xmlns:p14="http://schemas.microsoft.com/office/powerpoint/2010/main" val="13348983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58C4AF00-6221-42C0-B9E0-A33A4945B82F}"/>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49A196B9-16E5-470F-A95E-6A9FE3551796}"/>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dirty="0">
                <a:solidFill>
                  <a:srgbClr val="000000"/>
                </a:solidFill>
                <a:latin typeface="Helvetica Neue"/>
                <a:ea typeface="Helvetica Neue"/>
                <a:cs typeface="Helvetica Neue"/>
              </a:rPr>
              <a:t>Four bake-offs </a:t>
            </a:r>
            <a:r>
              <a:rPr lang="en-US" sz="2925" b="1" i="0" dirty="0">
                <a:solidFill>
                  <a:srgbClr val="000000"/>
                </a:solidFill>
                <a:latin typeface="Helvetica Neue"/>
                <a:ea typeface="Helvetica Neue"/>
                <a:cs typeface="Helvetica Neue"/>
              </a:rPr>
              <a:t>linked by logic &amp; data </a:t>
            </a:r>
            <a:r>
              <a:rPr sz="2925" b="1" i="0" dirty="0">
                <a:solidFill>
                  <a:srgbClr val="000000"/>
                </a:solidFill>
                <a:latin typeface="Helvetica Neue"/>
                <a:ea typeface="Helvetica Neue"/>
                <a:cs typeface="Helvetica Neue"/>
              </a:rPr>
              <a:t>make one program</a:t>
            </a:r>
          </a:p>
        </p:txBody>
      </p:sp>
      <p:cxnSp>
        <p:nvCxnSpPr>
          <p:cNvPr id="36" name="Straight Arrow Connector 35"/>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3BCC6CE9-C380-4E13-80D9-CDDD6DA0BC63}"/>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14</a:t>
            </a:r>
          </a:p>
        </p:txBody>
      </p:sp>
      <p:cxnSp>
        <p:nvCxnSpPr>
          <p:cNvPr id="38" name="Straight Arrow Connector 37"/>
          <p:cNvCxnSpPr/>
          <p:nvPr/>
        </p:nvCxnSpPr>
        <p:spPr>
          <a:xfrm>
            <a:off x="990600" y="2886075"/>
            <a:ext cx="9715500" cy="953"/>
          </a:xfrm>
          <a:prstGeom prst="straightConnector1">
            <a:avLst/>
          </a:prstGeom>
          <a:ln w="19050">
            <a:solidFill>
              <a:srgbClr val="000000"/>
            </a:solidFill>
            <a:prstDash val="solid"/>
          </a:ln>
        </p:spPr>
      </p:cxnSp>
      <p:sp>
        <p:nvSpPr>
          <p:cNvPr id="6" name="Oval 5">
            <a:extLst>
              <a:ext uri="{FF2B5EF4-FFF2-40B4-BE49-F238E27FC236}">
                <a16:creationId xmlns:a16="http://schemas.microsoft.com/office/drawing/2014/main" id="{C2992271-44A2-4A10-A1B5-C2862E208ED2}"/>
              </a:ext>
            </a:extLst>
          </p:cNvPr>
          <p:cNvSpPr>
            <a:spLocks noGrp="1"/>
          </p:cNvSpPr>
          <p:nvPr/>
        </p:nvSpPr>
        <p:spPr>
          <a:xfrm>
            <a:off x="990600" y="2724150"/>
            <a:ext cx="323850" cy="323850"/>
          </a:xfrm>
          <a:prstGeom prst="ellipse">
            <a:avLst/>
          </a:prstGeom>
          <a:solidFill>
            <a:srgbClr val="F06A3C"/>
          </a:solidFill>
          <a:ln w="9525">
            <a:solidFill>
              <a:srgbClr val="FFFFFF"/>
            </a:solidFill>
            <a:prstDash val="solid"/>
          </a:ln>
        </p:spPr>
        <p:txBody>
          <a:bodyPr/>
          <a:lstStyle/>
          <a:p>
            <a:endParaRPr lang="en-US"/>
          </a:p>
        </p:txBody>
      </p:sp>
      <p:sp>
        <p:nvSpPr>
          <p:cNvPr id="7" name="Rectangle 6">
            <a:extLst>
              <a:ext uri="{FF2B5EF4-FFF2-40B4-BE49-F238E27FC236}">
                <a16:creationId xmlns:a16="http://schemas.microsoft.com/office/drawing/2014/main" id="{B839F183-1A50-4F6C-A85C-066EBF45EFC9}"/>
              </a:ext>
            </a:extLst>
          </p:cNvPr>
          <p:cNvSpPr>
            <a:spLocks noGrp="1"/>
          </p:cNvSpPr>
          <p:nvPr/>
        </p:nvSpPr>
        <p:spPr>
          <a:xfrm>
            <a:off x="990600" y="2771775"/>
            <a:ext cx="323850" cy="238125"/>
          </a:xfrm>
          <a:prstGeom prst="rect">
            <a:avLst/>
          </a:prstGeom>
          <a:noFill/>
          <a:ln w="0">
            <a:noFill/>
            <a:prstDash val="solid"/>
          </a:ln>
        </p:spPr>
        <p:txBody>
          <a:bodyPr anchor="t">
            <a:noAutofit/>
          </a:bodyPr>
          <a:lstStyle/>
          <a:p>
            <a:pPr algn="ctr">
              <a:buNone/>
              <a:defRPr sz="1350" b="1" i="0">
                <a:solidFill>
                  <a:srgbClr val="FFFFFF"/>
                </a:solidFill>
                <a:latin typeface="Helvetica Neue"/>
                <a:ea typeface="Helvetica Neue"/>
                <a:cs typeface="Helvetica Neue"/>
              </a:defRPr>
            </a:pPr>
            <a:r>
              <a:rPr sz="1350" b="1" i="0">
                <a:solidFill>
                  <a:srgbClr val="FFFFFF"/>
                </a:solidFill>
                <a:latin typeface="Helvetica Neue"/>
                <a:ea typeface="Helvetica Neue"/>
                <a:cs typeface="Helvetica Neue"/>
              </a:rPr>
              <a:t>1</a:t>
            </a:r>
          </a:p>
        </p:txBody>
      </p:sp>
      <p:sp>
        <p:nvSpPr>
          <p:cNvPr id="8" name="Rectangle 7">
            <a:extLst>
              <a:ext uri="{FF2B5EF4-FFF2-40B4-BE49-F238E27FC236}">
                <a16:creationId xmlns:a16="http://schemas.microsoft.com/office/drawing/2014/main" id="{16020286-1D55-4FF6-8371-157CA964E9D0}"/>
              </a:ext>
            </a:extLst>
          </p:cNvPr>
          <p:cNvSpPr>
            <a:spLocks noGrp="1"/>
          </p:cNvSpPr>
          <p:nvPr/>
        </p:nvSpPr>
        <p:spPr>
          <a:xfrm>
            <a:off x="942975" y="3333750"/>
            <a:ext cx="2381250" cy="552450"/>
          </a:xfrm>
          <a:prstGeom prst="rect">
            <a:avLst/>
          </a:prstGeom>
          <a:noFill/>
          <a:ln w="0">
            <a:noFill/>
            <a:prstDash val="solid"/>
          </a:ln>
        </p:spPr>
        <p:txBody>
          <a:bodyPr anchor="t">
            <a:normAutofit fontScale="99615"/>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Effective interactions</a:t>
            </a:r>
          </a:p>
        </p:txBody>
      </p:sp>
      <p:sp>
        <p:nvSpPr>
          <p:cNvPr id="9" name="Rectangle 8">
            <a:extLst>
              <a:ext uri="{FF2B5EF4-FFF2-40B4-BE49-F238E27FC236}">
                <a16:creationId xmlns:a16="http://schemas.microsoft.com/office/drawing/2014/main" id="{78B8640E-FA08-4AF2-BC91-A526B2F1581B}"/>
              </a:ext>
            </a:extLst>
          </p:cNvPr>
          <p:cNvSpPr>
            <a:spLocks noGrp="1"/>
          </p:cNvSpPr>
          <p:nvPr/>
        </p:nvSpPr>
        <p:spPr>
          <a:xfrm>
            <a:off x="942975" y="4057650"/>
            <a:ext cx="2333625" cy="87630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Hidden environment</a:t>
            </a: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 force closure</a:t>
            </a:r>
          </a:p>
        </p:txBody>
      </p:sp>
      <p:sp>
        <p:nvSpPr>
          <p:cNvPr id="10" name="Oval 9">
            <a:extLst>
              <a:ext uri="{FF2B5EF4-FFF2-40B4-BE49-F238E27FC236}">
                <a16:creationId xmlns:a16="http://schemas.microsoft.com/office/drawing/2014/main" id="{6E5CB7A6-31AC-474E-BD44-EB112B2F043B}"/>
              </a:ext>
            </a:extLst>
          </p:cNvPr>
          <p:cNvSpPr>
            <a:spLocks noGrp="1"/>
          </p:cNvSpPr>
          <p:nvPr/>
        </p:nvSpPr>
        <p:spPr>
          <a:xfrm>
            <a:off x="3619500" y="2724150"/>
            <a:ext cx="323850" cy="323850"/>
          </a:xfrm>
          <a:prstGeom prst="ellipse">
            <a:avLst/>
          </a:prstGeom>
          <a:solidFill>
            <a:srgbClr val="3D8DFF"/>
          </a:solidFill>
          <a:ln w="9525">
            <a:solidFill>
              <a:srgbClr val="FFFFFF"/>
            </a:solidFill>
            <a:prstDash val="solid"/>
          </a:ln>
        </p:spPr>
        <p:txBody>
          <a:bodyPr/>
          <a:lstStyle/>
          <a:p>
            <a:endParaRPr lang="en-US"/>
          </a:p>
        </p:txBody>
      </p:sp>
      <p:sp>
        <p:nvSpPr>
          <p:cNvPr id="11" name="Rectangle 10">
            <a:extLst>
              <a:ext uri="{FF2B5EF4-FFF2-40B4-BE49-F238E27FC236}">
                <a16:creationId xmlns:a16="http://schemas.microsoft.com/office/drawing/2014/main" id="{B49AAB72-4402-4674-B9B9-CC19EACAF5D9}"/>
              </a:ext>
            </a:extLst>
          </p:cNvPr>
          <p:cNvSpPr>
            <a:spLocks noGrp="1"/>
          </p:cNvSpPr>
          <p:nvPr/>
        </p:nvSpPr>
        <p:spPr>
          <a:xfrm>
            <a:off x="3619500" y="2771775"/>
            <a:ext cx="323850" cy="238125"/>
          </a:xfrm>
          <a:prstGeom prst="rect">
            <a:avLst/>
          </a:prstGeom>
          <a:noFill/>
          <a:ln w="0">
            <a:noFill/>
            <a:prstDash val="solid"/>
          </a:ln>
        </p:spPr>
        <p:txBody>
          <a:bodyPr anchor="t">
            <a:noAutofit/>
          </a:bodyPr>
          <a:lstStyle/>
          <a:p>
            <a:pPr algn="ctr">
              <a:buNone/>
              <a:defRPr sz="1350" b="1" i="0">
                <a:solidFill>
                  <a:srgbClr val="FFFFFF"/>
                </a:solidFill>
                <a:latin typeface="Helvetica Neue"/>
                <a:ea typeface="Helvetica Neue"/>
                <a:cs typeface="Helvetica Neue"/>
              </a:defRPr>
            </a:pPr>
            <a:r>
              <a:rPr sz="1350" b="1" i="0">
                <a:solidFill>
                  <a:srgbClr val="FFFFFF"/>
                </a:solidFill>
                <a:latin typeface="Helvetica Neue"/>
                <a:ea typeface="Helvetica Neue"/>
                <a:cs typeface="Helvetica Neue"/>
              </a:rPr>
              <a:t>2</a:t>
            </a:r>
          </a:p>
        </p:txBody>
      </p:sp>
      <p:sp>
        <p:nvSpPr>
          <p:cNvPr id="12" name="Rectangle 11">
            <a:extLst>
              <a:ext uri="{FF2B5EF4-FFF2-40B4-BE49-F238E27FC236}">
                <a16:creationId xmlns:a16="http://schemas.microsoft.com/office/drawing/2014/main" id="{4AA25693-0515-453B-8E1C-5B6FE9665F37}"/>
              </a:ext>
            </a:extLst>
          </p:cNvPr>
          <p:cNvSpPr>
            <a:spLocks noGrp="1"/>
          </p:cNvSpPr>
          <p:nvPr/>
        </p:nvSpPr>
        <p:spPr>
          <a:xfrm>
            <a:off x="3571875" y="3333750"/>
            <a:ext cx="2381250" cy="552450"/>
          </a:xfrm>
          <a:prstGeom prst="rect">
            <a:avLst/>
          </a:prstGeom>
          <a:noFill/>
          <a:ln w="0">
            <a:noFill/>
            <a:prstDash val="solid"/>
          </a:ln>
        </p:spPr>
        <p:txBody>
          <a:bodyPr anchor="t">
            <a:normAutofit/>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Particle → kinetic</a:t>
            </a:r>
          </a:p>
        </p:txBody>
      </p:sp>
      <p:sp>
        <p:nvSpPr>
          <p:cNvPr id="13" name="Rectangle 12">
            <a:extLst>
              <a:ext uri="{FF2B5EF4-FFF2-40B4-BE49-F238E27FC236}">
                <a16:creationId xmlns:a16="http://schemas.microsoft.com/office/drawing/2014/main" id="{96C12180-350D-486B-A9B7-80D684827AAE}"/>
              </a:ext>
            </a:extLst>
          </p:cNvPr>
          <p:cNvSpPr>
            <a:spLocks noGrp="1"/>
          </p:cNvSpPr>
          <p:nvPr/>
        </p:nvSpPr>
        <p:spPr>
          <a:xfrm>
            <a:off x="3571875" y="4057650"/>
            <a:ext cx="2333625" cy="87630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Correlations + histories</a:t>
            </a: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 kinetic residual</a:t>
            </a:r>
          </a:p>
        </p:txBody>
      </p:sp>
      <p:sp>
        <p:nvSpPr>
          <p:cNvPr id="14" name="Oval 13">
            <a:extLst>
              <a:ext uri="{FF2B5EF4-FFF2-40B4-BE49-F238E27FC236}">
                <a16:creationId xmlns:a16="http://schemas.microsoft.com/office/drawing/2014/main" id="{05A6501A-BDA2-49B2-942A-50B5913E4473}"/>
              </a:ext>
            </a:extLst>
          </p:cNvPr>
          <p:cNvSpPr>
            <a:spLocks noGrp="1"/>
          </p:cNvSpPr>
          <p:nvPr/>
        </p:nvSpPr>
        <p:spPr>
          <a:xfrm>
            <a:off x="6248400" y="2724150"/>
            <a:ext cx="323850" cy="323850"/>
          </a:xfrm>
          <a:prstGeom prst="ellipse">
            <a:avLst/>
          </a:prstGeom>
          <a:solidFill>
            <a:srgbClr val="18AEB5"/>
          </a:solidFill>
          <a:ln w="9525">
            <a:solidFill>
              <a:srgbClr val="FFFFFF"/>
            </a:solidFill>
            <a:prstDash val="solid"/>
          </a:ln>
        </p:spPr>
        <p:txBody>
          <a:bodyPr/>
          <a:lstStyle/>
          <a:p>
            <a:endParaRPr lang="en-US"/>
          </a:p>
        </p:txBody>
      </p:sp>
      <p:sp>
        <p:nvSpPr>
          <p:cNvPr id="15" name="Rectangle 14">
            <a:extLst>
              <a:ext uri="{FF2B5EF4-FFF2-40B4-BE49-F238E27FC236}">
                <a16:creationId xmlns:a16="http://schemas.microsoft.com/office/drawing/2014/main" id="{D04E0C99-DED5-43B3-83D8-2AAFB3785DC4}"/>
              </a:ext>
            </a:extLst>
          </p:cNvPr>
          <p:cNvSpPr>
            <a:spLocks noGrp="1"/>
          </p:cNvSpPr>
          <p:nvPr/>
        </p:nvSpPr>
        <p:spPr>
          <a:xfrm>
            <a:off x="6248400" y="2771775"/>
            <a:ext cx="323850" cy="238125"/>
          </a:xfrm>
          <a:prstGeom prst="rect">
            <a:avLst/>
          </a:prstGeom>
          <a:noFill/>
          <a:ln w="0">
            <a:noFill/>
            <a:prstDash val="solid"/>
          </a:ln>
        </p:spPr>
        <p:txBody>
          <a:bodyPr anchor="t">
            <a:noAutofit/>
          </a:bodyPr>
          <a:lstStyle/>
          <a:p>
            <a:pPr algn="ctr">
              <a:buNone/>
              <a:defRPr sz="1350" b="1" i="0">
                <a:solidFill>
                  <a:srgbClr val="FFFFFF"/>
                </a:solidFill>
                <a:latin typeface="Helvetica Neue"/>
                <a:ea typeface="Helvetica Neue"/>
                <a:cs typeface="Helvetica Neue"/>
              </a:defRPr>
            </a:pPr>
            <a:r>
              <a:rPr sz="1350" b="1" i="0">
                <a:solidFill>
                  <a:srgbClr val="FFFFFF"/>
                </a:solidFill>
                <a:latin typeface="Helvetica Neue"/>
                <a:ea typeface="Helvetica Neue"/>
                <a:cs typeface="Helvetica Neue"/>
              </a:rPr>
              <a:t>3</a:t>
            </a:r>
          </a:p>
        </p:txBody>
      </p:sp>
      <p:sp>
        <p:nvSpPr>
          <p:cNvPr id="16" name="Rectangle 15">
            <a:extLst>
              <a:ext uri="{FF2B5EF4-FFF2-40B4-BE49-F238E27FC236}">
                <a16:creationId xmlns:a16="http://schemas.microsoft.com/office/drawing/2014/main" id="{9E56018C-8CE9-41B4-8D98-C85B5BBE526B}"/>
              </a:ext>
            </a:extLst>
          </p:cNvPr>
          <p:cNvSpPr>
            <a:spLocks noGrp="1"/>
          </p:cNvSpPr>
          <p:nvPr/>
        </p:nvSpPr>
        <p:spPr>
          <a:xfrm>
            <a:off x="6200775" y="3333750"/>
            <a:ext cx="2381250" cy="552450"/>
          </a:xfrm>
          <a:prstGeom prst="rect">
            <a:avLst/>
          </a:prstGeom>
          <a:noFill/>
          <a:ln w="0">
            <a:noFill/>
            <a:prstDash val="solid"/>
          </a:ln>
        </p:spPr>
        <p:txBody>
          <a:bodyPr anchor="t">
            <a:normAutofit/>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Kinetic → moments</a:t>
            </a:r>
          </a:p>
        </p:txBody>
      </p:sp>
      <p:sp>
        <p:nvSpPr>
          <p:cNvPr id="17" name="Rectangle 16">
            <a:extLst>
              <a:ext uri="{FF2B5EF4-FFF2-40B4-BE49-F238E27FC236}">
                <a16:creationId xmlns:a16="http://schemas.microsoft.com/office/drawing/2014/main" id="{90256594-A355-4795-8DD0-4063CE123BDF}"/>
              </a:ext>
            </a:extLst>
          </p:cNvPr>
          <p:cNvSpPr>
            <a:spLocks noGrp="1"/>
          </p:cNvSpPr>
          <p:nvPr/>
        </p:nvSpPr>
        <p:spPr>
          <a:xfrm>
            <a:off x="6200775" y="4057650"/>
            <a:ext cx="2333625" cy="87630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Velocity-space tails</a:t>
            </a: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 stress and heat flux</a:t>
            </a:r>
          </a:p>
        </p:txBody>
      </p:sp>
      <p:sp>
        <p:nvSpPr>
          <p:cNvPr id="18" name="Oval 17">
            <a:extLst>
              <a:ext uri="{FF2B5EF4-FFF2-40B4-BE49-F238E27FC236}">
                <a16:creationId xmlns:a16="http://schemas.microsoft.com/office/drawing/2014/main" id="{E21CA16D-BA42-4CE2-B961-321098B41462}"/>
              </a:ext>
            </a:extLst>
          </p:cNvPr>
          <p:cNvSpPr>
            <a:spLocks noGrp="1"/>
          </p:cNvSpPr>
          <p:nvPr/>
        </p:nvSpPr>
        <p:spPr>
          <a:xfrm>
            <a:off x="8877300" y="2724150"/>
            <a:ext cx="323850" cy="323850"/>
          </a:xfrm>
          <a:prstGeom prst="ellipse">
            <a:avLst/>
          </a:prstGeom>
          <a:solidFill>
            <a:srgbClr val="143A72"/>
          </a:solidFill>
          <a:ln w="9525">
            <a:solidFill>
              <a:srgbClr val="FFFFFF"/>
            </a:solidFill>
            <a:prstDash val="solid"/>
          </a:ln>
        </p:spPr>
        <p:txBody>
          <a:bodyPr/>
          <a:lstStyle/>
          <a:p>
            <a:endParaRPr lang="en-US"/>
          </a:p>
        </p:txBody>
      </p:sp>
      <p:sp>
        <p:nvSpPr>
          <p:cNvPr id="19" name="Rectangle 18">
            <a:extLst>
              <a:ext uri="{FF2B5EF4-FFF2-40B4-BE49-F238E27FC236}">
                <a16:creationId xmlns:a16="http://schemas.microsoft.com/office/drawing/2014/main" id="{A17B95A1-CDAE-4C9D-963B-9CD8BAFFD56F}"/>
              </a:ext>
            </a:extLst>
          </p:cNvPr>
          <p:cNvSpPr>
            <a:spLocks noGrp="1"/>
          </p:cNvSpPr>
          <p:nvPr/>
        </p:nvSpPr>
        <p:spPr>
          <a:xfrm>
            <a:off x="8877300" y="2771775"/>
            <a:ext cx="323850" cy="238125"/>
          </a:xfrm>
          <a:prstGeom prst="rect">
            <a:avLst/>
          </a:prstGeom>
          <a:noFill/>
          <a:ln w="0">
            <a:noFill/>
            <a:prstDash val="solid"/>
          </a:ln>
        </p:spPr>
        <p:txBody>
          <a:bodyPr anchor="t">
            <a:noAutofit/>
          </a:bodyPr>
          <a:lstStyle/>
          <a:p>
            <a:pPr algn="ctr">
              <a:buNone/>
              <a:defRPr sz="1350" b="1" i="0">
                <a:solidFill>
                  <a:srgbClr val="FFFFFF"/>
                </a:solidFill>
                <a:latin typeface="Helvetica Neue"/>
                <a:ea typeface="Helvetica Neue"/>
                <a:cs typeface="Helvetica Neue"/>
              </a:defRPr>
            </a:pPr>
            <a:r>
              <a:rPr sz="1350" b="1" i="0">
                <a:solidFill>
                  <a:srgbClr val="FFFFFF"/>
                </a:solidFill>
                <a:latin typeface="Helvetica Neue"/>
                <a:ea typeface="Helvetica Neue"/>
                <a:cs typeface="Helvetica Neue"/>
              </a:rPr>
              <a:t>4</a:t>
            </a:r>
          </a:p>
        </p:txBody>
      </p:sp>
      <p:sp>
        <p:nvSpPr>
          <p:cNvPr id="20" name="Rectangle 19">
            <a:extLst>
              <a:ext uri="{FF2B5EF4-FFF2-40B4-BE49-F238E27FC236}">
                <a16:creationId xmlns:a16="http://schemas.microsoft.com/office/drawing/2014/main" id="{3227A4B8-303B-489E-BB6D-FB9E5627BF35}"/>
              </a:ext>
            </a:extLst>
          </p:cNvPr>
          <p:cNvSpPr>
            <a:spLocks noGrp="1"/>
          </p:cNvSpPr>
          <p:nvPr/>
        </p:nvSpPr>
        <p:spPr>
          <a:xfrm>
            <a:off x="8829675" y="3333750"/>
            <a:ext cx="2381250" cy="552450"/>
          </a:xfrm>
          <a:prstGeom prst="rect">
            <a:avLst/>
          </a:prstGeom>
          <a:noFill/>
          <a:ln w="0">
            <a:noFill/>
            <a:prstDash val="solid"/>
          </a:ln>
        </p:spPr>
        <p:txBody>
          <a:bodyPr anchor="t">
            <a:normAutofit/>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TEMPEST transfer</a:t>
            </a:r>
          </a:p>
        </p:txBody>
      </p:sp>
      <p:sp>
        <p:nvSpPr>
          <p:cNvPr id="21" name="Rectangle 20">
            <a:extLst>
              <a:ext uri="{FF2B5EF4-FFF2-40B4-BE49-F238E27FC236}">
                <a16:creationId xmlns:a16="http://schemas.microsoft.com/office/drawing/2014/main" id="{5F97FF57-B41D-4951-BB85-D1DBB2267FE1}"/>
              </a:ext>
            </a:extLst>
          </p:cNvPr>
          <p:cNvSpPr>
            <a:spLocks noGrp="1"/>
          </p:cNvSpPr>
          <p:nvPr/>
        </p:nvSpPr>
        <p:spPr>
          <a:xfrm>
            <a:off x="8829675" y="4057650"/>
            <a:ext cx="2333625" cy="87630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3D→1D fitting</a:t>
            </a: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 turbulent residual</a:t>
            </a:r>
          </a:p>
        </p:txBody>
      </p:sp>
      <p:sp>
        <p:nvSpPr>
          <p:cNvPr id="22" name="Rectangle 21">
            <a:extLst>
              <a:ext uri="{FF2B5EF4-FFF2-40B4-BE49-F238E27FC236}">
                <a16:creationId xmlns:a16="http://schemas.microsoft.com/office/drawing/2014/main" id="{5A4401E1-577C-4EF1-AAEF-EF5452499EB5}"/>
              </a:ext>
            </a:extLst>
          </p:cNvPr>
          <p:cNvSpPr>
            <a:spLocks noGrp="1"/>
          </p:cNvSpPr>
          <p:nvPr/>
        </p:nvSpPr>
        <p:spPr>
          <a:xfrm>
            <a:off x="1504950" y="5400675"/>
            <a:ext cx="9182100" cy="657225"/>
          </a:xfrm>
          <a:prstGeom prst="rect">
            <a:avLst/>
          </a:prstGeom>
          <a:solidFill>
            <a:srgbClr val="F6F7F8"/>
          </a:solidFill>
          <a:ln w="9525">
            <a:solidFill>
              <a:srgbClr val="B8BCC4"/>
            </a:solidFill>
            <a:prstDash val="solid"/>
          </a:ln>
        </p:spPr>
        <p:txBody>
          <a:bodyPr/>
          <a:lstStyle/>
          <a:p>
            <a:endParaRPr lang="en-US"/>
          </a:p>
        </p:txBody>
      </p:sp>
      <p:sp>
        <p:nvSpPr>
          <p:cNvPr id="23" name="Rectangle 22">
            <a:extLst>
              <a:ext uri="{FF2B5EF4-FFF2-40B4-BE49-F238E27FC236}">
                <a16:creationId xmlns:a16="http://schemas.microsoft.com/office/drawing/2014/main" id="{4C4212E4-2FF5-43F2-8EC2-326673FE6E3F}"/>
              </a:ext>
            </a:extLst>
          </p:cNvPr>
          <p:cNvSpPr>
            <a:spLocks noGrp="1"/>
          </p:cNvSpPr>
          <p:nvPr/>
        </p:nvSpPr>
        <p:spPr>
          <a:xfrm>
            <a:off x="1714500" y="5572125"/>
            <a:ext cx="8763000" cy="342900"/>
          </a:xfrm>
          <a:prstGeom prst="rect">
            <a:avLst/>
          </a:prstGeom>
          <a:noFill/>
          <a:ln w="0">
            <a:noFill/>
            <a:prstDash val="solid"/>
          </a:ln>
        </p:spPr>
        <p:txBody>
          <a:bodyPr anchor="t">
            <a:normAutofit fontScale="76316" lnSpcReduction="20000"/>
          </a:bodyPr>
          <a:lstStyle/>
          <a:p>
            <a:pPr algn="ctr">
              <a:buNone/>
              <a:defRPr sz="1650" b="1" i="0">
                <a:solidFill>
                  <a:srgbClr val="000000"/>
                </a:solidFill>
                <a:latin typeface="Helvetica Neue"/>
                <a:ea typeface="Helvetica Neue"/>
                <a:cs typeface="Helvetica Neue"/>
              </a:defRPr>
            </a:pPr>
            <a:r>
              <a:rPr sz="1650" b="1" i="0">
                <a:solidFill>
                  <a:srgbClr val="000000"/>
                </a:solidFill>
                <a:latin typeface="Helvetica Neue"/>
                <a:ea typeface="Helvetica Neue"/>
                <a:cs typeface="Helvetica Neue"/>
              </a:rPr>
              <a:t>Same contract at every stage: declare → estimate defect → match information → embed → stress test</a:t>
            </a:r>
          </a:p>
        </p:txBody>
      </p:sp>
    </p:spTree>
    <p:extLst>
      <p:ext uri="{BB962C8B-B14F-4D97-AF65-F5344CB8AC3E}">
        <p14:creationId xmlns:p14="http://schemas.microsoft.com/office/powerpoint/2010/main" val="3389042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075DB21-D44B-44C6-98CD-003949CBF72D}"/>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6DB797FD-BDD7-4BCD-827C-9FD968B06A99}"/>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Canonical and TEMPEST regimes differ by design</a:t>
            </a:r>
          </a:p>
        </p:txBody>
      </p:sp>
      <p:cxnSp>
        <p:nvCxnSpPr>
          <p:cNvPr id="17" name="Straight Arrow Connector 16"/>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C61F7ECF-D0A7-4DE8-8B8E-2CDF6A66C6E3}"/>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7</a:t>
            </a:r>
          </a:p>
        </p:txBody>
      </p:sp>
      <p:sp>
        <p:nvSpPr>
          <p:cNvPr id="5" name="Rectangle 4">
            <a:extLst>
              <a:ext uri="{FF2B5EF4-FFF2-40B4-BE49-F238E27FC236}">
                <a16:creationId xmlns:a16="http://schemas.microsoft.com/office/drawing/2014/main" id="{A5775446-22CF-44F0-8488-7BFE5163A626}"/>
              </a:ext>
            </a:extLst>
          </p:cNvPr>
          <p:cNvSpPr>
            <a:spLocks noGrp="1"/>
          </p:cNvSpPr>
          <p:nvPr/>
        </p:nvSpPr>
        <p:spPr>
          <a:xfrm>
            <a:off x="400050" y="1343025"/>
            <a:ext cx="10953750" cy="428625"/>
          </a:xfrm>
          <a:prstGeom prst="rect">
            <a:avLst/>
          </a:prstGeom>
          <a:noFill/>
          <a:ln w="0">
            <a:noFill/>
            <a:prstDash val="solid"/>
          </a:ln>
        </p:spPr>
        <p:txBody>
          <a:bodyPr anchor="t">
            <a:normAutofit/>
          </a:bodyPr>
          <a:lstStyle/>
          <a:p>
            <a:pPr algn="l">
              <a:buNone/>
              <a:defRPr sz="1650" b="0" i="0">
                <a:solidFill>
                  <a:srgbClr val="5B6472"/>
                </a:solidFill>
                <a:latin typeface="Helvetica Neue"/>
                <a:ea typeface="Helvetica Neue"/>
                <a:cs typeface="Helvetica Neue"/>
              </a:defRPr>
            </a:pPr>
            <a:r>
              <a:rPr sz="1650" b="0" i="0">
                <a:solidFill>
                  <a:srgbClr val="5B6472"/>
                </a:solidFill>
                <a:latin typeface="Helvetica Neue"/>
                <a:ea typeface="Helvetica Neue"/>
                <a:cs typeface="Helvetica Neue"/>
              </a:rPr>
              <a:t>Track A validates mechanisms; Track B replaces the equations, states, coefficients, and constraints.</a:t>
            </a:r>
          </a:p>
        </p:txBody>
      </p:sp>
      <p:graphicFrame>
        <p:nvGraphicFramePr>
          <p:cNvPr id="20" name="Table 19"/>
          <p:cNvGraphicFramePr/>
          <p:nvPr>
            <p:extLst>
              <p:ext uri="{D42A27DB-BD31-4B8C-83A1-F6EECF244321}">
                <p14:modId xmlns:p14="http://schemas.microsoft.com/office/powerpoint/2010/main" val="1953388035"/>
              </p:ext>
            </p:extLst>
          </p:nvPr>
        </p:nvGraphicFramePr>
        <p:xfrm>
          <a:off x="400050" y="2009775"/>
          <a:ext cx="11391900" cy="3943350"/>
        </p:xfrm>
        <a:graphic>
          <a:graphicData uri="http://schemas.openxmlformats.org/drawingml/2006/table">
            <a:tbl>
              <a:tblPr firstRow="1"/>
              <a:tblGrid>
                <a:gridCol w="2190750">
                  <a:extLst>
                    <a:ext uri="{9D8B030D-6E8A-4147-A177-3AD203B41FA5}">
                      <a16:colId xmlns:a16="http://schemas.microsoft.com/office/drawing/2014/main" val="20000"/>
                    </a:ext>
                  </a:extLst>
                </a:gridCol>
                <a:gridCol w="4333875">
                  <a:extLst>
                    <a:ext uri="{9D8B030D-6E8A-4147-A177-3AD203B41FA5}">
                      <a16:colId xmlns:a16="http://schemas.microsoft.com/office/drawing/2014/main" val="20001"/>
                    </a:ext>
                  </a:extLst>
                </a:gridCol>
                <a:gridCol w="4867275">
                  <a:extLst>
                    <a:ext uri="{9D8B030D-6E8A-4147-A177-3AD203B41FA5}">
                      <a16:colId xmlns:a16="http://schemas.microsoft.com/office/drawing/2014/main" val="20002"/>
                    </a:ext>
                  </a:extLst>
                </a:gridCol>
              </a:tblGrid>
              <a:tr h="657225">
                <a:tc>
                  <a:txBody>
                    <a:bodyPr/>
                    <a:lstStyle/>
                    <a:p>
                      <a:r>
                        <a:rPr sz="1275" b="1">
                          <a:solidFill>
                            <a:srgbClr val="FFFFFF"/>
                          </a:solidFill>
                        </a:rPr>
                        <a:t>Dimension</a:t>
                      </a:r>
                    </a:p>
                  </a:txBody>
                  <a:tcPr>
                    <a:solidFill>
                      <a:srgbClr val="143A72"/>
                    </a:solidFill>
                  </a:tcPr>
                </a:tc>
                <a:tc>
                  <a:txBody>
                    <a:bodyPr/>
                    <a:lstStyle/>
                    <a:p>
                      <a:r>
                        <a:rPr sz="1275" b="1">
                          <a:solidFill>
                            <a:srgbClr val="FFFFFF"/>
                          </a:solidFill>
                        </a:rPr>
                        <a:t>Canonical scale-limit tracks</a:t>
                      </a:r>
                    </a:p>
                  </a:txBody>
                  <a:tcPr>
                    <a:solidFill>
                      <a:srgbClr val="143A72"/>
                    </a:solidFill>
                  </a:tcPr>
                </a:tc>
                <a:tc>
                  <a:txBody>
                    <a:bodyPr/>
                    <a:lstStyle/>
                    <a:p>
                      <a:r>
                        <a:rPr sz="1275" b="1">
                          <a:solidFill>
                            <a:srgbClr val="FFFFFF"/>
                          </a:solidFill>
                        </a:rPr>
                        <a:t>TEMPEST application profiles</a:t>
                      </a:r>
                    </a:p>
                  </a:txBody>
                  <a:tcPr>
                    <a:solidFill>
                      <a:srgbClr val="143A72"/>
                    </a:solidFill>
                  </a:tcPr>
                </a:tc>
                <a:extLst>
                  <a:ext uri="{0D108BD9-81ED-4DB2-BD59-A6C34878D82A}">
                    <a16:rowId xmlns:a16="http://schemas.microsoft.com/office/drawing/2014/main" val="10000"/>
                  </a:ext>
                </a:extLst>
              </a:tr>
              <a:tr h="657225">
                <a:tc>
                  <a:txBody>
                    <a:bodyPr/>
                    <a:lstStyle/>
                    <a:p>
                      <a:r>
                        <a:rPr sz="1275">
                          <a:solidFill>
                            <a:srgbClr val="000000"/>
                          </a:solidFill>
                        </a:rPr>
                        <a:t>Interactions</a:t>
                      </a:r>
                    </a:p>
                  </a:txBody>
                  <a:tcPr/>
                </a:tc>
                <a:tc>
                  <a:txBody>
                    <a:bodyPr/>
                    <a:lstStyle/>
                    <a:p>
                      <a:r>
                        <a:rPr sz="1275">
                          <a:solidFill>
                            <a:srgbClr val="000000"/>
                          </a:solidFill>
                        </a:rPr>
                        <a:t>Hard collisions or weak resonances</a:t>
                      </a:r>
                    </a:p>
                  </a:txBody>
                  <a:tcPr/>
                </a:tc>
                <a:tc>
                  <a:txBody>
                    <a:bodyPr/>
                    <a:lstStyle/>
                    <a:p>
                      <a:r>
                        <a:rPr sz="1275">
                          <a:solidFill>
                            <a:srgbClr val="000000"/>
                          </a:solidFill>
                        </a:rPr>
                        <a:t>Plasma-mediated forces; shock–turbulence coupling</a:t>
                      </a:r>
                    </a:p>
                  </a:txBody>
                  <a:tcPr/>
                </a:tc>
                <a:extLst>
                  <a:ext uri="{0D108BD9-81ED-4DB2-BD59-A6C34878D82A}">
                    <a16:rowId xmlns:a16="http://schemas.microsoft.com/office/drawing/2014/main" val="10001"/>
                  </a:ext>
                </a:extLst>
              </a:tr>
              <a:tr h="657225">
                <a:tc>
                  <a:txBody>
                    <a:bodyPr/>
                    <a:lstStyle/>
                    <a:p>
                      <a:r>
                        <a:rPr sz="1275">
                          <a:solidFill>
                            <a:srgbClr val="000000"/>
                          </a:solidFill>
                        </a:rPr>
                        <a:t>Statistics</a:t>
                      </a:r>
                    </a:p>
                  </a:txBody>
                  <a:tcPr>
                    <a:solidFill>
                      <a:srgbClr val="F6F7F8"/>
                    </a:solidFill>
                  </a:tcPr>
                </a:tc>
                <a:tc>
                  <a:txBody>
                    <a:bodyPr/>
                    <a:lstStyle/>
                    <a:p>
                      <a:r>
                        <a:rPr sz="1275">
                          <a:solidFill>
                            <a:srgbClr val="000000"/>
                          </a:solidFill>
                        </a:rPr>
                        <a:t>Dilute / weakly nonlinear / prepared</a:t>
                      </a:r>
                    </a:p>
                  </a:txBody>
                  <a:tcPr>
                    <a:solidFill>
                      <a:srgbClr val="F6F7F8"/>
                    </a:solidFill>
                  </a:tcPr>
                </a:tc>
                <a:tc>
                  <a:txBody>
                    <a:bodyPr/>
                    <a:lstStyle/>
                    <a:p>
                      <a:r>
                        <a:rPr sz="1275">
                          <a:solidFill>
                            <a:srgbClr val="000000"/>
                          </a:solidFill>
                        </a:rPr>
                        <a:t>Driven, correlated, heterogeneous, intermittent</a:t>
                      </a:r>
                    </a:p>
                  </a:txBody>
                  <a:tcPr>
                    <a:solidFill>
                      <a:srgbClr val="F6F7F8"/>
                    </a:solidFill>
                  </a:tcPr>
                </a:tc>
                <a:extLst>
                  <a:ext uri="{0D108BD9-81ED-4DB2-BD59-A6C34878D82A}">
                    <a16:rowId xmlns:a16="http://schemas.microsoft.com/office/drawing/2014/main" val="10002"/>
                  </a:ext>
                </a:extLst>
              </a:tr>
              <a:tr h="657225">
                <a:tc>
                  <a:txBody>
                    <a:bodyPr/>
                    <a:lstStyle/>
                    <a:p>
                      <a:r>
                        <a:rPr sz="1275">
                          <a:solidFill>
                            <a:srgbClr val="000000"/>
                          </a:solidFill>
                        </a:rPr>
                        <a:t>Fields</a:t>
                      </a:r>
                    </a:p>
                  </a:txBody>
                  <a:tcPr/>
                </a:tc>
                <a:tc>
                  <a:txBody>
                    <a:bodyPr/>
                    <a:lstStyle/>
                    <a:p>
                      <a:r>
                        <a:rPr sz="1275">
                          <a:solidFill>
                            <a:srgbClr val="000000"/>
                          </a:solidFill>
                        </a:rPr>
                        <a:t>Idealized or prescribed</a:t>
                      </a:r>
                    </a:p>
                  </a:txBody>
                  <a:tcPr/>
                </a:tc>
                <a:tc>
                  <a:txBody>
                    <a:bodyPr/>
                    <a:lstStyle/>
                    <a:p>
                      <a:r>
                        <a:rPr sz="1275">
                          <a:solidFill>
                            <a:srgbClr val="000000"/>
                          </a:solidFill>
                        </a:rPr>
                        <a:t>Self-consistent fields, shocks, neutrino/radiation</a:t>
                      </a:r>
                    </a:p>
                  </a:txBody>
                  <a:tcPr/>
                </a:tc>
                <a:extLst>
                  <a:ext uri="{0D108BD9-81ED-4DB2-BD59-A6C34878D82A}">
                    <a16:rowId xmlns:a16="http://schemas.microsoft.com/office/drawing/2014/main" val="10003"/>
                  </a:ext>
                </a:extLst>
              </a:tr>
              <a:tr h="657225">
                <a:tc>
                  <a:txBody>
                    <a:bodyPr/>
                    <a:lstStyle/>
                    <a:p>
                      <a:r>
                        <a:rPr sz="1275">
                          <a:solidFill>
                            <a:srgbClr val="000000"/>
                          </a:solidFill>
                        </a:rPr>
                        <a:t>Trusted limit</a:t>
                      </a:r>
                    </a:p>
                  </a:txBody>
                  <a:tcPr>
                    <a:solidFill>
                      <a:srgbClr val="F6F7F8"/>
                    </a:solidFill>
                  </a:tcPr>
                </a:tc>
                <a:tc>
                  <a:txBody>
                    <a:bodyPr/>
                    <a:lstStyle/>
                    <a:p>
                      <a:r>
                        <a:rPr sz="1275" dirty="0">
                          <a:solidFill>
                            <a:srgbClr val="000000"/>
                          </a:solidFill>
                        </a:rPr>
                        <a:t>Boltzmann, WKE, Euler / N</a:t>
                      </a:r>
                      <a:r>
                        <a:rPr lang="en-US" sz="1275" dirty="0">
                          <a:solidFill>
                            <a:srgbClr val="000000"/>
                          </a:solidFill>
                        </a:rPr>
                        <a:t>avier-Stokes</a:t>
                      </a:r>
                      <a:endParaRPr sz="1275" dirty="0">
                        <a:solidFill>
                          <a:srgbClr val="000000"/>
                        </a:solidFill>
                      </a:endParaRPr>
                    </a:p>
                  </a:txBody>
                  <a:tcPr>
                    <a:solidFill>
                      <a:srgbClr val="F6F7F8"/>
                    </a:solidFill>
                  </a:tcPr>
                </a:tc>
                <a:tc>
                  <a:txBody>
                    <a:bodyPr/>
                    <a:lstStyle/>
                    <a:p>
                      <a:r>
                        <a:rPr sz="1275" dirty="0">
                          <a:solidFill>
                            <a:srgbClr val="000000"/>
                          </a:solidFill>
                        </a:rPr>
                        <a:t>De</a:t>
                      </a:r>
                      <a:r>
                        <a:rPr lang="en-US" sz="1275" dirty="0">
                          <a:solidFill>
                            <a:srgbClr val="000000"/>
                          </a:solidFill>
                        </a:rPr>
                        <a:t>fined</a:t>
                      </a:r>
                      <a:r>
                        <a:rPr sz="1275" dirty="0">
                          <a:solidFill>
                            <a:srgbClr val="000000"/>
                          </a:solidFill>
                        </a:rPr>
                        <a:t> dusty </a:t>
                      </a:r>
                      <a:r>
                        <a:rPr lang="en-US" sz="1275" dirty="0">
                          <a:solidFill>
                            <a:srgbClr val="000000"/>
                          </a:solidFill>
                        </a:rPr>
                        <a:t>plasma </a:t>
                      </a:r>
                      <a:r>
                        <a:rPr sz="1275" dirty="0">
                          <a:solidFill>
                            <a:srgbClr val="000000"/>
                          </a:solidFill>
                        </a:rPr>
                        <a:t>and 1D turbulence baselines</a:t>
                      </a:r>
                    </a:p>
                  </a:txBody>
                  <a:tcPr>
                    <a:solidFill>
                      <a:srgbClr val="F6F7F8"/>
                    </a:solidFill>
                  </a:tcPr>
                </a:tc>
                <a:extLst>
                  <a:ext uri="{0D108BD9-81ED-4DB2-BD59-A6C34878D82A}">
                    <a16:rowId xmlns:a16="http://schemas.microsoft.com/office/drawing/2014/main" val="10004"/>
                  </a:ext>
                </a:extLst>
              </a:tr>
              <a:tr h="657225">
                <a:tc>
                  <a:txBody>
                    <a:bodyPr/>
                    <a:lstStyle/>
                    <a:p>
                      <a:r>
                        <a:rPr sz="1275">
                          <a:solidFill>
                            <a:srgbClr val="000000"/>
                          </a:solidFill>
                        </a:rPr>
                        <a:t>Scientific role</a:t>
                      </a:r>
                    </a:p>
                  </a:txBody>
                  <a:tcPr/>
                </a:tc>
                <a:tc>
                  <a:txBody>
                    <a:bodyPr/>
                    <a:lstStyle/>
                    <a:p>
                      <a:r>
                        <a:rPr sz="1275">
                          <a:solidFill>
                            <a:srgbClr val="000000"/>
                          </a:solidFill>
                        </a:rPr>
                        <a:t>Test scale-limit and failure diagnostics</a:t>
                      </a:r>
                    </a:p>
                  </a:txBody>
                  <a:tcPr/>
                </a:tc>
                <a:tc>
                  <a:txBody>
                    <a:bodyPr/>
                    <a:lstStyle/>
                    <a:p>
                      <a:r>
                        <a:rPr sz="1275" dirty="0">
                          <a:solidFill>
                            <a:srgbClr val="000000"/>
                          </a:solidFill>
                        </a:rPr>
                        <a:t>Correct closure inside an application carrier</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520240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BEFCB7C-2E82-4FCC-92E1-821D27BAF58F}"/>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11DFB718-D5B7-4C18-A73A-5B06495890E4}"/>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Many-body learning becomes closure after elimination</a:t>
            </a:r>
          </a:p>
        </p:txBody>
      </p:sp>
      <p:cxnSp>
        <p:nvCxnSpPr>
          <p:cNvPr id="18" name="Straight Arrow Connector 17"/>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E762C2F3-183F-4BBE-B0AA-FE2EE8768D6A}"/>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10</a:t>
            </a:r>
          </a:p>
        </p:txBody>
      </p:sp>
      <p:graphicFrame>
        <p:nvGraphicFramePr>
          <p:cNvPr id="20" name="Table 19"/>
          <p:cNvGraphicFramePr/>
          <p:nvPr/>
        </p:nvGraphicFramePr>
        <p:xfrm>
          <a:off x="400050" y="1590675"/>
          <a:ext cx="11391900" cy="3429000"/>
        </p:xfrm>
        <a:graphic>
          <a:graphicData uri="http://schemas.openxmlformats.org/drawingml/2006/table">
            <a:tbl>
              <a:tblPr firstRow="1"/>
              <a:tblGrid>
                <a:gridCol w="238125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2809875">
                  <a:extLst>
                    <a:ext uri="{9D8B030D-6E8A-4147-A177-3AD203B41FA5}">
                      <a16:colId xmlns:a16="http://schemas.microsoft.com/office/drawing/2014/main" val="20002"/>
                    </a:ext>
                  </a:extLst>
                </a:gridCol>
                <a:gridCol w="3057525">
                  <a:extLst>
                    <a:ext uri="{9D8B030D-6E8A-4147-A177-3AD203B41FA5}">
                      <a16:colId xmlns:a16="http://schemas.microsoft.com/office/drawing/2014/main" val="20003"/>
                    </a:ext>
                  </a:extLst>
                </a:gridCol>
              </a:tblGrid>
              <a:tr h="857250">
                <a:tc>
                  <a:txBody>
                    <a:bodyPr/>
                    <a:lstStyle/>
                    <a:p>
                      <a:r>
                        <a:rPr sz="1200" b="1">
                          <a:solidFill>
                            <a:srgbClr val="FFFFFF"/>
                          </a:solidFill>
                        </a:rPr>
                        <a:t>Retained state</a:t>
                      </a:r>
                    </a:p>
                  </a:txBody>
                  <a:tcPr>
                    <a:solidFill>
                      <a:srgbClr val="143A72"/>
                    </a:solidFill>
                  </a:tcPr>
                </a:tc>
                <a:tc>
                  <a:txBody>
                    <a:bodyPr/>
                    <a:lstStyle/>
                    <a:p>
                      <a:r>
                        <a:rPr sz="1200" b="1">
                          <a:solidFill>
                            <a:srgbClr val="FFFFFF"/>
                          </a:solidFill>
                        </a:rPr>
                        <a:t>Discarded information</a:t>
                      </a:r>
                    </a:p>
                  </a:txBody>
                  <a:tcPr>
                    <a:solidFill>
                      <a:srgbClr val="143A72"/>
                    </a:solidFill>
                  </a:tcPr>
                </a:tc>
                <a:tc>
                  <a:txBody>
                    <a:bodyPr/>
                    <a:lstStyle/>
                    <a:p>
                      <a:r>
                        <a:rPr sz="1200" b="1">
                          <a:solidFill>
                            <a:srgbClr val="FFFFFF"/>
                          </a:solidFill>
                        </a:rPr>
                        <a:t>Learned object</a:t>
                      </a:r>
                    </a:p>
                  </a:txBody>
                  <a:tcPr>
                    <a:solidFill>
                      <a:srgbClr val="143A72"/>
                    </a:solidFill>
                  </a:tcPr>
                </a:tc>
                <a:tc>
                  <a:txBody>
                    <a:bodyPr/>
                    <a:lstStyle/>
                    <a:p>
                      <a:r>
                        <a:rPr sz="1200" b="1">
                          <a:solidFill>
                            <a:srgbClr val="FFFFFF"/>
                          </a:solidFill>
                        </a:rPr>
                        <a:t>Validation level</a:t>
                      </a:r>
                    </a:p>
                  </a:txBody>
                  <a:tcPr>
                    <a:solidFill>
                      <a:srgbClr val="143A72"/>
                    </a:solidFill>
                  </a:tcPr>
                </a:tc>
                <a:extLst>
                  <a:ext uri="{0D108BD9-81ED-4DB2-BD59-A6C34878D82A}">
                    <a16:rowId xmlns:a16="http://schemas.microsoft.com/office/drawing/2014/main" val="10000"/>
                  </a:ext>
                </a:extLst>
              </a:tr>
              <a:tr h="857250">
                <a:tc>
                  <a:txBody>
                    <a:bodyPr/>
                    <a:lstStyle/>
                    <a:p>
                      <a:r>
                        <a:rPr sz="1200">
                          <a:solidFill>
                            <a:srgbClr val="000000"/>
                          </a:solidFill>
                        </a:rPr>
                        <a:t>Observed particles</a:t>
                      </a:r>
                    </a:p>
                  </a:txBody>
                  <a:tcPr/>
                </a:tc>
                <a:tc>
                  <a:txBody>
                    <a:bodyPr/>
                    <a:lstStyle/>
                    <a:p>
                      <a:r>
                        <a:rPr sz="1200">
                          <a:solidFill>
                            <a:srgbClr val="000000"/>
                          </a:solidFill>
                        </a:rPr>
                        <a:t>Ions, electrons, wakes, fields</a:t>
                      </a:r>
                    </a:p>
                  </a:txBody>
                  <a:tcPr/>
                </a:tc>
                <a:tc>
                  <a:txBody>
                    <a:bodyPr/>
                    <a:lstStyle/>
                    <a:p>
                      <a:r>
                        <a:rPr sz="1200">
                          <a:solidFill>
                            <a:srgbClr val="000000"/>
                          </a:solidFill>
                        </a:rPr>
                        <a:t>Effective force, drag, memory</a:t>
                      </a:r>
                    </a:p>
                  </a:txBody>
                  <a:tcPr/>
                </a:tc>
                <a:tc>
                  <a:txBody>
                    <a:bodyPr/>
                    <a:lstStyle/>
                    <a:p>
                      <a:r>
                        <a:rPr sz="1200">
                          <a:solidFill>
                            <a:srgbClr val="000000"/>
                          </a:solidFill>
                        </a:rPr>
                        <a:t>Independent physics + particle rollouts</a:t>
                      </a:r>
                    </a:p>
                  </a:txBody>
                  <a:tcPr/>
                </a:tc>
                <a:extLst>
                  <a:ext uri="{0D108BD9-81ED-4DB2-BD59-A6C34878D82A}">
                    <a16:rowId xmlns:a16="http://schemas.microsoft.com/office/drawing/2014/main" val="10001"/>
                  </a:ext>
                </a:extLst>
              </a:tr>
              <a:tr h="857250">
                <a:tc>
                  <a:txBody>
                    <a:bodyPr/>
                    <a:lstStyle/>
                    <a:p>
                      <a:r>
                        <a:rPr sz="1200">
                          <a:solidFill>
                            <a:srgbClr val="000000"/>
                          </a:solidFill>
                        </a:rPr>
                        <a:t>Distribution f(x,v,t)</a:t>
                      </a:r>
                    </a:p>
                  </a:txBody>
                  <a:tcPr>
                    <a:solidFill>
                      <a:srgbClr val="F6F7F8"/>
                    </a:solidFill>
                  </a:tcPr>
                </a:tc>
                <a:tc>
                  <a:txBody>
                    <a:bodyPr/>
                    <a:lstStyle/>
                    <a:p>
                      <a:r>
                        <a:rPr sz="1200">
                          <a:solidFill>
                            <a:srgbClr val="000000"/>
                          </a:solidFill>
                        </a:rPr>
                        <a:t>Identities, correlations, rare histories</a:t>
                      </a:r>
                    </a:p>
                  </a:txBody>
                  <a:tcPr>
                    <a:solidFill>
                      <a:srgbClr val="F6F7F8"/>
                    </a:solidFill>
                  </a:tcPr>
                </a:tc>
                <a:tc>
                  <a:txBody>
                    <a:bodyPr/>
                    <a:lstStyle/>
                    <a:p>
                      <a:r>
                        <a:rPr sz="1200">
                          <a:solidFill>
                            <a:srgbClr val="000000"/>
                          </a:solidFill>
                        </a:rPr>
                        <a:t>Kinetic / correlation residual</a:t>
                      </a:r>
                    </a:p>
                  </a:txBody>
                  <a:tcPr>
                    <a:solidFill>
                      <a:srgbClr val="F6F7F8"/>
                    </a:solidFill>
                  </a:tcPr>
                </a:tc>
                <a:tc>
                  <a:txBody>
                    <a:bodyPr/>
                    <a:lstStyle/>
                    <a:p>
                      <a:r>
                        <a:rPr sz="1200">
                          <a:solidFill>
                            <a:srgbClr val="000000"/>
                          </a:solidFill>
                        </a:rPr>
                        <a:t>Distributions, cumulants, transport</a:t>
                      </a:r>
                    </a:p>
                  </a:txBody>
                  <a:tcPr>
                    <a:solidFill>
                      <a:srgbClr val="F6F7F8"/>
                    </a:solidFill>
                  </a:tcPr>
                </a:tc>
                <a:extLst>
                  <a:ext uri="{0D108BD9-81ED-4DB2-BD59-A6C34878D82A}">
                    <a16:rowId xmlns:a16="http://schemas.microsoft.com/office/drawing/2014/main" val="10002"/>
                  </a:ext>
                </a:extLst>
              </a:tr>
              <a:tr h="857250">
                <a:tc>
                  <a:txBody>
                    <a:bodyPr/>
                    <a:lstStyle/>
                    <a:p>
                      <a:r>
                        <a:rPr sz="1200">
                          <a:solidFill>
                            <a:srgbClr val="000000"/>
                          </a:solidFill>
                        </a:rPr>
                        <a:t>Density, momentum, energy</a:t>
                      </a:r>
                    </a:p>
                  </a:txBody>
                  <a:tcPr/>
                </a:tc>
                <a:tc>
                  <a:txBody>
                    <a:bodyPr/>
                    <a:lstStyle/>
                    <a:p>
                      <a:r>
                        <a:rPr sz="1200">
                          <a:solidFill>
                            <a:srgbClr val="000000"/>
                          </a:solidFill>
                        </a:rPr>
                        <a:t>Velocity-space detail, higher moments</a:t>
                      </a:r>
                    </a:p>
                  </a:txBody>
                  <a:tcPr/>
                </a:tc>
                <a:tc>
                  <a:txBody>
                    <a:bodyPr/>
                    <a:lstStyle/>
                    <a:p>
                      <a:r>
                        <a:rPr sz="1200">
                          <a:solidFill>
                            <a:srgbClr val="000000"/>
                          </a:solidFill>
                        </a:rPr>
                        <a:t>Stress, heat flux, relaxation</a:t>
                      </a:r>
                    </a:p>
                  </a:txBody>
                  <a:tcPr/>
                </a:tc>
                <a:tc>
                  <a:txBody>
                    <a:bodyPr/>
                    <a:lstStyle/>
                    <a:p>
                      <a:r>
                        <a:rPr sz="1200">
                          <a:solidFill>
                            <a:srgbClr val="000000"/>
                          </a:solidFill>
                        </a:rPr>
                        <a:t>Realizability + embedded fluid solver</a:t>
                      </a:r>
                    </a:p>
                  </a:txBody>
                  <a:tcPr/>
                </a:tc>
                <a:extLst>
                  <a:ext uri="{0D108BD9-81ED-4DB2-BD59-A6C34878D82A}">
                    <a16:rowId xmlns:a16="http://schemas.microsoft.com/office/drawing/2014/main" val="10003"/>
                  </a:ext>
                </a:extLst>
              </a:tr>
            </a:tbl>
          </a:graphicData>
        </a:graphic>
      </p:graphicFrame>
      <p:sp>
        <p:nvSpPr>
          <p:cNvPr id="6" name="Rectangle 5">
            <a:extLst>
              <a:ext uri="{FF2B5EF4-FFF2-40B4-BE49-F238E27FC236}">
                <a16:creationId xmlns:a16="http://schemas.microsoft.com/office/drawing/2014/main" id="{094162DD-7FD1-422C-8930-DCA22AB875F0}"/>
              </a:ext>
            </a:extLst>
          </p:cNvPr>
          <p:cNvSpPr>
            <a:spLocks noGrp="1"/>
          </p:cNvSpPr>
          <p:nvPr/>
        </p:nvSpPr>
        <p:spPr>
          <a:xfrm>
            <a:off x="1127932" y="5343525"/>
            <a:ext cx="10020300" cy="752475"/>
          </a:xfrm>
          <a:prstGeom prst="rect">
            <a:avLst/>
          </a:prstGeom>
          <a:solidFill>
            <a:srgbClr val="DCF6F5"/>
          </a:solidFill>
          <a:ln w="9525">
            <a:solidFill>
              <a:srgbClr val="18AEB5"/>
            </a:solidFill>
            <a:prstDash val="solid"/>
          </a:ln>
        </p:spPr>
        <p:txBody>
          <a:bodyPr/>
          <a:lstStyle/>
          <a:p>
            <a:endParaRPr lang="en-US"/>
          </a:p>
        </p:txBody>
      </p:sp>
      <p:sp>
        <p:nvSpPr>
          <p:cNvPr id="7" name="Rectangle 6">
            <a:extLst>
              <a:ext uri="{FF2B5EF4-FFF2-40B4-BE49-F238E27FC236}">
                <a16:creationId xmlns:a16="http://schemas.microsoft.com/office/drawing/2014/main" id="{2E064290-7FFF-40D9-9551-2EBD815BFAD2}"/>
              </a:ext>
            </a:extLst>
          </p:cNvPr>
          <p:cNvSpPr>
            <a:spLocks noGrp="1"/>
          </p:cNvSpPr>
          <p:nvPr/>
        </p:nvSpPr>
        <p:spPr>
          <a:xfrm>
            <a:off x="1085850" y="5667375"/>
            <a:ext cx="10020300" cy="428625"/>
          </a:xfrm>
          <a:prstGeom prst="rect">
            <a:avLst/>
          </a:prstGeom>
          <a:noFill/>
          <a:ln w="0">
            <a:noFill/>
            <a:prstDash val="solid"/>
          </a:ln>
        </p:spPr>
        <p:txBody>
          <a:bodyPr anchor="t">
            <a:normAutofit fontScale="71630" lnSpcReduction="20000"/>
          </a:bodyPr>
          <a:lstStyle/>
          <a:p>
            <a:pPr algn="ctr">
              <a:buNone/>
              <a:defRPr sz="1725" b="1" i="0">
                <a:solidFill>
                  <a:srgbClr val="000000"/>
                </a:solidFill>
                <a:latin typeface="Helvetica Neue"/>
                <a:ea typeface="Helvetica Neue"/>
                <a:cs typeface="Helvetica Neue"/>
              </a:defRPr>
            </a:pPr>
            <a:r>
              <a:rPr sz="1725" b="1" i="0" dirty="0">
                <a:solidFill>
                  <a:srgbClr val="000000"/>
                </a:solidFill>
                <a:latin typeface="Helvetica Neue"/>
                <a:ea typeface="Helvetica Neue"/>
                <a:cs typeface="Helvetica Neue"/>
              </a:rPr>
              <a:t>Many-body ML learns dynamics or interactions. Closure ML learns the effect of discarded information on a declared retained state.</a:t>
            </a:r>
          </a:p>
        </p:txBody>
      </p:sp>
    </p:spTree>
    <p:extLst>
      <p:ext uri="{BB962C8B-B14F-4D97-AF65-F5344CB8AC3E}">
        <p14:creationId xmlns:p14="http://schemas.microsoft.com/office/powerpoint/2010/main" val="11222817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A0DBD45C-A12C-4033-A40A-868723965E04}"/>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24989BF7-D10E-447E-A506-C7326E0A5C5F}"/>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Three papers supply complementary many-body tools</a:t>
            </a:r>
          </a:p>
        </p:txBody>
      </p:sp>
      <p:cxnSp>
        <p:nvCxnSpPr>
          <p:cNvPr id="26" name="Straight Arrow Connector 25"/>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18EA89BA-A092-4FF9-914E-85BDB7C84EAC}"/>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11</a:t>
            </a:r>
          </a:p>
        </p:txBody>
      </p:sp>
      <p:sp>
        <p:nvSpPr>
          <p:cNvPr id="5" name="Rectangle 4">
            <a:extLst>
              <a:ext uri="{FF2B5EF4-FFF2-40B4-BE49-F238E27FC236}">
                <a16:creationId xmlns:a16="http://schemas.microsoft.com/office/drawing/2014/main" id="{61385297-1145-4F9C-8984-1B943E0F6AC3}"/>
              </a:ext>
            </a:extLst>
          </p:cNvPr>
          <p:cNvSpPr>
            <a:spLocks noGrp="1"/>
          </p:cNvSpPr>
          <p:nvPr/>
        </p:nvSpPr>
        <p:spPr>
          <a:xfrm>
            <a:off x="400050" y="1590675"/>
            <a:ext cx="3333750" cy="266700"/>
          </a:xfrm>
          <a:prstGeom prst="rect">
            <a:avLst/>
          </a:prstGeom>
          <a:noFill/>
          <a:ln w="0">
            <a:noFill/>
            <a:prstDash val="solid"/>
          </a:ln>
        </p:spPr>
        <p:txBody>
          <a:bodyPr anchor="t">
            <a:normAutofit fontScale="97696" lnSpcReduction="10000"/>
          </a:bodyPr>
          <a:lstStyle/>
          <a:p>
            <a:pPr algn="l">
              <a:buNone/>
              <a:defRPr sz="1275" b="1" i="0">
                <a:solidFill>
                  <a:srgbClr val="143A72"/>
                </a:solidFill>
                <a:latin typeface="Helvetica Neue"/>
                <a:ea typeface="Helvetica Neue"/>
                <a:cs typeface="Helvetica Neue"/>
              </a:defRPr>
            </a:pPr>
            <a:r>
              <a:rPr sz="1275" b="1" i="0">
                <a:solidFill>
                  <a:srgbClr val="143A72"/>
                </a:solidFill>
                <a:latin typeface="Helvetica Neue"/>
                <a:ea typeface="Helvetica Neue"/>
                <a:cs typeface="Helvetica Neue"/>
              </a:rPr>
              <a:t>IDENTIFIABILITY</a:t>
            </a:r>
          </a:p>
        </p:txBody>
      </p:sp>
      <p:sp>
        <p:nvSpPr>
          <p:cNvPr id="6" name="Rectangle 5">
            <a:extLst>
              <a:ext uri="{FF2B5EF4-FFF2-40B4-BE49-F238E27FC236}">
                <a16:creationId xmlns:a16="http://schemas.microsoft.com/office/drawing/2014/main" id="{8AD14EC2-D633-4FE9-869B-84177FC3268F}"/>
              </a:ext>
            </a:extLst>
          </p:cNvPr>
          <p:cNvSpPr>
            <a:spLocks noGrp="1"/>
          </p:cNvSpPr>
          <p:nvPr/>
        </p:nvSpPr>
        <p:spPr>
          <a:xfrm>
            <a:off x="400050" y="2009775"/>
            <a:ext cx="3333750" cy="428625"/>
          </a:xfrm>
          <a:prstGeom prst="rect">
            <a:avLst/>
          </a:prstGeom>
          <a:noFill/>
          <a:ln w="0">
            <a:noFill/>
            <a:prstDash val="solid"/>
          </a:ln>
        </p:spPr>
        <p:txBody>
          <a:bodyPr anchor="t">
            <a:normAutofit/>
          </a:bodyPr>
          <a:lstStyle/>
          <a:p>
            <a:pPr algn="l">
              <a:buNone/>
              <a:defRPr sz="2025" b="1" i="0">
                <a:solidFill>
                  <a:srgbClr val="000000"/>
                </a:solidFill>
                <a:latin typeface="Helvetica Neue"/>
                <a:ea typeface="Helvetica Neue"/>
                <a:cs typeface="Helvetica Neue"/>
              </a:defRPr>
            </a:pPr>
            <a:r>
              <a:rPr sz="2025" b="1" i="0">
                <a:solidFill>
                  <a:srgbClr val="000000"/>
                </a:solidFill>
                <a:latin typeface="Helvetica Neue"/>
                <a:ea typeface="Helvetica Neue"/>
                <a:cs typeface="Helvetica Neue"/>
              </a:rPr>
              <a:t>Lu–Maggioni–Tang</a:t>
            </a:r>
          </a:p>
        </p:txBody>
      </p:sp>
      <p:sp>
        <p:nvSpPr>
          <p:cNvPr id="7" name="Rectangle 6">
            <a:extLst>
              <a:ext uri="{FF2B5EF4-FFF2-40B4-BE49-F238E27FC236}">
                <a16:creationId xmlns:a16="http://schemas.microsoft.com/office/drawing/2014/main" id="{7B1FF546-E40A-4C9A-8F8F-19F492328E36}"/>
              </a:ext>
            </a:extLst>
          </p:cNvPr>
          <p:cNvSpPr>
            <a:spLocks noGrp="1"/>
          </p:cNvSpPr>
          <p:nvPr/>
        </p:nvSpPr>
        <p:spPr>
          <a:xfrm>
            <a:off x="400050" y="2705100"/>
            <a:ext cx="3238500" cy="23812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Shared low-dimensional interaction kernels</a:t>
            </a:r>
          </a:p>
          <a:p>
            <a:endParaRPr sz="1500" b="0" i="0">
              <a:solidFill>
                <a:srgbClr val="5B6472"/>
              </a:solidFill>
              <a:latin typeface="Helvetica Neue"/>
              <a:ea typeface="Helvetica Neue"/>
              <a:cs typeface="Helvetica Neue"/>
            </a:endParaRP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Occupancy measure + coercivity</a:t>
            </a:r>
          </a:p>
          <a:p>
            <a:endParaRPr sz="1500" b="0" i="0">
              <a:solidFill>
                <a:srgbClr val="5B6472"/>
              </a:solidFill>
              <a:latin typeface="Helvetica Neue"/>
              <a:ea typeface="Helvetica Neue"/>
              <a:cs typeface="Helvetica Neue"/>
            </a:endParaRP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Separate estimation and rollout error</a:t>
            </a:r>
          </a:p>
        </p:txBody>
      </p:sp>
      <p:sp>
        <p:nvSpPr>
          <p:cNvPr id="8" name="Rectangle 7">
            <a:extLst>
              <a:ext uri="{FF2B5EF4-FFF2-40B4-BE49-F238E27FC236}">
                <a16:creationId xmlns:a16="http://schemas.microsoft.com/office/drawing/2014/main" id="{53979F2E-9E75-45EC-8892-EDBDA541B949}"/>
              </a:ext>
            </a:extLst>
          </p:cNvPr>
          <p:cNvSpPr>
            <a:spLocks noGrp="1"/>
          </p:cNvSpPr>
          <p:nvPr/>
        </p:nvSpPr>
        <p:spPr>
          <a:xfrm>
            <a:off x="3971925" y="1571625"/>
            <a:ext cx="9525" cy="3762375"/>
          </a:xfrm>
          <a:prstGeom prst="rect">
            <a:avLst/>
          </a:prstGeom>
          <a:solidFill>
            <a:srgbClr val="B8BCC4"/>
          </a:solidFill>
          <a:ln w="0">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914BC1AD-0BFB-4A76-91EA-DD4EB20D7FEE}"/>
              </a:ext>
            </a:extLst>
          </p:cNvPr>
          <p:cNvSpPr>
            <a:spLocks noGrp="1"/>
          </p:cNvSpPr>
          <p:nvPr/>
        </p:nvSpPr>
        <p:spPr>
          <a:xfrm>
            <a:off x="4248150" y="1590675"/>
            <a:ext cx="3333750" cy="266700"/>
          </a:xfrm>
          <a:prstGeom prst="rect">
            <a:avLst/>
          </a:prstGeom>
          <a:noFill/>
          <a:ln w="0">
            <a:noFill/>
            <a:prstDash val="solid"/>
          </a:ln>
        </p:spPr>
        <p:txBody>
          <a:bodyPr anchor="t">
            <a:normAutofit fontScale="97696" lnSpcReduction="10000"/>
          </a:bodyPr>
          <a:lstStyle/>
          <a:p>
            <a:pPr algn="l">
              <a:buNone/>
              <a:defRPr sz="1275" b="1" i="0">
                <a:solidFill>
                  <a:srgbClr val="3D8DFF"/>
                </a:solidFill>
                <a:latin typeface="Helvetica Neue"/>
                <a:ea typeface="Helvetica Neue"/>
                <a:cs typeface="Helvetica Neue"/>
              </a:defRPr>
            </a:pPr>
            <a:r>
              <a:rPr sz="1275" b="1" i="0">
                <a:solidFill>
                  <a:srgbClr val="3D8DFF"/>
                </a:solidFill>
                <a:latin typeface="Helvetica Neue"/>
                <a:ea typeface="Helvetica Neue"/>
                <a:cs typeface="Helvetica Neue"/>
              </a:rPr>
              <a:t>GEOMETRY</a:t>
            </a:r>
          </a:p>
        </p:txBody>
      </p:sp>
      <p:sp>
        <p:nvSpPr>
          <p:cNvPr id="10" name="Rectangle 9">
            <a:extLst>
              <a:ext uri="{FF2B5EF4-FFF2-40B4-BE49-F238E27FC236}">
                <a16:creationId xmlns:a16="http://schemas.microsoft.com/office/drawing/2014/main" id="{1494900F-E4FC-4EF0-8C55-C7D098AABAC9}"/>
              </a:ext>
            </a:extLst>
          </p:cNvPr>
          <p:cNvSpPr>
            <a:spLocks noGrp="1"/>
          </p:cNvSpPr>
          <p:nvPr/>
        </p:nvSpPr>
        <p:spPr>
          <a:xfrm>
            <a:off x="4248150" y="2009775"/>
            <a:ext cx="3333750" cy="428625"/>
          </a:xfrm>
          <a:prstGeom prst="rect">
            <a:avLst/>
          </a:prstGeom>
          <a:noFill/>
          <a:ln w="0">
            <a:noFill/>
            <a:prstDash val="solid"/>
          </a:ln>
        </p:spPr>
        <p:txBody>
          <a:bodyPr anchor="t">
            <a:normAutofit/>
          </a:bodyPr>
          <a:lstStyle/>
          <a:p>
            <a:pPr algn="l">
              <a:buNone/>
              <a:defRPr sz="2025" b="1" i="0">
                <a:solidFill>
                  <a:srgbClr val="000000"/>
                </a:solidFill>
                <a:latin typeface="Helvetica Neue"/>
                <a:ea typeface="Helvetica Neue"/>
                <a:cs typeface="Helvetica Neue"/>
              </a:defRPr>
            </a:pPr>
            <a:r>
              <a:rPr sz="2025" b="1" i="0">
                <a:solidFill>
                  <a:srgbClr val="000000"/>
                </a:solidFill>
                <a:latin typeface="Helvetica Neue"/>
                <a:ea typeface="Helvetica Neue"/>
                <a:cs typeface="Helvetica Neue"/>
              </a:rPr>
              <a:t>Maggioni et al.</a:t>
            </a:r>
          </a:p>
        </p:txBody>
      </p:sp>
      <p:sp>
        <p:nvSpPr>
          <p:cNvPr id="11" name="Rectangle 10">
            <a:extLst>
              <a:ext uri="{FF2B5EF4-FFF2-40B4-BE49-F238E27FC236}">
                <a16:creationId xmlns:a16="http://schemas.microsoft.com/office/drawing/2014/main" id="{1B7C4EDD-E862-4DEB-A7FC-3991E3264EC5}"/>
              </a:ext>
            </a:extLst>
          </p:cNvPr>
          <p:cNvSpPr>
            <a:spLocks noGrp="1"/>
          </p:cNvSpPr>
          <p:nvPr/>
        </p:nvSpPr>
        <p:spPr>
          <a:xfrm>
            <a:off x="4248150" y="2705100"/>
            <a:ext cx="3238500" cy="23812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Geodesic distance and tangent dynamics</a:t>
            </a:r>
          </a:p>
          <a:p>
            <a:endParaRPr sz="1500" b="0" i="0">
              <a:solidFill>
                <a:srgbClr val="5B6472"/>
              </a:solidFill>
              <a:latin typeface="Helvetica Neue"/>
              <a:ea typeface="Helvetica Neue"/>
              <a:cs typeface="Helvetica Neue"/>
            </a:endParaRP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Constraints belong in the interface and metric</a:t>
            </a:r>
          </a:p>
          <a:p>
            <a:endParaRPr sz="1500" b="0" i="0">
              <a:solidFill>
                <a:srgbClr val="5B6472"/>
              </a:solidFill>
              <a:latin typeface="Helvetica Neue"/>
              <a:ea typeface="Helvetica Neue"/>
              <a:cs typeface="Helvetica Neue"/>
            </a:endParaRP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Transfer across particle number</a:t>
            </a:r>
          </a:p>
        </p:txBody>
      </p:sp>
      <p:sp>
        <p:nvSpPr>
          <p:cNvPr id="12" name="Rectangle 11">
            <a:extLst>
              <a:ext uri="{FF2B5EF4-FFF2-40B4-BE49-F238E27FC236}">
                <a16:creationId xmlns:a16="http://schemas.microsoft.com/office/drawing/2014/main" id="{BEB637EB-54BB-4B06-B784-E9D5A364965F}"/>
              </a:ext>
            </a:extLst>
          </p:cNvPr>
          <p:cNvSpPr>
            <a:spLocks noGrp="1"/>
          </p:cNvSpPr>
          <p:nvPr/>
        </p:nvSpPr>
        <p:spPr>
          <a:xfrm>
            <a:off x="7820025" y="1571625"/>
            <a:ext cx="9525" cy="3762375"/>
          </a:xfrm>
          <a:prstGeom prst="rect">
            <a:avLst/>
          </a:prstGeom>
          <a:solidFill>
            <a:srgbClr val="B8BCC4"/>
          </a:solidFill>
          <a:ln w="0">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27AF54E8-EAF2-4915-8E4B-AA40CC2A3B8F}"/>
              </a:ext>
            </a:extLst>
          </p:cNvPr>
          <p:cNvSpPr>
            <a:spLocks noGrp="1"/>
          </p:cNvSpPr>
          <p:nvPr/>
        </p:nvSpPr>
        <p:spPr>
          <a:xfrm>
            <a:off x="8096250" y="1590675"/>
            <a:ext cx="3333750" cy="266700"/>
          </a:xfrm>
          <a:prstGeom prst="rect">
            <a:avLst/>
          </a:prstGeom>
          <a:noFill/>
          <a:ln w="0">
            <a:noFill/>
            <a:prstDash val="solid"/>
          </a:ln>
        </p:spPr>
        <p:txBody>
          <a:bodyPr anchor="t">
            <a:normAutofit fontScale="97696" lnSpcReduction="10000"/>
          </a:bodyPr>
          <a:lstStyle/>
          <a:p>
            <a:pPr algn="l">
              <a:buNone/>
              <a:defRPr sz="1275" b="1" i="0">
                <a:solidFill>
                  <a:srgbClr val="F06A3C"/>
                </a:solidFill>
                <a:latin typeface="Helvetica Neue"/>
                <a:ea typeface="Helvetica Neue"/>
                <a:cs typeface="Helvetica Neue"/>
              </a:defRPr>
            </a:pPr>
            <a:r>
              <a:rPr sz="1275" b="1" i="0">
                <a:solidFill>
                  <a:srgbClr val="F06A3C"/>
                </a:solidFill>
                <a:latin typeface="Helvetica Neue"/>
                <a:ea typeface="Helvetica Neue"/>
                <a:cs typeface="Helvetica Neue"/>
              </a:rPr>
              <a:t>EXPERIMENT</a:t>
            </a:r>
          </a:p>
        </p:txBody>
      </p:sp>
      <p:sp>
        <p:nvSpPr>
          <p:cNvPr id="14" name="Rectangle 13">
            <a:extLst>
              <a:ext uri="{FF2B5EF4-FFF2-40B4-BE49-F238E27FC236}">
                <a16:creationId xmlns:a16="http://schemas.microsoft.com/office/drawing/2014/main" id="{43F71CEA-9A3B-4196-B043-0F90E327FAD2}"/>
              </a:ext>
            </a:extLst>
          </p:cNvPr>
          <p:cNvSpPr>
            <a:spLocks noGrp="1"/>
          </p:cNvSpPr>
          <p:nvPr/>
        </p:nvSpPr>
        <p:spPr>
          <a:xfrm>
            <a:off x="8096250" y="2009775"/>
            <a:ext cx="3333750" cy="428625"/>
          </a:xfrm>
          <a:prstGeom prst="rect">
            <a:avLst/>
          </a:prstGeom>
          <a:noFill/>
          <a:ln w="0">
            <a:noFill/>
            <a:prstDash val="solid"/>
          </a:ln>
        </p:spPr>
        <p:txBody>
          <a:bodyPr anchor="t">
            <a:normAutofit/>
          </a:bodyPr>
          <a:lstStyle/>
          <a:p>
            <a:pPr algn="l">
              <a:buNone/>
              <a:defRPr sz="2025" b="1" i="0">
                <a:solidFill>
                  <a:srgbClr val="000000"/>
                </a:solidFill>
                <a:latin typeface="Helvetica Neue"/>
                <a:ea typeface="Helvetica Neue"/>
                <a:cs typeface="Helvetica Neue"/>
              </a:defRPr>
            </a:pPr>
            <a:r>
              <a:rPr sz="2025" b="1" i="0">
                <a:solidFill>
                  <a:srgbClr val="000000"/>
                </a:solidFill>
                <a:latin typeface="Helvetica Neue"/>
                <a:ea typeface="Helvetica Neue"/>
                <a:cs typeface="Helvetica Neue"/>
              </a:rPr>
              <a:t>Yu et al.</a:t>
            </a:r>
          </a:p>
        </p:txBody>
      </p:sp>
      <p:sp>
        <p:nvSpPr>
          <p:cNvPr id="15" name="Rectangle 14">
            <a:extLst>
              <a:ext uri="{FF2B5EF4-FFF2-40B4-BE49-F238E27FC236}">
                <a16:creationId xmlns:a16="http://schemas.microsoft.com/office/drawing/2014/main" id="{493DCFDD-EDA7-4084-8B0B-BEE437204A8C}"/>
              </a:ext>
            </a:extLst>
          </p:cNvPr>
          <p:cNvSpPr>
            <a:spLocks noGrp="1"/>
          </p:cNvSpPr>
          <p:nvPr/>
        </p:nvSpPr>
        <p:spPr>
          <a:xfrm>
            <a:off x="8096250" y="2705100"/>
            <a:ext cx="3238500" cy="23812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Physics-tailored force decomposition</a:t>
            </a:r>
          </a:p>
          <a:p>
            <a:endParaRPr sz="1500" b="0" i="0">
              <a:solidFill>
                <a:srgbClr val="5B6472"/>
              </a:solidFill>
              <a:latin typeface="Helvetica Neue"/>
              <a:ea typeface="Helvetica Neue"/>
              <a:cs typeface="Helvetica Neue"/>
            </a:endParaRP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Heterogeneity + nonreciprocity</a:t>
            </a:r>
          </a:p>
          <a:p>
            <a:endParaRPr sz="1500" b="0" i="0">
              <a:solidFill>
                <a:srgbClr val="5B6472"/>
              </a:solidFill>
              <a:latin typeface="Helvetica Neue"/>
              <a:ea typeface="Helvetica Neue"/>
              <a:cs typeface="Helvetica Neue"/>
            </a:endParaRP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Independent physical validation</a:t>
            </a:r>
          </a:p>
        </p:txBody>
      </p:sp>
      <p:sp>
        <p:nvSpPr>
          <p:cNvPr id="16" name="Rectangle 15">
            <a:extLst>
              <a:ext uri="{FF2B5EF4-FFF2-40B4-BE49-F238E27FC236}">
                <a16:creationId xmlns:a16="http://schemas.microsoft.com/office/drawing/2014/main" id="{738DC14B-0DBF-4678-AD37-7FB5C51766B0}"/>
              </a:ext>
            </a:extLst>
          </p:cNvPr>
          <p:cNvSpPr>
            <a:spLocks noGrp="1"/>
          </p:cNvSpPr>
          <p:nvPr/>
        </p:nvSpPr>
        <p:spPr>
          <a:xfrm>
            <a:off x="1657350" y="5543550"/>
            <a:ext cx="8877300" cy="561975"/>
          </a:xfrm>
          <a:prstGeom prst="rect">
            <a:avLst/>
          </a:prstGeom>
          <a:solidFill>
            <a:srgbClr val="F6F7F8"/>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290BC417-BAE3-4B49-B0B3-AE40BA348DAE}"/>
              </a:ext>
            </a:extLst>
          </p:cNvPr>
          <p:cNvSpPr>
            <a:spLocks noGrp="1"/>
          </p:cNvSpPr>
          <p:nvPr/>
        </p:nvSpPr>
        <p:spPr>
          <a:xfrm>
            <a:off x="1924050" y="5676900"/>
            <a:ext cx="8343900" cy="304800"/>
          </a:xfrm>
          <a:prstGeom prst="rect">
            <a:avLst/>
          </a:prstGeom>
          <a:noFill/>
          <a:ln w="0">
            <a:noFill/>
            <a:prstDash val="solid"/>
          </a:ln>
        </p:spPr>
        <p:txBody>
          <a:bodyPr anchor="t">
            <a:normAutofit fontScale="85278" lnSpcReduction="10000"/>
          </a:bodyPr>
          <a:lstStyle/>
          <a:p>
            <a:pPr algn="ctr">
              <a:buNone/>
              <a:defRPr sz="1800" b="1" i="0">
                <a:solidFill>
                  <a:srgbClr val="000000"/>
                </a:solidFill>
                <a:latin typeface="Helvetica Neue"/>
                <a:ea typeface="Helvetica Neue"/>
                <a:cs typeface="Helvetica Neue"/>
              </a:defRPr>
            </a:pPr>
            <a:r>
              <a:rPr sz="1800" b="1" i="0">
                <a:solidFill>
                  <a:srgbClr val="000000"/>
                </a:solidFill>
                <a:latin typeface="Helvetica Neue"/>
                <a:ea typeface="Helvetica Neue"/>
                <a:cs typeface="Helvetica Neue"/>
              </a:rPr>
              <a:t>Together: structure + identifiability + validation beyond trajectory fit</a:t>
            </a:r>
          </a:p>
        </p:txBody>
      </p:sp>
    </p:spTree>
    <p:extLst>
      <p:ext uri="{BB962C8B-B14F-4D97-AF65-F5344CB8AC3E}">
        <p14:creationId xmlns:p14="http://schemas.microsoft.com/office/powerpoint/2010/main" val="15654122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4EA8E5FA-C602-4559-9A56-030CCC2FA596}"/>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1A78DBE2-6AA2-49DC-A38C-D7B0A699A03B}"/>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Dusty plasma separates context from memory</a:t>
            </a:r>
          </a:p>
        </p:txBody>
      </p:sp>
      <p:cxnSp>
        <p:nvCxnSpPr>
          <p:cNvPr id="38" name="Straight Arrow Connector 37"/>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B86587FB-9E13-4C7F-97FC-79D63F520896}"/>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12</a:t>
            </a:r>
          </a:p>
        </p:txBody>
      </p:sp>
      <p:sp>
        <p:nvSpPr>
          <p:cNvPr id="5" name="Rectangle 4">
            <a:extLst>
              <a:ext uri="{FF2B5EF4-FFF2-40B4-BE49-F238E27FC236}">
                <a16:creationId xmlns:a16="http://schemas.microsoft.com/office/drawing/2014/main" id="{D238922A-DF57-41E8-861C-7D92F286B819}"/>
              </a:ext>
            </a:extLst>
          </p:cNvPr>
          <p:cNvSpPr>
            <a:spLocks noGrp="1"/>
          </p:cNvSpPr>
          <p:nvPr/>
        </p:nvSpPr>
        <p:spPr>
          <a:xfrm>
            <a:off x="666750" y="1495425"/>
            <a:ext cx="10858500" cy="514350"/>
          </a:xfrm>
          <a:prstGeom prst="rect">
            <a:avLst/>
          </a:prstGeom>
          <a:noFill/>
          <a:ln w="0">
            <a:noFill/>
            <a:prstDash val="solid"/>
          </a:ln>
        </p:spPr>
        <p:txBody>
          <a:bodyPr anchor="t">
            <a:normAutofit/>
          </a:bodyPr>
          <a:lstStyle/>
          <a:p>
            <a:pPr algn="ctr">
              <a:buNone/>
              <a:defRPr sz="2175" b="1" i="0">
                <a:solidFill>
                  <a:srgbClr val="143A72"/>
                </a:solidFill>
                <a:latin typeface="Helvetica Neue"/>
                <a:ea typeface="Helvetica Neue"/>
                <a:cs typeface="Helvetica Neue"/>
              </a:defRPr>
            </a:pPr>
            <a:r>
              <a:rPr sz="2175" b="1" i="0" dirty="0" err="1">
                <a:solidFill>
                  <a:srgbClr val="143A72"/>
                </a:solidFill>
                <a:latin typeface="Helvetica Neue"/>
                <a:ea typeface="Helvetica Neue"/>
                <a:cs typeface="Helvetica Neue"/>
              </a:rPr>
              <a:t>m</a:t>
            </a:r>
            <a:r>
              <a:rPr lang="en-US" sz="2175" b="1" baseline="-25000" dirty="0" err="1">
                <a:solidFill>
                  <a:srgbClr val="143A72"/>
                </a:solidFill>
                <a:latin typeface="Helvetica Neue"/>
                <a:ea typeface="Helvetica Neue"/>
                <a:cs typeface="Helvetica Neue"/>
              </a:rPr>
              <a:t>i</a:t>
            </a:r>
            <a:r>
              <a:rPr sz="2175" b="1" i="0" dirty="0" err="1">
                <a:solidFill>
                  <a:srgbClr val="143A72"/>
                </a:solidFill>
                <a:latin typeface="Helvetica Neue"/>
                <a:ea typeface="Helvetica Neue"/>
                <a:cs typeface="Helvetica Neue"/>
              </a:rPr>
              <a:t>v̇</a:t>
            </a:r>
            <a:r>
              <a:rPr lang="en-US" sz="2175" b="1" baseline="-25000" dirty="0" err="1">
                <a:solidFill>
                  <a:srgbClr val="143A72"/>
                </a:solidFill>
                <a:latin typeface="Helvetica Neue"/>
                <a:ea typeface="Helvetica Neue"/>
                <a:cs typeface="Helvetica Neue"/>
              </a:rPr>
              <a:t>i</a:t>
            </a:r>
            <a:r>
              <a:rPr sz="2175" b="1" i="0" baseline="-25000" dirty="0">
                <a:solidFill>
                  <a:srgbClr val="143A72"/>
                </a:solidFill>
                <a:latin typeface="Helvetica Neue"/>
                <a:ea typeface="Helvetica Neue"/>
                <a:cs typeface="Helvetica Neue"/>
              </a:rPr>
              <a:t> </a:t>
            </a:r>
            <a:r>
              <a:rPr sz="2175" b="1" i="0" dirty="0">
                <a:solidFill>
                  <a:srgbClr val="143A72"/>
                </a:solidFill>
                <a:latin typeface="Helvetica Neue"/>
                <a:ea typeface="Helvetica Neue"/>
                <a:cs typeface="Helvetica Neue"/>
              </a:rPr>
              <a:t>= </a:t>
            </a:r>
            <a:r>
              <a:rPr sz="2175" b="1" i="0" dirty="0" err="1">
                <a:solidFill>
                  <a:srgbClr val="143A72"/>
                </a:solidFill>
                <a:latin typeface="Helvetica Neue"/>
                <a:ea typeface="Helvetica Neue"/>
                <a:cs typeface="Helvetica Neue"/>
              </a:rPr>
              <a:t>F</a:t>
            </a:r>
            <a:r>
              <a:rPr lang="en-US" sz="2000" b="1" i="0" baseline="30000" dirty="0" err="1">
                <a:solidFill>
                  <a:srgbClr val="143A72"/>
                </a:solidFill>
                <a:latin typeface="Helvetica Neue"/>
                <a:ea typeface="Helvetica Neue"/>
                <a:cs typeface="Helvetica Neue"/>
              </a:rPr>
              <a:t>conf</a:t>
            </a:r>
            <a:r>
              <a:rPr sz="2175" b="1" i="0" dirty="0">
                <a:solidFill>
                  <a:srgbClr val="143A72"/>
                </a:solidFill>
                <a:latin typeface="Helvetica Neue"/>
                <a:ea typeface="Helvetica Neue"/>
                <a:cs typeface="Helvetica Neue"/>
              </a:rPr>
              <a:t> + </a:t>
            </a:r>
            <a:r>
              <a:rPr sz="2175" b="1" i="0" dirty="0" err="1">
                <a:solidFill>
                  <a:srgbClr val="143A72"/>
                </a:solidFill>
                <a:latin typeface="Helvetica Neue"/>
                <a:ea typeface="Helvetica Neue"/>
                <a:cs typeface="Helvetica Neue"/>
              </a:rPr>
              <a:t>F</a:t>
            </a:r>
            <a:r>
              <a:rPr lang="en-US" sz="2175" b="1" i="0" baseline="30000" dirty="0" err="1">
                <a:solidFill>
                  <a:srgbClr val="143A72"/>
                </a:solidFill>
                <a:latin typeface="Helvetica Neue"/>
                <a:ea typeface="Helvetica Neue"/>
                <a:cs typeface="Helvetica Neue"/>
              </a:rPr>
              <a:t>ext</a:t>
            </a:r>
            <a:r>
              <a:rPr sz="2175" b="1" i="0" dirty="0">
                <a:solidFill>
                  <a:srgbClr val="143A72"/>
                </a:solidFill>
                <a:latin typeface="Helvetica Neue"/>
                <a:ea typeface="Helvetica Neue"/>
                <a:cs typeface="Helvetica Neue"/>
              </a:rPr>
              <a:t> − </a:t>
            </a:r>
            <a:r>
              <a:rPr sz="2175" b="1" i="0" dirty="0" err="1">
                <a:solidFill>
                  <a:srgbClr val="143A72"/>
                </a:solidFill>
                <a:latin typeface="Helvetica Neue"/>
                <a:ea typeface="Helvetica Neue"/>
                <a:cs typeface="Helvetica Neue"/>
              </a:rPr>
              <a:t>γ</a:t>
            </a:r>
            <a:r>
              <a:rPr lang="en-US" sz="2175" b="1" baseline="-25000" dirty="0" err="1">
                <a:solidFill>
                  <a:srgbClr val="143A72"/>
                </a:solidFill>
                <a:latin typeface="Helvetica Neue"/>
                <a:ea typeface="Helvetica Neue"/>
                <a:cs typeface="Helvetica Neue"/>
              </a:rPr>
              <a:t>i</a:t>
            </a:r>
            <a:r>
              <a:rPr sz="2175" b="1" i="0" dirty="0" err="1">
                <a:solidFill>
                  <a:srgbClr val="143A72"/>
                </a:solidFill>
                <a:latin typeface="Helvetica Neue"/>
                <a:ea typeface="Helvetica Neue"/>
                <a:cs typeface="Helvetica Neue"/>
              </a:rPr>
              <a:t>v</a:t>
            </a:r>
            <a:r>
              <a:rPr lang="en-US" sz="2175" b="1" baseline="-25000" dirty="0" err="1">
                <a:solidFill>
                  <a:srgbClr val="143A72"/>
                </a:solidFill>
                <a:latin typeface="Helvetica Neue"/>
                <a:ea typeface="Helvetica Neue"/>
                <a:cs typeface="Helvetica Neue"/>
              </a:rPr>
              <a:t>i</a:t>
            </a:r>
            <a:r>
              <a:rPr sz="2175" b="1" i="0" dirty="0">
                <a:solidFill>
                  <a:srgbClr val="143A72"/>
                </a:solidFill>
                <a:latin typeface="Helvetica Neue"/>
                <a:ea typeface="Helvetica Neue"/>
                <a:cs typeface="Helvetica Neue"/>
              </a:rPr>
              <a:t> + </a:t>
            </a:r>
            <a:r>
              <a:rPr sz="2175" b="1" i="0" dirty="0" err="1">
                <a:solidFill>
                  <a:srgbClr val="143A72"/>
                </a:solidFill>
                <a:latin typeface="Helvetica Neue"/>
                <a:ea typeface="Helvetica Neue"/>
                <a:cs typeface="Helvetica Neue"/>
              </a:rPr>
              <a:t>Σ</a:t>
            </a:r>
            <a:r>
              <a:rPr lang="en-US" sz="2175" b="1" baseline="-25000" dirty="0" err="1">
                <a:solidFill>
                  <a:srgbClr val="143A72"/>
                </a:solidFill>
                <a:latin typeface="Helvetica Neue"/>
                <a:ea typeface="Helvetica Neue"/>
                <a:cs typeface="Helvetica Neue"/>
              </a:rPr>
              <a:t>j</a:t>
            </a:r>
            <a:r>
              <a:rPr lang="en-US" sz="2175" b="1" i="0" baseline="-25000" dirty="0">
                <a:solidFill>
                  <a:srgbClr val="143A72"/>
                </a:solidFill>
                <a:latin typeface="Helvetica Neue"/>
                <a:ea typeface="Helvetica Neue"/>
                <a:cs typeface="Helvetica Neue"/>
              </a:rPr>
              <a:t> &lt; </a:t>
            </a:r>
            <a:r>
              <a:rPr lang="en-US" sz="2175" b="1" i="0" baseline="-25000" dirty="0" err="1">
                <a:solidFill>
                  <a:srgbClr val="143A72"/>
                </a:solidFill>
                <a:latin typeface="Helvetica Neue"/>
                <a:ea typeface="Helvetica Neue"/>
                <a:cs typeface="Helvetica Neue"/>
              </a:rPr>
              <a:t>i</a:t>
            </a:r>
            <a:r>
              <a:rPr lang="en-US" sz="2175" b="1" i="0" baseline="-25000" dirty="0">
                <a:solidFill>
                  <a:srgbClr val="143A72"/>
                </a:solidFill>
                <a:latin typeface="Helvetica Neue"/>
                <a:ea typeface="Helvetica Neue"/>
                <a:cs typeface="Helvetica Neue"/>
              </a:rPr>
              <a:t> </a:t>
            </a:r>
            <a:r>
              <a:rPr sz="2175" b="1" i="0" dirty="0" err="1">
                <a:solidFill>
                  <a:srgbClr val="143A72"/>
                </a:solidFill>
                <a:latin typeface="Helvetica Neue"/>
                <a:ea typeface="Helvetica Neue"/>
                <a:cs typeface="Helvetica Neue"/>
              </a:rPr>
              <a:t>F</a:t>
            </a:r>
            <a:r>
              <a:rPr lang="en-US" sz="2175" b="1" i="0" baseline="-25000" dirty="0" err="1">
                <a:solidFill>
                  <a:srgbClr val="143A72"/>
                </a:solidFill>
                <a:latin typeface="Helvetica Neue"/>
                <a:ea typeface="Helvetica Neue"/>
                <a:cs typeface="Helvetica Neue"/>
              </a:rPr>
              <a:t>ij</a:t>
            </a:r>
            <a:r>
              <a:rPr sz="2175" b="1" i="0" dirty="0">
                <a:solidFill>
                  <a:srgbClr val="143A72"/>
                </a:solidFill>
                <a:latin typeface="Helvetica Neue"/>
                <a:ea typeface="Helvetica Neue"/>
                <a:cs typeface="Helvetica Neue"/>
              </a:rPr>
              <a:t>(</a:t>
            </a:r>
            <a:r>
              <a:rPr lang="en-US" sz="2175" b="1" i="0" dirty="0">
                <a:solidFill>
                  <a:srgbClr val="143A72"/>
                </a:solidFill>
                <a:latin typeface="Helvetica Neue"/>
                <a:ea typeface="Helvetica Neue"/>
                <a:cs typeface="Helvetica Neue"/>
              </a:rPr>
              <a:t> </a:t>
            </a:r>
            <a:r>
              <a:rPr sz="2175" b="1" i="0" dirty="0" err="1">
                <a:solidFill>
                  <a:srgbClr val="143A72"/>
                </a:solidFill>
                <a:latin typeface="Helvetica Neue"/>
                <a:ea typeface="Helvetica Neue"/>
                <a:cs typeface="Helvetica Neue"/>
              </a:rPr>
              <a:t>r</a:t>
            </a:r>
            <a:r>
              <a:rPr lang="en-US" sz="2175" b="1" i="0" baseline="-25000" dirty="0" err="1">
                <a:solidFill>
                  <a:srgbClr val="143A72"/>
                </a:solidFill>
                <a:latin typeface="Helvetica Neue"/>
                <a:ea typeface="Helvetica Neue"/>
                <a:cs typeface="Helvetica Neue"/>
              </a:rPr>
              <a:t>i</a:t>
            </a:r>
            <a:r>
              <a:rPr sz="2175" b="1" i="0" dirty="0" err="1">
                <a:solidFill>
                  <a:srgbClr val="143A72"/>
                </a:solidFill>
                <a:latin typeface="Helvetica Neue"/>
                <a:ea typeface="Helvetica Neue"/>
                <a:cs typeface="Helvetica Neue"/>
              </a:rPr>
              <a:t>,r</a:t>
            </a:r>
            <a:r>
              <a:rPr sz="2175" b="1" i="0" dirty="0">
                <a:solidFill>
                  <a:srgbClr val="143A72"/>
                </a:solidFill>
                <a:latin typeface="Helvetica Neue"/>
                <a:ea typeface="Helvetica Neue"/>
                <a:cs typeface="Helvetica Neue"/>
              </a:rPr>
              <a:t>ⱼ,</a:t>
            </a:r>
            <a:r>
              <a:rPr lang="en-US" sz="2175" b="1" dirty="0">
                <a:solidFill>
                  <a:srgbClr val="143A72"/>
                </a:solidFill>
                <a:latin typeface="Helvetica Neue"/>
                <a:ea typeface="Helvetica Neue"/>
                <a:cs typeface="Helvetica Neue"/>
              </a:rPr>
              <a:t>𝛓</a:t>
            </a:r>
            <a:r>
              <a:rPr sz="2175" b="1" i="0" dirty="0">
                <a:solidFill>
                  <a:srgbClr val="143A72"/>
                </a:solidFill>
                <a:latin typeface="Helvetica Neue"/>
                <a:ea typeface="Helvetica Neue"/>
                <a:cs typeface="Helvetica Neue"/>
              </a:rPr>
              <a:t>ⱼ</a:t>
            </a:r>
            <a:r>
              <a:rPr lang="en-US" sz="2175" b="1" i="0" dirty="0">
                <a:solidFill>
                  <a:srgbClr val="143A72"/>
                </a:solidFill>
                <a:latin typeface="Helvetica Neue"/>
                <a:ea typeface="Helvetica Neue"/>
                <a:cs typeface="Helvetica Neue"/>
              </a:rPr>
              <a:t> </a:t>
            </a:r>
            <a:r>
              <a:rPr sz="2175" b="1" i="0" dirty="0">
                <a:solidFill>
                  <a:srgbClr val="143A72"/>
                </a:solidFill>
                <a:latin typeface="Helvetica Neue"/>
                <a:ea typeface="Helvetica Neue"/>
                <a:cs typeface="Helvetica Neue"/>
              </a:rPr>
              <a:t>;</a:t>
            </a:r>
            <a:r>
              <a:rPr lang="en-US" sz="2175" b="1" i="0" dirty="0">
                <a:solidFill>
                  <a:srgbClr val="143A72"/>
                </a:solidFill>
                <a:latin typeface="Helvetica Neue"/>
                <a:ea typeface="Helvetica Neue"/>
                <a:cs typeface="Helvetica Neue"/>
              </a:rPr>
              <a:t> </a:t>
            </a:r>
            <a:r>
              <a:rPr sz="2175" b="1" i="0" dirty="0" err="1">
                <a:solidFill>
                  <a:srgbClr val="143A72"/>
                </a:solidFill>
                <a:latin typeface="Helvetica Neue"/>
                <a:ea typeface="Helvetica Neue"/>
                <a:cs typeface="Helvetica Neue"/>
              </a:rPr>
              <a:t>μ</a:t>
            </a:r>
            <a:r>
              <a:rPr lang="en-US" sz="2175" b="1" i="0" dirty="0">
                <a:solidFill>
                  <a:srgbClr val="143A72"/>
                </a:solidFill>
                <a:latin typeface="Helvetica Neue"/>
                <a:ea typeface="Helvetica Neue"/>
                <a:cs typeface="Helvetica Neue"/>
              </a:rPr>
              <a:t> </a:t>
            </a:r>
            <a:r>
              <a:rPr sz="2175" b="1" i="0" dirty="0">
                <a:solidFill>
                  <a:srgbClr val="143A72"/>
                </a:solidFill>
                <a:latin typeface="Helvetica Neue"/>
                <a:ea typeface="Helvetica Neue"/>
                <a:cs typeface="Helvetica Neue"/>
              </a:rPr>
              <a:t>) + </a:t>
            </a:r>
            <a:r>
              <a:rPr sz="2175" b="1" i="0" dirty="0" err="1">
                <a:solidFill>
                  <a:srgbClr val="143A72"/>
                </a:solidFill>
                <a:latin typeface="Helvetica Neue"/>
                <a:ea typeface="Helvetica Neue"/>
                <a:cs typeface="Helvetica Neue"/>
              </a:rPr>
              <a:t>η</a:t>
            </a:r>
            <a:r>
              <a:rPr sz="2175" b="1" i="0" dirty="0">
                <a:solidFill>
                  <a:srgbClr val="143A72"/>
                </a:solidFill>
                <a:latin typeface="Helvetica Neue"/>
                <a:ea typeface="Helvetica Neue"/>
                <a:cs typeface="Helvetica Neue"/>
              </a:rPr>
              <a:t>ᵢ</a:t>
            </a:r>
          </a:p>
        </p:txBody>
      </p:sp>
      <p:sp>
        <p:nvSpPr>
          <p:cNvPr id="6" name="Rectangle 5">
            <a:extLst>
              <a:ext uri="{FF2B5EF4-FFF2-40B4-BE49-F238E27FC236}">
                <a16:creationId xmlns:a16="http://schemas.microsoft.com/office/drawing/2014/main" id="{6B6C5DA7-8053-4800-8963-581371FC0D82}"/>
              </a:ext>
            </a:extLst>
          </p:cNvPr>
          <p:cNvSpPr>
            <a:spLocks noGrp="1"/>
          </p:cNvSpPr>
          <p:nvPr/>
        </p:nvSpPr>
        <p:spPr>
          <a:xfrm>
            <a:off x="3971925" y="2047875"/>
            <a:ext cx="4248150" cy="400050"/>
          </a:xfrm>
          <a:prstGeom prst="rect">
            <a:avLst/>
          </a:prstGeom>
          <a:noFill/>
          <a:ln w="0">
            <a:noFill/>
            <a:prstDash val="solid"/>
          </a:ln>
        </p:spPr>
        <p:txBody>
          <a:bodyPr anchor="t">
            <a:normAutofit fontScale="96428"/>
          </a:bodyPr>
          <a:lstStyle/>
          <a:p>
            <a:pPr algn="ctr">
              <a:buNone/>
              <a:defRPr sz="2100" b="1" i="0">
                <a:solidFill>
                  <a:srgbClr val="18AEB5"/>
                </a:solidFill>
                <a:latin typeface="Helvetica Neue"/>
                <a:ea typeface="Helvetica Neue"/>
                <a:cs typeface="Helvetica Neue"/>
              </a:defRPr>
            </a:pPr>
            <a:r>
              <a:rPr sz="2100" b="1" i="0" dirty="0" err="1">
                <a:solidFill>
                  <a:srgbClr val="18AEB5"/>
                </a:solidFill>
                <a:latin typeface="Helvetica Neue"/>
                <a:ea typeface="Helvetica Neue"/>
                <a:cs typeface="Helvetica Neue"/>
              </a:rPr>
              <a:t>τ</a:t>
            </a:r>
            <a:r>
              <a:rPr sz="2100" b="1" i="0" baseline="-25000" dirty="0" err="1">
                <a:solidFill>
                  <a:srgbClr val="18AEB5"/>
                </a:solidFill>
                <a:latin typeface="Helvetica Neue"/>
                <a:ea typeface="Helvetica Neue"/>
                <a:cs typeface="Helvetica Neue"/>
              </a:rPr>
              <a:t>w</a:t>
            </a:r>
            <a:r>
              <a:rPr sz="2100" b="1" i="0" dirty="0">
                <a:solidFill>
                  <a:srgbClr val="18AEB5"/>
                </a:solidFill>
                <a:latin typeface="Helvetica Neue"/>
                <a:ea typeface="Helvetica Neue"/>
                <a:cs typeface="Helvetica Neue"/>
              </a:rPr>
              <a:t> </a:t>
            </a:r>
            <a:r>
              <a:rPr lang="en-US" sz="2100" b="1" i="0" dirty="0">
                <a:solidFill>
                  <a:srgbClr val="18AEB5"/>
                </a:solidFill>
                <a:latin typeface="Helvetica Neue"/>
                <a:ea typeface="Helvetica Neue"/>
                <a:cs typeface="Helvetica Neue"/>
              </a:rPr>
              <a:t>𝛓</a:t>
            </a:r>
            <a:r>
              <a:rPr sz="2100" b="1" i="0" dirty="0">
                <a:solidFill>
                  <a:srgbClr val="18AEB5"/>
                </a:solidFill>
                <a:latin typeface="Helvetica Neue"/>
                <a:ea typeface="Helvetica Neue"/>
                <a:cs typeface="Helvetica Neue"/>
              </a:rPr>
              <a:t>̇ⱼ = </a:t>
            </a:r>
            <a:r>
              <a:rPr lang="en-US" sz="2100" b="1" dirty="0">
                <a:solidFill>
                  <a:srgbClr val="18AEB5"/>
                </a:solidFill>
                <a:latin typeface="Helvetica Neue"/>
                <a:ea typeface="Helvetica Neue"/>
                <a:cs typeface="Helvetica Neue"/>
              </a:rPr>
              <a:t>𝛓</a:t>
            </a:r>
            <a:r>
              <a:rPr sz="2100" b="1" i="0" baseline="-25000" dirty="0">
                <a:solidFill>
                  <a:srgbClr val="18AEB5"/>
                </a:solidFill>
                <a:latin typeface="Helvetica Neue"/>
                <a:ea typeface="Helvetica Neue"/>
                <a:cs typeface="Helvetica Neue"/>
              </a:rPr>
              <a:t>eq</a:t>
            </a:r>
            <a:r>
              <a:rPr sz="2100" b="1" i="0" dirty="0">
                <a:solidFill>
                  <a:srgbClr val="18AEB5"/>
                </a:solidFill>
                <a:latin typeface="Helvetica Neue"/>
                <a:ea typeface="Helvetica Neue"/>
                <a:cs typeface="Helvetica Neue"/>
              </a:rPr>
              <a:t>(Eⱼ) − </a:t>
            </a:r>
            <a:r>
              <a:rPr lang="en-US" sz="2100" b="1" dirty="0">
                <a:solidFill>
                  <a:srgbClr val="18AEB5"/>
                </a:solidFill>
                <a:latin typeface="Helvetica Neue"/>
                <a:ea typeface="Helvetica Neue"/>
                <a:cs typeface="Helvetica Neue"/>
              </a:rPr>
              <a:t>𝛓</a:t>
            </a:r>
            <a:r>
              <a:rPr sz="2100" b="1" i="0" dirty="0">
                <a:solidFill>
                  <a:srgbClr val="18AEB5"/>
                </a:solidFill>
                <a:latin typeface="Helvetica Neue"/>
                <a:ea typeface="Helvetica Neue"/>
                <a:cs typeface="Helvetica Neue"/>
              </a:rPr>
              <a:t>ⱼ</a:t>
            </a:r>
          </a:p>
        </p:txBody>
      </p:sp>
      <p:cxnSp>
        <p:nvCxnSpPr>
          <p:cNvPr id="42" name="Straight Arrow Connector 41"/>
          <p:cNvCxnSpPr/>
          <p:nvPr/>
        </p:nvCxnSpPr>
        <p:spPr>
          <a:xfrm>
            <a:off x="1000125" y="3190875"/>
            <a:ext cx="10144125" cy="953"/>
          </a:xfrm>
          <a:prstGeom prst="straightConnector1">
            <a:avLst/>
          </a:prstGeom>
          <a:ln w="19050">
            <a:solidFill>
              <a:srgbClr val="000000"/>
            </a:solidFill>
            <a:prstDash val="solid"/>
          </a:ln>
        </p:spPr>
      </p:cxnSp>
      <p:sp>
        <p:nvSpPr>
          <p:cNvPr id="8" name="Oval 7">
            <a:extLst>
              <a:ext uri="{FF2B5EF4-FFF2-40B4-BE49-F238E27FC236}">
                <a16:creationId xmlns:a16="http://schemas.microsoft.com/office/drawing/2014/main" id="{18D9C225-30DA-44B6-8040-11EE53D18AA5}"/>
              </a:ext>
            </a:extLst>
          </p:cNvPr>
          <p:cNvSpPr>
            <a:spLocks noGrp="1"/>
          </p:cNvSpPr>
          <p:nvPr/>
        </p:nvSpPr>
        <p:spPr>
          <a:xfrm>
            <a:off x="1000125" y="3105150"/>
            <a:ext cx="171450" cy="171450"/>
          </a:xfrm>
          <a:prstGeom prst="ellipse">
            <a:avLst/>
          </a:prstGeom>
          <a:solidFill>
            <a:srgbClr val="3D8DFF"/>
          </a:solidFill>
          <a:ln w="4763">
            <a:solidFill>
              <a:srgbClr val="000000"/>
            </a:solidFill>
            <a:prstDash val="solid"/>
          </a:ln>
        </p:spPr>
        <p:txBody>
          <a:bodyPr/>
          <a:lstStyle/>
          <a:p>
            <a:endParaRPr lang="en-US"/>
          </a:p>
        </p:txBody>
      </p:sp>
      <p:sp>
        <p:nvSpPr>
          <p:cNvPr id="9" name="Rectangle 8">
            <a:extLst>
              <a:ext uri="{FF2B5EF4-FFF2-40B4-BE49-F238E27FC236}">
                <a16:creationId xmlns:a16="http://schemas.microsoft.com/office/drawing/2014/main" id="{424C51FF-68B3-4F2C-9ADB-088DF5BD75B1}"/>
              </a:ext>
            </a:extLst>
          </p:cNvPr>
          <p:cNvSpPr>
            <a:spLocks noGrp="1"/>
          </p:cNvSpPr>
          <p:nvPr/>
        </p:nvSpPr>
        <p:spPr>
          <a:xfrm>
            <a:off x="1000125" y="3524250"/>
            <a:ext cx="2190750" cy="285750"/>
          </a:xfrm>
          <a:prstGeom prst="rect">
            <a:avLst/>
          </a:prstGeom>
          <a:noFill/>
          <a:ln w="0">
            <a:noFill/>
            <a:prstDash val="solid"/>
          </a:ln>
        </p:spPr>
        <p:txBody>
          <a:bodyPr anchor="t">
            <a:normAutofit fontScale="94444" lnSpcReduction="10000"/>
          </a:bodyPr>
          <a:lstStyle/>
          <a:p>
            <a:pPr algn="l">
              <a:buNone/>
              <a:defRPr sz="1350" b="1" i="0">
                <a:solidFill>
                  <a:srgbClr val="143A72"/>
                </a:solidFill>
                <a:latin typeface="Helvetica Neue"/>
                <a:ea typeface="Helvetica Neue"/>
                <a:cs typeface="Helvetica Neue"/>
              </a:defRPr>
            </a:pPr>
            <a:r>
              <a:rPr sz="1350" b="1" i="0">
                <a:solidFill>
                  <a:srgbClr val="143A72"/>
                </a:solidFill>
                <a:latin typeface="Helvetica Neue"/>
                <a:ea typeface="Helvetica Neue"/>
                <a:cs typeface="Helvetica Neue"/>
              </a:rPr>
              <a:t>PAIR</a:t>
            </a:r>
          </a:p>
        </p:txBody>
      </p:sp>
      <p:sp>
        <p:nvSpPr>
          <p:cNvPr id="10" name="Rectangle 9">
            <a:extLst>
              <a:ext uri="{FF2B5EF4-FFF2-40B4-BE49-F238E27FC236}">
                <a16:creationId xmlns:a16="http://schemas.microsoft.com/office/drawing/2014/main" id="{6435B744-93FE-475D-82AC-13B9DAD9A477}"/>
              </a:ext>
            </a:extLst>
          </p:cNvPr>
          <p:cNvSpPr>
            <a:spLocks noGrp="1"/>
          </p:cNvSpPr>
          <p:nvPr/>
        </p:nvSpPr>
        <p:spPr>
          <a:xfrm>
            <a:off x="1000125" y="3952875"/>
            <a:ext cx="2238375" cy="8953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Fast wake relaxation</a:t>
            </a: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weak collective effects</a:t>
            </a:r>
          </a:p>
        </p:txBody>
      </p:sp>
      <p:sp>
        <p:nvSpPr>
          <p:cNvPr id="11" name="Oval 10">
            <a:extLst>
              <a:ext uri="{FF2B5EF4-FFF2-40B4-BE49-F238E27FC236}">
                <a16:creationId xmlns:a16="http://schemas.microsoft.com/office/drawing/2014/main" id="{F7E22057-15DF-40F9-955E-A1BDC82BB0C0}"/>
              </a:ext>
            </a:extLst>
          </p:cNvPr>
          <p:cNvSpPr>
            <a:spLocks noGrp="1"/>
          </p:cNvSpPr>
          <p:nvPr/>
        </p:nvSpPr>
        <p:spPr>
          <a:xfrm>
            <a:off x="3714750" y="3105150"/>
            <a:ext cx="171450" cy="171450"/>
          </a:xfrm>
          <a:prstGeom prst="ellipse">
            <a:avLst/>
          </a:prstGeom>
          <a:solidFill>
            <a:srgbClr val="3D8DFF"/>
          </a:solidFill>
          <a:ln w="4763">
            <a:solidFill>
              <a:srgbClr val="000000"/>
            </a:solidFill>
            <a:prstDash val="solid"/>
          </a:ln>
        </p:spPr>
        <p:txBody>
          <a:bodyPr/>
          <a:lstStyle/>
          <a:p>
            <a:endParaRPr lang="en-US"/>
          </a:p>
        </p:txBody>
      </p:sp>
      <p:sp>
        <p:nvSpPr>
          <p:cNvPr id="12" name="Rectangle 11">
            <a:extLst>
              <a:ext uri="{FF2B5EF4-FFF2-40B4-BE49-F238E27FC236}">
                <a16:creationId xmlns:a16="http://schemas.microsoft.com/office/drawing/2014/main" id="{D665AE24-139F-430D-9162-F0C1F2404490}"/>
              </a:ext>
            </a:extLst>
          </p:cNvPr>
          <p:cNvSpPr>
            <a:spLocks noGrp="1"/>
          </p:cNvSpPr>
          <p:nvPr/>
        </p:nvSpPr>
        <p:spPr>
          <a:xfrm>
            <a:off x="3714750" y="3524250"/>
            <a:ext cx="2190750" cy="285750"/>
          </a:xfrm>
          <a:prstGeom prst="rect">
            <a:avLst/>
          </a:prstGeom>
          <a:noFill/>
          <a:ln w="0">
            <a:noFill/>
            <a:prstDash val="solid"/>
          </a:ln>
        </p:spPr>
        <p:txBody>
          <a:bodyPr anchor="t">
            <a:normAutofit fontScale="94444" lnSpcReduction="10000"/>
          </a:bodyPr>
          <a:lstStyle/>
          <a:p>
            <a:pPr algn="l">
              <a:buNone/>
              <a:defRPr sz="1350" b="1" i="0">
                <a:solidFill>
                  <a:srgbClr val="143A72"/>
                </a:solidFill>
                <a:latin typeface="Helvetica Neue"/>
                <a:ea typeface="Helvetica Neue"/>
                <a:cs typeface="Helvetica Neue"/>
              </a:defRPr>
            </a:pPr>
            <a:r>
              <a:rPr sz="1350" b="1" i="0">
                <a:solidFill>
                  <a:srgbClr val="143A72"/>
                </a:solidFill>
                <a:latin typeface="Helvetica Neue"/>
                <a:ea typeface="Helvetica Neue"/>
                <a:cs typeface="Helvetica Neue"/>
              </a:rPr>
              <a:t>CONTEXT</a:t>
            </a:r>
          </a:p>
        </p:txBody>
      </p:sp>
      <p:sp>
        <p:nvSpPr>
          <p:cNvPr id="13" name="Rectangle 12">
            <a:extLst>
              <a:ext uri="{FF2B5EF4-FFF2-40B4-BE49-F238E27FC236}">
                <a16:creationId xmlns:a16="http://schemas.microsoft.com/office/drawing/2014/main" id="{FA911C69-8471-4AC3-930B-DF8109C469F4}"/>
              </a:ext>
            </a:extLst>
          </p:cNvPr>
          <p:cNvSpPr>
            <a:spLocks noGrp="1"/>
          </p:cNvSpPr>
          <p:nvPr/>
        </p:nvSpPr>
        <p:spPr>
          <a:xfrm>
            <a:off x="3714750" y="3952875"/>
            <a:ext cx="2238375" cy="8953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Local geometry changes</a:t>
            </a: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effective interactions</a:t>
            </a:r>
          </a:p>
        </p:txBody>
      </p:sp>
      <p:sp>
        <p:nvSpPr>
          <p:cNvPr id="14" name="Oval 13">
            <a:extLst>
              <a:ext uri="{FF2B5EF4-FFF2-40B4-BE49-F238E27FC236}">
                <a16:creationId xmlns:a16="http://schemas.microsoft.com/office/drawing/2014/main" id="{9C8A21E4-0837-4E0D-B240-6E98134E600C}"/>
              </a:ext>
            </a:extLst>
          </p:cNvPr>
          <p:cNvSpPr>
            <a:spLocks noGrp="1"/>
          </p:cNvSpPr>
          <p:nvPr/>
        </p:nvSpPr>
        <p:spPr>
          <a:xfrm>
            <a:off x="6429375" y="3105150"/>
            <a:ext cx="171450" cy="171450"/>
          </a:xfrm>
          <a:prstGeom prst="ellipse">
            <a:avLst/>
          </a:prstGeom>
          <a:solidFill>
            <a:srgbClr val="18AEB5"/>
          </a:solidFill>
          <a:ln w="4763">
            <a:solidFill>
              <a:srgbClr val="000000"/>
            </a:solidFill>
            <a:prstDash val="solid"/>
          </a:ln>
        </p:spPr>
        <p:txBody>
          <a:bodyPr/>
          <a:lstStyle/>
          <a:p>
            <a:endParaRPr lang="en-US"/>
          </a:p>
        </p:txBody>
      </p:sp>
      <p:sp>
        <p:nvSpPr>
          <p:cNvPr id="15" name="Rectangle 14">
            <a:extLst>
              <a:ext uri="{FF2B5EF4-FFF2-40B4-BE49-F238E27FC236}">
                <a16:creationId xmlns:a16="http://schemas.microsoft.com/office/drawing/2014/main" id="{CB8887F3-CB5F-44EF-BB56-E9D235BBE2CD}"/>
              </a:ext>
            </a:extLst>
          </p:cNvPr>
          <p:cNvSpPr>
            <a:spLocks noGrp="1"/>
          </p:cNvSpPr>
          <p:nvPr/>
        </p:nvSpPr>
        <p:spPr>
          <a:xfrm>
            <a:off x="6429375" y="3524250"/>
            <a:ext cx="2190750" cy="285750"/>
          </a:xfrm>
          <a:prstGeom prst="rect">
            <a:avLst/>
          </a:prstGeom>
          <a:noFill/>
          <a:ln w="0">
            <a:noFill/>
            <a:prstDash val="solid"/>
          </a:ln>
        </p:spPr>
        <p:txBody>
          <a:bodyPr anchor="t">
            <a:normAutofit fontScale="94444" lnSpcReduction="10000"/>
          </a:bodyPr>
          <a:lstStyle/>
          <a:p>
            <a:pPr algn="l">
              <a:buNone/>
              <a:defRPr sz="1350" b="1" i="0">
                <a:solidFill>
                  <a:srgbClr val="143A72"/>
                </a:solidFill>
                <a:latin typeface="Helvetica Neue"/>
                <a:ea typeface="Helvetica Neue"/>
                <a:cs typeface="Helvetica Neue"/>
              </a:defRPr>
            </a:pPr>
            <a:r>
              <a:rPr sz="1350" b="1" i="0">
                <a:solidFill>
                  <a:srgbClr val="143A72"/>
                </a:solidFill>
                <a:latin typeface="Helvetica Neue"/>
                <a:ea typeface="Helvetica Neue"/>
                <a:cs typeface="Helvetica Neue"/>
              </a:rPr>
              <a:t>MEMORY</a:t>
            </a:r>
          </a:p>
        </p:txBody>
      </p:sp>
      <p:sp>
        <p:nvSpPr>
          <p:cNvPr id="16" name="Rectangle 15">
            <a:extLst>
              <a:ext uri="{FF2B5EF4-FFF2-40B4-BE49-F238E27FC236}">
                <a16:creationId xmlns:a16="http://schemas.microsoft.com/office/drawing/2014/main" id="{98F9529C-24EC-413E-9975-8886D17C6461}"/>
              </a:ext>
            </a:extLst>
          </p:cNvPr>
          <p:cNvSpPr>
            <a:spLocks noGrp="1"/>
          </p:cNvSpPr>
          <p:nvPr/>
        </p:nvSpPr>
        <p:spPr>
          <a:xfrm>
            <a:off x="6429375" y="3952875"/>
            <a:ext cx="2238375" cy="8953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Wake/field relaxation</a:t>
            </a: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competes with particle time</a:t>
            </a:r>
          </a:p>
        </p:txBody>
      </p:sp>
      <p:sp>
        <p:nvSpPr>
          <p:cNvPr id="17" name="Oval 16">
            <a:extLst>
              <a:ext uri="{FF2B5EF4-FFF2-40B4-BE49-F238E27FC236}">
                <a16:creationId xmlns:a16="http://schemas.microsoft.com/office/drawing/2014/main" id="{4612BF7F-EB01-4FB8-8B37-BB4C269570BC}"/>
              </a:ext>
            </a:extLst>
          </p:cNvPr>
          <p:cNvSpPr>
            <a:spLocks noGrp="1"/>
          </p:cNvSpPr>
          <p:nvPr/>
        </p:nvSpPr>
        <p:spPr>
          <a:xfrm>
            <a:off x="9144000" y="3105150"/>
            <a:ext cx="171450" cy="171450"/>
          </a:xfrm>
          <a:prstGeom prst="ellipse">
            <a:avLst/>
          </a:prstGeom>
          <a:solidFill>
            <a:srgbClr val="F06A3C"/>
          </a:solidFill>
          <a:ln w="4763">
            <a:solidFill>
              <a:srgbClr val="000000"/>
            </a:solidFill>
            <a:prstDash val="solid"/>
          </a:ln>
        </p:spPr>
        <p:txBody>
          <a:bodyPr/>
          <a:lstStyle/>
          <a:p>
            <a:endParaRPr lang="en-US"/>
          </a:p>
        </p:txBody>
      </p:sp>
      <p:sp>
        <p:nvSpPr>
          <p:cNvPr id="18" name="Rectangle 17">
            <a:extLst>
              <a:ext uri="{FF2B5EF4-FFF2-40B4-BE49-F238E27FC236}">
                <a16:creationId xmlns:a16="http://schemas.microsoft.com/office/drawing/2014/main" id="{86F82DFC-CE50-4314-A3E3-E4DBCA86CBBB}"/>
              </a:ext>
            </a:extLst>
          </p:cNvPr>
          <p:cNvSpPr>
            <a:spLocks noGrp="1"/>
          </p:cNvSpPr>
          <p:nvPr/>
        </p:nvSpPr>
        <p:spPr>
          <a:xfrm>
            <a:off x="9144000" y="3524250"/>
            <a:ext cx="2190750" cy="285750"/>
          </a:xfrm>
          <a:prstGeom prst="rect">
            <a:avLst/>
          </a:prstGeom>
          <a:noFill/>
          <a:ln w="0">
            <a:noFill/>
            <a:prstDash val="solid"/>
          </a:ln>
        </p:spPr>
        <p:txBody>
          <a:bodyPr anchor="t">
            <a:normAutofit fontScale="94444" lnSpcReduction="10000"/>
          </a:bodyPr>
          <a:lstStyle/>
          <a:p>
            <a:pPr algn="l">
              <a:buNone/>
              <a:defRPr sz="1350" b="1" i="0">
                <a:solidFill>
                  <a:srgbClr val="F06A3C"/>
                </a:solidFill>
                <a:latin typeface="Helvetica Neue"/>
                <a:ea typeface="Helvetica Neue"/>
                <a:cs typeface="Helvetica Neue"/>
              </a:defRPr>
            </a:pPr>
            <a:r>
              <a:rPr sz="1350" b="1" i="0">
                <a:solidFill>
                  <a:srgbClr val="F06A3C"/>
                </a:solidFill>
                <a:latin typeface="Helvetica Neue"/>
                <a:ea typeface="Helvetica Neue"/>
                <a:cs typeface="Helvetica Neue"/>
              </a:rPr>
              <a:t>COLLECTIVE</a:t>
            </a:r>
          </a:p>
        </p:txBody>
      </p:sp>
      <p:sp>
        <p:nvSpPr>
          <p:cNvPr id="19" name="Rectangle 18">
            <a:extLst>
              <a:ext uri="{FF2B5EF4-FFF2-40B4-BE49-F238E27FC236}">
                <a16:creationId xmlns:a16="http://schemas.microsoft.com/office/drawing/2014/main" id="{A4C3F82D-7741-44B5-8DAE-9431B3BC3D97}"/>
              </a:ext>
            </a:extLst>
          </p:cNvPr>
          <p:cNvSpPr>
            <a:spLocks noGrp="1"/>
          </p:cNvSpPr>
          <p:nvPr/>
        </p:nvSpPr>
        <p:spPr>
          <a:xfrm>
            <a:off x="9144000" y="3952875"/>
            <a:ext cx="2238375" cy="895350"/>
          </a:xfrm>
          <a:prstGeom prst="rect">
            <a:avLst/>
          </a:prstGeom>
          <a:noFill/>
          <a:ln w="0">
            <a:noFill/>
            <a:prstDash val="solid"/>
          </a:ln>
        </p:spPr>
        <p:txBody>
          <a:bodyPr anchor="t">
            <a:normAutofit/>
          </a:bodyPr>
          <a:lstStyle/>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Pairwise representation</a:t>
            </a:r>
          </a:p>
          <a:p>
            <a:pPr algn="l">
              <a:buNone/>
              <a:defRPr sz="1500" b="0" i="0">
                <a:solidFill>
                  <a:srgbClr val="5B6472"/>
                </a:solidFill>
                <a:latin typeface="Helvetica Neue"/>
                <a:ea typeface="Helvetica Neue"/>
                <a:cs typeface="Helvetica Neue"/>
              </a:defRPr>
            </a:pPr>
            <a:r>
              <a:rPr sz="1500" b="0" i="0">
                <a:solidFill>
                  <a:srgbClr val="5B6472"/>
                </a:solidFill>
                <a:latin typeface="Helvetica Neue"/>
                <a:ea typeface="Helvetica Neue"/>
                <a:cs typeface="Helvetica Neue"/>
              </a:rPr>
              <a:t>is structurally insufficient</a:t>
            </a:r>
          </a:p>
        </p:txBody>
      </p:sp>
      <p:sp>
        <p:nvSpPr>
          <p:cNvPr id="20" name="Rectangle 19">
            <a:extLst>
              <a:ext uri="{FF2B5EF4-FFF2-40B4-BE49-F238E27FC236}">
                <a16:creationId xmlns:a16="http://schemas.microsoft.com/office/drawing/2014/main" id="{C26BA588-897F-4EEA-B84C-58397C652FF6}"/>
              </a:ext>
            </a:extLst>
          </p:cNvPr>
          <p:cNvSpPr>
            <a:spLocks noGrp="1"/>
          </p:cNvSpPr>
          <p:nvPr/>
        </p:nvSpPr>
        <p:spPr>
          <a:xfrm>
            <a:off x="2247900" y="5467350"/>
            <a:ext cx="7696200" cy="600075"/>
          </a:xfrm>
          <a:prstGeom prst="rect">
            <a:avLst/>
          </a:prstGeom>
          <a:solidFill>
            <a:srgbClr val="FCE6DE"/>
          </a:solidFill>
          <a:ln w="9525">
            <a:solidFill>
              <a:srgbClr val="F06A3C"/>
            </a:solidFill>
            <a:prstDash val="solid"/>
          </a:ln>
        </p:spPr>
        <p:txBody>
          <a:bodyPr/>
          <a:lstStyle/>
          <a:p>
            <a:endParaRPr lang="en-US"/>
          </a:p>
        </p:txBody>
      </p:sp>
      <p:sp>
        <p:nvSpPr>
          <p:cNvPr id="21" name="Rectangle 20">
            <a:extLst>
              <a:ext uri="{FF2B5EF4-FFF2-40B4-BE49-F238E27FC236}">
                <a16:creationId xmlns:a16="http://schemas.microsoft.com/office/drawing/2014/main" id="{377FF667-6B74-4627-8362-7B75AE5898BA}"/>
              </a:ext>
            </a:extLst>
          </p:cNvPr>
          <p:cNvSpPr>
            <a:spLocks noGrp="1"/>
          </p:cNvSpPr>
          <p:nvPr/>
        </p:nvSpPr>
        <p:spPr>
          <a:xfrm>
            <a:off x="2476500" y="5629275"/>
            <a:ext cx="7239000" cy="323850"/>
          </a:xfrm>
          <a:prstGeom prst="rect">
            <a:avLst/>
          </a:prstGeom>
          <a:noFill/>
          <a:ln w="0">
            <a:noFill/>
            <a:prstDash val="solid"/>
          </a:ln>
        </p:spPr>
        <p:txBody>
          <a:bodyPr anchor="t">
            <a:normAutofit fontScale="78602" lnSpcReduction="10000"/>
          </a:bodyPr>
          <a:lstStyle/>
          <a:p>
            <a:pPr algn="ctr">
              <a:buNone/>
              <a:defRPr sz="1575" b="1" i="0">
                <a:solidFill>
                  <a:srgbClr val="000000"/>
                </a:solidFill>
                <a:latin typeface="Helvetica Neue"/>
                <a:ea typeface="Helvetica Neue"/>
                <a:cs typeface="Helvetica Neue"/>
              </a:defRPr>
            </a:pPr>
            <a:r>
              <a:rPr sz="1575" b="1" i="0">
                <a:solidFill>
                  <a:srgbClr val="000000"/>
                </a:solidFill>
                <a:latin typeface="Helvetica Neue"/>
                <a:ea typeface="Helvetica Neue"/>
                <a:cs typeface="Helvetica Neue"/>
              </a:rPr>
              <a:t>Production profile: reference physics, owner, and independent validation still require approval.</a:t>
            </a:r>
          </a:p>
        </p:txBody>
      </p:sp>
    </p:spTree>
    <p:extLst>
      <p:ext uri="{BB962C8B-B14F-4D97-AF65-F5344CB8AC3E}">
        <p14:creationId xmlns:p14="http://schemas.microsoft.com/office/powerpoint/2010/main" val="318062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F551CCF-F9DC-47E7-BB0A-19D2CE14FD46}"/>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8FB8D718-B8C6-42DF-BC28-C8A7038C527F}"/>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Add information one rung at a time</a:t>
            </a:r>
          </a:p>
        </p:txBody>
      </p:sp>
      <p:cxnSp>
        <p:nvCxnSpPr>
          <p:cNvPr id="21" name="Straight Arrow Connector 20"/>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7D46CE4E-C27C-452C-918A-33A974D36EE8}"/>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13</a:t>
            </a:r>
          </a:p>
        </p:txBody>
      </p:sp>
      <p:graphicFrame>
        <p:nvGraphicFramePr>
          <p:cNvPr id="23" name="Table 22"/>
          <p:cNvGraphicFramePr/>
          <p:nvPr/>
        </p:nvGraphicFramePr>
        <p:xfrm>
          <a:off x="400050" y="1476375"/>
          <a:ext cx="11391900" cy="3733800"/>
        </p:xfrm>
        <a:graphic>
          <a:graphicData uri="http://schemas.openxmlformats.org/drawingml/2006/table">
            <a:tbl>
              <a:tblPr firstRow="1"/>
              <a:tblGrid>
                <a:gridCol w="3000375">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4962525">
                  <a:extLst>
                    <a:ext uri="{9D8B030D-6E8A-4147-A177-3AD203B41FA5}">
                      <a16:colId xmlns:a16="http://schemas.microsoft.com/office/drawing/2014/main" val="20002"/>
                    </a:ext>
                  </a:extLst>
                </a:gridCol>
              </a:tblGrid>
              <a:tr h="622300">
                <a:tc>
                  <a:txBody>
                    <a:bodyPr/>
                    <a:lstStyle/>
                    <a:p>
                      <a:r>
                        <a:rPr sz="1275" b="1">
                          <a:solidFill>
                            <a:srgbClr val="FFFFFF"/>
                          </a:solidFill>
                        </a:rPr>
                        <a:t>Candidate</a:t>
                      </a:r>
                    </a:p>
                  </a:txBody>
                  <a:tcPr>
                    <a:solidFill>
                      <a:srgbClr val="143A72"/>
                    </a:solidFill>
                  </a:tcPr>
                </a:tc>
                <a:tc>
                  <a:txBody>
                    <a:bodyPr/>
                    <a:lstStyle/>
                    <a:p>
                      <a:r>
                        <a:rPr sz="1275" b="1">
                          <a:solidFill>
                            <a:srgbClr val="FFFFFF"/>
                          </a:solidFill>
                        </a:rPr>
                        <a:t>Information added</a:t>
                      </a:r>
                    </a:p>
                  </a:txBody>
                  <a:tcPr>
                    <a:solidFill>
                      <a:srgbClr val="143A72"/>
                    </a:solidFill>
                  </a:tcPr>
                </a:tc>
                <a:tc>
                  <a:txBody>
                    <a:bodyPr/>
                    <a:lstStyle/>
                    <a:p>
                      <a:r>
                        <a:rPr sz="1275" b="1">
                          <a:solidFill>
                            <a:srgbClr val="FFFFFF"/>
                          </a:solidFill>
                        </a:rPr>
                        <a:t>Question answered</a:t>
                      </a:r>
                    </a:p>
                  </a:txBody>
                  <a:tcPr>
                    <a:solidFill>
                      <a:srgbClr val="143A72"/>
                    </a:solidFill>
                  </a:tcPr>
                </a:tc>
                <a:extLst>
                  <a:ext uri="{0D108BD9-81ED-4DB2-BD59-A6C34878D82A}">
                    <a16:rowId xmlns:a16="http://schemas.microsoft.com/office/drawing/2014/main" val="10000"/>
                  </a:ext>
                </a:extLst>
              </a:tr>
              <a:tr h="622300">
                <a:tc>
                  <a:txBody>
                    <a:bodyPr/>
                    <a:lstStyle/>
                    <a:p>
                      <a:r>
                        <a:rPr sz="1275">
                          <a:solidFill>
                            <a:srgbClr val="000000"/>
                          </a:solidFill>
                        </a:rPr>
                        <a:t>Analytic pair law</a:t>
                      </a:r>
                    </a:p>
                  </a:txBody>
                  <a:tcPr/>
                </a:tc>
                <a:tc>
                  <a:txBody>
                    <a:bodyPr/>
                    <a:lstStyle/>
                    <a:p>
                      <a:r>
                        <a:rPr sz="1275">
                          <a:solidFill>
                            <a:srgbClr val="000000"/>
                          </a:solidFill>
                        </a:rPr>
                        <a:t>Trusted parametric structure</a:t>
                      </a:r>
                    </a:p>
                  </a:txBody>
                  <a:tcPr/>
                </a:tc>
                <a:tc>
                  <a:txBody>
                    <a:bodyPr/>
                    <a:lstStyle/>
                    <a:p>
                      <a:r>
                        <a:rPr sz="1275">
                          <a:solidFill>
                            <a:srgbClr val="000000"/>
                          </a:solidFill>
                        </a:rPr>
                        <a:t>Does the classical baseline suffice?</a:t>
                      </a:r>
                    </a:p>
                  </a:txBody>
                  <a:tcPr/>
                </a:tc>
                <a:extLst>
                  <a:ext uri="{0D108BD9-81ED-4DB2-BD59-A6C34878D82A}">
                    <a16:rowId xmlns:a16="http://schemas.microsoft.com/office/drawing/2014/main" val="10001"/>
                  </a:ext>
                </a:extLst>
              </a:tr>
              <a:tr h="622300">
                <a:tc>
                  <a:txBody>
                    <a:bodyPr/>
                    <a:lstStyle/>
                    <a:p>
                      <a:r>
                        <a:rPr sz="1275">
                          <a:solidFill>
                            <a:srgbClr val="000000"/>
                          </a:solidFill>
                        </a:rPr>
                        <a:t>Learned pair kernel</a:t>
                      </a:r>
                    </a:p>
                  </a:txBody>
                  <a:tcPr>
                    <a:solidFill>
                      <a:srgbClr val="F6F7F8"/>
                    </a:solidFill>
                  </a:tcPr>
                </a:tc>
                <a:tc>
                  <a:txBody>
                    <a:bodyPr/>
                    <a:lstStyle/>
                    <a:p>
                      <a:r>
                        <a:rPr sz="1275">
                          <a:solidFill>
                            <a:srgbClr val="000000"/>
                          </a:solidFill>
                        </a:rPr>
                        <a:t>Flexible pairwise dependence</a:t>
                      </a:r>
                    </a:p>
                  </a:txBody>
                  <a:tcPr>
                    <a:solidFill>
                      <a:srgbClr val="F6F7F8"/>
                    </a:solidFill>
                  </a:tcPr>
                </a:tc>
                <a:tc>
                  <a:txBody>
                    <a:bodyPr/>
                    <a:lstStyle/>
                    <a:p>
                      <a:r>
                        <a:rPr sz="1275">
                          <a:solidFill>
                            <a:srgbClr val="000000"/>
                          </a:solidFill>
                        </a:rPr>
                        <a:t>Is pairwise information sufficient?</a:t>
                      </a:r>
                    </a:p>
                  </a:txBody>
                  <a:tcPr>
                    <a:solidFill>
                      <a:srgbClr val="F6F7F8"/>
                    </a:solidFill>
                  </a:tcPr>
                </a:tc>
                <a:extLst>
                  <a:ext uri="{0D108BD9-81ED-4DB2-BD59-A6C34878D82A}">
                    <a16:rowId xmlns:a16="http://schemas.microsoft.com/office/drawing/2014/main" val="10002"/>
                  </a:ext>
                </a:extLst>
              </a:tr>
              <a:tr h="622300">
                <a:tc>
                  <a:txBody>
                    <a:bodyPr/>
                    <a:lstStyle/>
                    <a:p>
                      <a:r>
                        <a:rPr sz="1275">
                          <a:solidFill>
                            <a:srgbClr val="000000"/>
                          </a:solidFill>
                        </a:rPr>
                        <a:t>Instantaneous graph model</a:t>
                      </a:r>
                    </a:p>
                  </a:txBody>
                  <a:tcPr/>
                </a:tc>
                <a:tc>
                  <a:txBody>
                    <a:bodyPr/>
                    <a:lstStyle/>
                    <a:p>
                      <a:r>
                        <a:rPr sz="1275">
                          <a:solidFill>
                            <a:srgbClr val="000000"/>
                          </a:solidFill>
                        </a:rPr>
                        <a:t>Many-particle context</a:t>
                      </a:r>
                    </a:p>
                  </a:txBody>
                  <a:tcPr/>
                </a:tc>
                <a:tc>
                  <a:txBody>
                    <a:bodyPr/>
                    <a:lstStyle/>
                    <a:p>
                      <a:r>
                        <a:rPr sz="1275">
                          <a:solidFill>
                            <a:srgbClr val="000000"/>
                          </a:solidFill>
                        </a:rPr>
                        <a:t>Does local geometry change the law?</a:t>
                      </a:r>
                    </a:p>
                  </a:txBody>
                  <a:tcPr/>
                </a:tc>
                <a:extLst>
                  <a:ext uri="{0D108BD9-81ED-4DB2-BD59-A6C34878D82A}">
                    <a16:rowId xmlns:a16="http://schemas.microsoft.com/office/drawing/2014/main" val="10003"/>
                  </a:ext>
                </a:extLst>
              </a:tr>
              <a:tr h="622300">
                <a:tc>
                  <a:txBody>
                    <a:bodyPr/>
                    <a:lstStyle/>
                    <a:p>
                      <a:r>
                        <a:rPr sz="1275">
                          <a:solidFill>
                            <a:srgbClr val="000000"/>
                          </a:solidFill>
                        </a:rPr>
                        <a:t>Memory graph / auxiliary state</a:t>
                      </a:r>
                    </a:p>
                  </a:txBody>
                  <a:tcPr>
                    <a:solidFill>
                      <a:srgbClr val="F6F7F8"/>
                    </a:solidFill>
                  </a:tcPr>
                </a:tc>
                <a:tc>
                  <a:txBody>
                    <a:bodyPr/>
                    <a:lstStyle/>
                    <a:p>
                      <a:r>
                        <a:rPr sz="1275">
                          <a:solidFill>
                            <a:srgbClr val="000000"/>
                          </a:solidFill>
                        </a:rPr>
                        <a:t>Finite history</a:t>
                      </a:r>
                    </a:p>
                  </a:txBody>
                  <a:tcPr>
                    <a:solidFill>
                      <a:srgbClr val="F6F7F8"/>
                    </a:solidFill>
                  </a:tcPr>
                </a:tc>
                <a:tc>
                  <a:txBody>
                    <a:bodyPr/>
                    <a:lstStyle/>
                    <a:p>
                      <a:r>
                        <a:rPr sz="1275">
                          <a:solidFill>
                            <a:srgbClr val="000000"/>
                          </a:solidFill>
                        </a:rPr>
                        <a:t>Does lagged environment matter?</a:t>
                      </a:r>
                    </a:p>
                  </a:txBody>
                  <a:tcPr>
                    <a:solidFill>
                      <a:srgbClr val="F6F7F8"/>
                    </a:solidFill>
                  </a:tcPr>
                </a:tc>
                <a:extLst>
                  <a:ext uri="{0D108BD9-81ED-4DB2-BD59-A6C34878D82A}">
                    <a16:rowId xmlns:a16="http://schemas.microsoft.com/office/drawing/2014/main" val="10004"/>
                  </a:ext>
                </a:extLst>
              </a:tr>
              <a:tr h="622300">
                <a:tc>
                  <a:txBody>
                    <a:bodyPr/>
                    <a:lstStyle/>
                    <a:p>
                      <a:r>
                        <a:rPr sz="1275">
                          <a:solidFill>
                            <a:srgbClr val="000000"/>
                          </a:solidFill>
                        </a:rPr>
                        <a:t>Black-box dynamics control</a:t>
                      </a:r>
                    </a:p>
                  </a:txBody>
                  <a:tcPr/>
                </a:tc>
                <a:tc>
                  <a:txBody>
                    <a:bodyPr/>
                    <a:lstStyle/>
                    <a:p>
                      <a:r>
                        <a:rPr sz="1275">
                          <a:solidFill>
                            <a:srgbClr val="000000"/>
                          </a:solidFill>
                        </a:rPr>
                        <a:t>Unrestricted state mapping</a:t>
                      </a:r>
                    </a:p>
                  </a:txBody>
                  <a:tcPr/>
                </a:tc>
                <a:tc>
                  <a:txBody>
                    <a:bodyPr/>
                    <a:lstStyle/>
                    <a:p>
                      <a:r>
                        <a:rPr sz="1275">
                          <a:solidFill>
                            <a:srgbClr val="000000"/>
                          </a:solidFill>
                        </a:rPr>
                        <a:t>What is the predictive ceiling?</a:t>
                      </a:r>
                    </a:p>
                  </a:txBody>
                  <a:tcPr/>
                </a:tc>
                <a:extLst>
                  <a:ext uri="{0D108BD9-81ED-4DB2-BD59-A6C34878D82A}">
                    <a16:rowId xmlns:a16="http://schemas.microsoft.com/office/drawing/2014/main" val="10005"/>
                  </a:ext>
                </a:extLst>
              </a:tr>
            </a:tbl>
          </a:graphicData>
        </a:graphic>
      </p:graphicFrame>
      <p:sp>
        <p:nvSpPr>
          <p:cNvPr id="6" name="Rectangle 5">
            <a:extLst>
              <a:ext uri="{FF2B5EF4-FFF2-40B4-BE49-F238E27FC236}">
                <a16:creationId xmlns:a16="http://schemas.microsoft.com/office/drawing/2014/main" id="{ED9D6A78-ABAB-454D-9983-93C554593D52}"/>
              </a:ext>
            </a:extLst>
          </p:cNvPr>
          <p:cNvSpPr>
            <a:spLocks noGrp="1"/>
          </p:cNvSpPr>
          <p:nvPr/>
        </p:nvSpPr>
        <p:spPr>
          <a:xfrm>
            <a:off x="400050" y="5534025"/>
            <a:ext cx="857250" cy="238125"/>
          </a:xfrm>
          <a:prstGeom prst="rect">
            <a:avLst/>
          </a:prstGeom>
          <a:noFill/>
          <a:ln w="0">
            <a:noFill/>
            <a:prstDash val="solid"/>
          </a:ln>
        </p:spPr>
        <p:txBody>
          <a:bodyPr anchor="t">
            <a:normAutofit fontScale="87708" lnSpcReduction="20000"/>
          </a:bodyPr>
          <a:lstStyle/>
          <a:p>
            <a:pPr algn="l">
              <a:buNone/>
              <a:defRPr sz="1200" b="1" i="0">
                <a:solidFill>
                  <a:srgbClr val="5B6472"/>
                </a:solidFill>
                <a:latin typeface="Helvetica Neue"/>
                <a:ea typeface="Helvetica Neue"/>
                <a:cs typeface="Helvetica Neue"/>
              </a:defRPr>
            </a:pPr>
            <a:r>
              <a:rPr sz="1200" b="1" i="0">
                <a:solidFill>
                  <a:srgbClr val="5B6472"/>
                </a:solidFill>
                <a:latin typeface="Helvetica Neue"/>
                <a:ea typeface="Helvetica Neue"/>
                <a:cs typeface="Helvetica Neue"/>
              </a:rPr>
              <a:t>SWEEP</a:t>
            </a:r>
          </a:p>
        </p:txBody>
      </p:sp>
      <p:sp>
        <p:nvSpPr>
          <p:cNvPr id="7" name="Rectangle 6">
            <a:extLst>
              <a:ext uri="{FF2B5EF4-FFF2-40B4-BE49-F238E27FC236}">
                <a16:creationId xmlns:a16="http://schemas.microsoft.com/office/drawing/2014/main" id="{828EA56B-4079-42E0-A3AC-AB3B2EFA052F}"/>
              </a:ext>
            </a:extLst>
          </p:cNvPr>
          <p:cNvSpPr>
            <a:spLocks noGrp="1"/>
          </p:cNvSpPr>
          <p:nvPr/>
        </p:nvSpPr>
        <p:spPr>
          <a:xfrm>
            <a:off x="1409700" y="5467350"/>
            <a:ext cx="2324100" cy="361950"/>
          </a:xfrm>
          <a:prstGeom prst="rect">
            <a:avLst/>
          </a:prstGeom>
          <a:noFill/>
          <a:ln w="0">
            <a:noFill/>
            <a:prstDash val="solid"/>
          </a:ln>
        </p:spPr>
        <p:txBody>
          <a:bodyPr anchor="t">
            <a:normAutofit/>
          </a:bodyPr>
          <a:lstStyle/>
          <a:p>
            <a:pPr algn="l">
              <a:buNone/>
              <a:defRPr sz="1650" b="1" i="0">
                <a:solidFill>
                  <a:srgbClr val="18AEB5"/>
                </a:solidFill>
                <a:latin typeface="Helvetica Neue"/>
                <a:ea typeface="Helvetica Neue"/>
                <a:cs typeface="Helvetica Neue"/>
              </a:defRPr>
            </a:pPr>
            <a:r>
              <a:rPr sz="1650" b="1" i="0" dirty="0">
                <a:solidFill>
                  <a:srgbClr val="18AEB5"/>
                </a:solidFill>
                <a:latin typeface="Helvetica Neue"/>
                <a:ea typeface="Helvetica Neue"/>
                <a:cs typeface="Helvetica Neue"/>
              </a:rPr>
              <a:t>wake relaxation</a:t>
            </a:r>
          </a:p>
        </p:txBody>
      </p:sp>
      <p:sp>
        <p:nvSpPr>
          <p:cNvPr id="8" name="Rectangle 7">
            <a:extLst>
              <a:ext uri="{FF2B5EF4-FFF2-40B4-BE49-F238E27FC236}">
                <a16:creationId xmlns:a16="http://schemas.microsoft.com/office/drawing/2014/main" id="{C6EE86C7-5F14-4D12-9B59-3EE4A0E52EAB}"/>
              </a:ext>
            </a:extLst>
          </p:cNvPr>
          <p:cNvSpPr>
            <a:spLocks noGrp="1"/>
          </p:cNvSpPr>
          <p:nvPr/>
        </p:nvSpPr>
        <p:spPr>
          <a:xfrm>
            <a:off x="4191000" y="5467350"/>
            <a:ext cx="2324100" cy="361950"/>
          </a:xfrm>
          <a:prstGeom prst="rect">
            <a:avLst/>
          </a:prstGeom>
          <a:noFill/>
          <a:ln w="0">
            <a:noFill/>
            <a:prstDash val="solid"/>
          </a:ln>
        </p:spPr>
        <p:txBody>
          <a:bodyPr anchor="t">
            <a:normAutofit/>
          </a:bodyPr>
          <a:lstStyle/>
          <a:p>
            <a:pPr algn="l">
              <a:buNone/>
              <a:defRPr sz="1650" b="1" i="0">
                <a:solidFill>
                  <a:srgbClr val="143A72"/>
                </a:solidFill>
                <a:latin typeface="Helvetica Neue"/>
                <a:ea typeface="Helvetica Neue"/>
                <a:cs typeface="Helvetica Neue"/>
              </a:defRPr>
            </a:pPr>
            <a:r>
              <a:rPr sz="1650" b="1" i="0">
                <a:solidFill>
                  <a:srgbClr val="143A72"/>
                </a:solidFill>
                <a:latin typeface="Helvetica Neue"/>
                <a:ea typeface="Helvetica Neue"/>
                <a:cs typeface="Helvetica Neue"/>
              </a:rPr>
              <a:t>density / coupling</a:t>
            </a:r>
          </a:p>
        </p:txBody>
      </p:sp>
      <p:sp>
        <p:nvSpPr>
          <p:cNvPr id="9" name="Rectangle 8">
            <a:extLst>
              <a:ext uri="{FF2B5EF4-FFF2-40B4-BE49-F238E27FC236}">
                <a16:creationId xmlns:a16="http://schemas.microsoft.com/office/drawing/2014/main" id="{45DEA452-DDC4-4255-976D-401C119C856D}"/>
              </a:ext>
            </a:extLst>
          </p:cNvPr>
          <p:cNvSpPr>
            <a:spLocks noGrp="1"/>
          </p:cNvSpPr>
          <p:nvPr/>
        </p:nvSpPr>
        <p:spPr>
          <a:xfrm>
            <a:off x="6924675" y="5467350"/>
            <a:ext cx="2095500" cy="361950"/>
          </a:xfrm>
          <a:prstGeom prst="rect">
            <a:avLst/>
          </a:prstGeom>
          <a:noFill/>
          <a:ln w="0">
            <a:noFill/>
            <a:prstDash val="solid"/>
          </a:ln>
        </p:spPr>
        <p:txBody>
          <a:bodyPr anchor="t">
            <a:normAutofit/>
          </a:bodyPr>
          <a:lstStyle/>
          <a:p>
            <a:pPr algn="l">
              <a:buNone/>
              <a:defRPr sz="1650" b="1" i="0">
                <a:solidFill>
                  <a:srgbClr val="F06A3C"/>
                </a:solidFill>
                <a:latin typeface="Helvetica Neue"/>
                <a:ea typeface="Helvetica Neue"/>
                <a:cs typeface="Helvetica Neue"/>
              </a:defRPr>
            </a:pPr>
            <a:r>
              <a:rPr sz="1650" b="1" i="0">
                <a:solidFill>
                  <a:srgbClr val="F06A3C"/>
                </a:solidFill>
                <a:latin typeface="Helvetica Neue"/>
                <a:ea typeface="Helvetica Neue"/>
                <a:cs typeface="Helvetica Neue"/>
              </a:rPr>
              <a:t>forcing history</a:t>
            </a:r>
          </a:p>
        </p:txBody>
      </p:sp>
      <p:sp>
        <p:nvSpPr>
          <p:cNvPr id="10" name="Rectangle 9">
            <a:extLst>
              <a:ext uri="{FF2B5EF4-FFF2-40B4-BE49-F238E27FC236}">
                <a16:creationId xmlns:a16="http://schemas.microsoft.com/office/drawing/2014/main" id="{A61A8686-81AD-475B-9005-9BC9C0E96F10}"/>
              </a:ext>
            </a:extLst>
          </p:cNvPr>
          <p:cNvSpPr>
            <a:spLocks noGrp="1"/>
          </p:cNvSpPr>
          <p:nvPr/>
        </p:nvSpPr>
        <p:spPr>
          <a:xfrm>
            <a:off x="9001125" y="5410200"/>
            <a:ext cx="2714625" cy="552450"/>
          </a:xfrm>
          <a:prstGeom prst="rect">
            <a:avLst/>
          </a:prstGeom>
          <a:noFill/>
          <a:ln w="0">
            <a:noFill/>
            <a:prstDash val="solid"/>
          </a:ln>
        </p:spPr>
        <p:txBody>
          <a:bodyPr anchor="t">
            <a:normAutofit/>
          </a:bodyPr>
          <a:lstStyle/>
          <a:p>
            <a:pPr algn="r">
              <a:buNone/>
              <a:defRPr sz="1500" b="1" i="0">
                <a:solidFill>
                  <a:srgbClr val="000000"/>
                </a:solidFill>
                <a:latin typeface="Helvetica Neue"/>
                <a:ea typeface="Helvetica Neue"/>
                <a:cs typeface="Helvetica Neue"/>
              </a:defRPr>
            </a:pPr>
            <a:r>
              <a:rPr sz="1500" b="1" i="0">
                <a:solidFill>
                  <a:srgbClr val="000000"/>
                </a:solidFill>
                <a:latin typeface="Helvetica Neue"/>
                <a:ea typeface="Helvetica Neue"/>
                <a:cs typeface="Helvetica Neue"/>
              </a:rPr>
              <a:t>Do cumulants warn before rollout failure?</a:t>
            </a:r>
          </a:p>
        </p:txBody>
      </p:sp>
    </p:spTree>
    <p:extLst>
      <p:ext uri="{BB962C8B-B14F-4D97-AF65-F5344CB8AC3E}">
        <p14:creationId xmlns:p14="http://schemas.microsoft.com/office/powerpoint/2010/main" val="17842806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51706C70-54C2-43B1-9C34-0ABD41A88395}"/>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E19F2236-969B-4237-8E1A-3E50A0985A12}"/>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The harness separates science from scaffolding</a:t>
            </a:r>
          </a:p>
        </p:txBody>
      </p:sp>
      <p:cxnSp>
        <p:nvCxnSpPr>
          <p:cNvPr id="40" name="Straight Arrow Connector 39"/>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1AD079FF-7F24-4FD5-BDB6-B91F96FC9F59}"/>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19</a:t>
            </a:r>
          </a:p>
        </p:txBody>
      </p:sp>
      <p:cxnSp>
        <p:nvCxnSpPr>
          <p:cNvPr id="42" name="Straight Arrow Connector 41"/>
          <p:cNvCxnSpPr/>
          <p:nvPr/>
        </p:nvCxnSpPr>
        <p:spPr>
          <a:xfrm>
            <a:off x="809625" y="2847975"/>
            <a:ext cx="10144125" cy="953"/>
          </a:xfrm>
          <a:prstGeom prst="straightConnector1">
            <a:avLst/>
          </a:prstGeom>
          <a:ln w="19050">
            <a:solidFill>
              <a:srgbClr val="000000"/>
            </a:solidFill>
            <a:prstDash val="solid"/>
          </a:ln>
        </p:spPr>
      </p:cxnSp>
      <p:sp>
        <p:nvSpPr>
          <p:cNvPr id="6" name="Oval 5">
            <a:extLst>
              <a:ext uri="{FF2B5EF4-FFF2-40B4-BE49-F238E27FC236}">
                <a16:creationId xmlns:a16="http://schemas.microsoft.com/office/drawing/2014/main" id="{EFE7E23E-9F8C-48AE-A987-0D950B40B47D}"/>
              </a:ext>
            </a:extLst>
          </p:cNvPr>
          <p:cNvSpPr>
            <a:spLocks noGrp="1"/>
          </p:cNvSpPr>
          <p:nvPr/>
        </p:nvSpPr>
        <p:spPr>
          <a:xfrm>
            <a:off x="809625" y="2695575"/>
            <a:ext cx="304800" cy="304800"/>
          </a:xfrm>
          <a:prstGeom prst="ellipse">
            <a:avLst/>
          </a:prstGeom>
          <a:solidFill>
            <a:srgbClr val="3D8DFF"/>
          </a:solidFill>
          <a:ln w="9525">
            <a:solidFill>
              <a:srgbClr val="FFFFFF"/>
            </a:solidFill>
            <a:prstDash val="solid"/>
          </a:ln>
        </p:spPr>
        <p:txBody>
          <a:bodyPr/>
          <a:lstStyle/>
          <a:p>
            <a:endParaRPr lang="en-US"/>
          </a:p>
        </p:txBody>
      </p:sp>
      <p:sp>
        <p:nvSpPr>
          <p:cNvPr id="7" name="Rectangle 6">
            <a:extLst>
              <a:ext uri="{FF2B5EF4-FFF2-40B4-BE49-F238E27FC236}">
                <a16:creationId xmlns:a16="http://schemas.microsoft.com/office/drawing/2014/main" id="{FCB3EBBA-FBF5-4671-844B-9BD30ACC1684}"/>
              </a:ext>
            </a:extLst>
          </p:cNvPr>
          <p:cNvSpPr>
            <a:spLocks noGrp="1"/>
          </p:cNvSpPr>
          <p:nvPr/>
        </p:nvSpPr>
        <p:spPr>
          <a:xfrm>
            <a:off x="771525" y="2295525"/>
            <a:ext cx="514350" cy="266700"/>
          </a:xfrm>
          <a:prstGeom prst="rect">
            <a:avLst/>
          </a:prstGeom>
          <a:noFill/>
          <a:ln w="0">
            <a:noFill/>
            <a:prstDash val="solid"/>
          </a:ln>
        </p:spPr>
        <p:txBody>
          <a:bodyPr anchor="t">
            <a:normAutofit fontScale="97696" lnSpcReduction="10000"/>
          </a:bodyPr>
          <a:lstStyle/>
          <a:p>
            <a:pPr algn="l">
              <a:buNone/>
              <a:defRPr sz="1275" b="1" i="0">
                <a:solidFill>
                  <a:srgbClr val="5B6472"/>
                </a:solidFill>
                <a:latin typeface="Helvetica Neue"/>
                <a:ea typeface="Helvetica Neue"/>
                <a:cs typeface="Helvetica Neue"/>
              </a:defRPr>
            </a:pPr>
            <a:r>
              <a:rPr sz="1275" b="1" i="0">
                <a:solidFill>
                  <a:srgbClr val="5B6472"/>
                </a:solidFill>
                <a:latin typeface="Helvetica Neue"/>
                <a:ea typeface="Helvetica Neue"/>
                <a:cs typeface="Helvetica Neue"/>
              </a:rPr>
              <a:t>01</a:t>
            </a:r>
          </a:p>
        </p:txBody>
      </p:sp>
      <p:sp>
        <p:nvSpPr>
          <p:cNvPr id="8" name="Rectangle 7">
            <a:extLst>
              <a:ext uri="{FF2B5EF4-FFF2-40B4-BE49-F238E27FC236}">
                <a16:creationId xmlns:a16="http://schemas.microsoft.com/office/drawing/2014/main" id="{1C856314-1A40-4A07-955A-3B8503C9265F}"/>
              </a:ext>
            </a:extLst>
          </p:cNvPr>
          <p:cNvSpPr>
            <a:spLocks noGrp="1"/>
          </p:cNvSpPr>
          <p:nvPr/>
        </p:nvSpPr>
        <p:spPr>
          <a:xfrm>
            <a:off x="771525" y="3314700"/>
            <a:ext cx="1866900" cy="590550"/>
          </a:xfrm>
          <a:prstGeom prst="rect">
            <a:avLst/>
          </a:prstGeom>
          <a:noFill/>
          <a:ln w="0">
            <a:noFill/>
            <a:prstDash val="solid"/>
          </a:ln>
        </p:spPr>
        <p:txBody>
          <a:bodyPr anchor="t">
            <a:normAutofit fontScale="99242"/>
          </a:bodyPr>
          <a:lstStyle/>
          <a:p>
            <a:pPr algn="l">
              <a:buNone/>
              <a:defRPr sz="1650" b="1" i="0">
                <a:solidFill>
                  <a:srgbClr val="000000"/>
                </a:solidFill>
                <a:latin typeface="Helvetica Neue"/>
                <a:ea typeface="Helvetica Neue"/>
                <a:cs typeface="Helvetica Neue"/>
              </a:defRPr>
            </a:pPr>
            <a:r>
              <a:rPr sz="1650" b="1" i="0">
                <a:solidFill>
                  <a:srgbClr val="000000"/>
                </a:solidFill>
                <a:latin typeface="Helvetica Neue"/>
                <a:ea typeface="Helvetica Neue"/>
                <a:cs typeface="Helvetica Neue"/>
              </a:rPr>
              <a:t>Versioned problems</a:t>
            </a:r>
          </a:p>
        </p:txBody>
      </p:sp>
      <p:sp>
        <p:nvSpPr>
          <p:cNvPr id="9" name="Rectangle 8">
            <a:extLst>
              <a:ext uri="{FF2B5EF4-FFF2-40B4-BE49-F238E27FC236}">
                <a16:creationId xmlns:a16="http://schemas.microsoft.com/office/drawing/2014/main" id="{08DAED7B-064B-4E35-8135-0EF145534D14}"/>
              </a:ext>
            </a:extLst>
          </p:cNvPr>
          <p:cNvSpPr>
            <a:spLocks noGrp="1"/>
          </p:cNvSpPr>
          <p:nvPr/>
        </p:nvSpPr>
        <p:spPr>
          <a:xfrm>
            <a:off x="771525" y="4114800"/>
            <a:ext cx="1905000" cy="723900"/>
          </a:xfrm>
          <a:prstGeom prst="rect">
            <a:avLst/>
          </a:prstGeom>
          <a:noFill/>
          <a:ln w="0">
            <a:noFill/>
            <a:prstDash val="solid"/>
          </a:ln>
        </p:spPr>
        <p:txBody>
          <a:bodyPr anchor="t">
            <a:normAutofit/>
          </a:bodyPr>
          <a:lstStyle/>
          <a:p>
            <a:pPr algn="l">
              <a:buNone/>
              <a:defRPr sz="1425" b="0" i="0">
                <a:solidFill>
                  <a:srgbClr val="5B6472"/>
                </a:solidFill>
                <a:latin typeface="Helvetica Neue"/>
                <a:ea typeface="Helvetica Neue"/>
                <a:cs typeface="Helvetica Neue"/>
              </a:defRPr>
            </a:pPr>
            <a:r>
              <a:rPr sz="1425" b="0" i="0">
                <a:solidFill>
                  <a:srgbClr val="5B6472"/>
                </a:solidFill>
                <a:latin typeface="Helvetica Neue"/>
                <a:ea typeface="Helvetica Neue"/>
                <a:cs typeface="Helvetica Neue"/>
              </a:rPr>
              <a:t>regimes · splits · manifests</a:t>
            </a:r>
          </a:p>
        </p:txBody>
      </p:sp>
      <p:sp>
        <p:nvSpPr>
          <p:cNvPr id="10" name="Oval 9">
            <a:extLst>
              <a:ext uri="{FF2B5EF4-FFF2-40B4-BE49-F238E27FC236}">
                <a16:creationId xmlns:a16="http://schemas.microsoft.com/office/drawing/2014/main" id="{DBEF5F5B-9C17-46F0-91AC-18B60D36039B}"/>
              </a:ext>
            </a:extLst>
          </p:cNvPr>
          <p:cNvSpPr>
            <a:spLocks noGrp="1"/>
          </p:cNvSpPr>
          <p:nvPr/>
        </p:nvSpPr>
        <p:spPr>
          <a:xfrm>
            <a:off x="2981325" y="2695575"/>
            <a:ext cx="304800" cy="304800"/>
          </a:xfrm>
          <a:prstGeom prst="ellipse">
            <a:avLst/>
          </a:prstGeom>
          <a:solidFill>
            <a:srgbClr val="3D8DFF"/>
          </a:solidFill>
          <a:ln w="9525">
            <a:solidFill>
              <a:srgbClr val="FFFFFF"/>
            </a:solidFill>
            <a:prstDash val="solid"/>
          </a:ln>
        </p:spPr>
        <p:txBody>
          <a:bodyPr/>
          <a:lstStyle/>
          <a:p>
            <a:endParaRPr lang="en-US"/>
          </a:p>
        </p:txBody>
      </p:sp>
      <p:sp>
        <p:nvSpPr>
          <p:cNvPr id="11" name="Rectangle 10">
            <a:extLst>
              <a:ext uri="{FF2B5EF4-FFF2-40B4-BE49-F238E27FC236}">
                <a16:creationId xmlns:a16="http://schemas.microsoft.com/office/drawing/2014/main" id="{1DF14CCD-06E2-4DA3-A2BD-3E514060E115}"/>
              </a:ext>
            </a:extLst>
          </p:cNvPr>
          <p:cNvSpPr>
            <a:spLocks noGrp="1"/>
          </p:cNvSpPr>
          <p:nvPr/>
        </p:nvSpPr>
        <p:spPr>
          <a:xfrm>
            <a:off x="2943225" y="2295525"/>
            <a:ext cx="514350" cy="266700"/>
          </a:xfrm>
          <a:prstGeom prst="rect">
            <a:avLst/>
          </a:prstGeom>
          <a:noFill/>
          <a:ln w="0">
            <a:noFill/>
            <a:prstDash val="solid"/>
          </a:ln>
        </p:spPr>
        <p:txBody>
          <a:bodyPr anchor="t">
            <a:normAutofit fontScale="97696" lnSpcReduction="10000"/>
          </a:bodyPr>
          <a:lstStyle/>
          <a:p>
            <a:pPr algn="l">
              <a:buNone/>
              <a:defRPr sz="1275" b="1" i="0">
                <a:solidFill>
                  <a:srgbClr val="5B6472"/>
                </a:solidFill>
                <a:latin typeface="Helvetica Neue"/>
                <a:ea typeface="Helvetica Neue"/>
                <a:cs typeface="Helvetica Neue"/>
              </a:defRPr>
            </a:pPr>
            <a:r>
              <a:rPr sz="1275" b="1" i="0">
                <a:solidFill>
                  <a:srgbClr val="5B6472"/>
                </a:solidFill>
                <a:latin typeface="Helvetica Neue"/>
                <a:ea typeface="Helvetica Neue"/>
                <a:cs typeface="Helvetica Neue"/>
              </a:rPr>
              <a:t>02</a:t>
            </a:r>
          </a:p>
        </p:txBody>
      </p:sp>
      <p:sp>
        <p:nvSpPr>
          <p:cNvPr id="12" name="Rectangle 11">
            <a:extLst>
              <a:ext uri="{FF2B5EF4-FFF2-40B4-BE49-F238E27FC236}">
                <a16:creationId xmlns:a16="http://schemas.microsoft.com/office/drawing/2014/main" id="{57C8FC24-D550-4F61-8F98-59214953EFB7}"/>
              </a:ext>
            </a:extLst>
          </p:cNvPr>
          <p:cNvSpPr>
            <a:spLocks noGrp="1"/>
          </p:cNvSpPr>
          <p:nvPr/>
        </p:nvSpPr>
        <p:spPr>
          <a:xfrm>
            <a:off x="2943225" y="3314700"/>
            <a:ext cx="1866900" cy="590550"/>
          </a:xfrm>
          <a:prstGeom prst="rect">
            <a:avLst/>
          </a:prstGeom>
          <a:noFill/>
          <a:ln w="0">
            <a:noFill/>
            <a:prstDash val="solid"/>
          </a:ln>
        </p:spPr>
        <p:txBody>
          <a:bodyPr anchor="t">
            <a:normAutofit fontScale="99242"/>
          </a:bodyPr>
          <a:lstStyle/>
          <a:p>
            <a:pPr algn="l">
              <a:buNone/>
              <a:defRPr sz="1650" b="1" i="0">
                <a:solidFill>
                  <a:srgbClr val="000000"/>
                </a:solidFill>
                <a:latin typeface="Helvetica Neue"/>
                <a:ea typeface="Helvetica Neue"/>
                <a:cs typeface="Helvetica Neue"/>
              </a:defRPr>
            </a:pPr>
            <a:r>
              <a:rPr sz="1650" b="1" i="0">
                <a:solidFill>
                  <a:srgbClr val="000000"/>
                </a:solidFill>
                <a:latin typeface="Helvetica Neue"/>
                <a:ea typeface="Helvetica Neue"/>
                <a:cs typeface="Helvetica Neue"/>
              </a:rPr>
              <a:t>Common interface</a:t>
            </a:r>
          </a:p>
        </p:txBody>
      </p:sp>
      <p:sp>
        <p:nvSpPr>
          <p:cNvPr id="13" name="Rectangle 12">
            <a:extLst>
              <a:ext uri="{FF2B5EF4-FFF2-40B4-BE49-F238E27FC236}">
                <a16:creationId xmlns:a16="http://schemas.microsoft.com/office/drawing/2014/main" id="{995DEE2C-E853-4B2D-B2B1-2A9668CDCDA1}"/>
              </a:ext>
            </a:extLst>
          </p:cNvPr>
          <p:cNvSpPr>
            <a:spLocks noGrp="1"/>
          </p:cNvSpPr>
          <p:nvPr/>
        </p:nvSpPr>
        <p:spPr>
          <a:xfrm>
            <a:off x="2943225" y="4114800"/>
            <a:ext cx="1905000" cy="723900"/>
          </a:xfrm>
          <a:prstGeom prst="rect">
            <a:avLst/>
          </a:prstGeom>
          <a:noFill/>
          <a:ln w="0">
            <a:noFill/>
            <a:prstDash val="solid"/>
          </a:ln>
        </p:spPr>
        <p:txBody>
          <a:bodyPr anchor="t">
            <a:normAutofit/>
          </a:bodyPr>
          <a:lstStyle/>
          <a:p>
            <a:pPr algn="l">
              <a:buNone/>
              <a:defRPr sz="1425" b="0" i="0">
                <a:solidFill>
                  <a:srgbClr val="5B6472"/>
                </a:solidFill>
                <a:latin typeface="Helvetica Neue"/>
                <a:ea typeface="Helvetica Neue"/>
                <a:cs typeface="Helvetica Neue"/>
              </a:defRPr>
            </a:pPr>
            <a:r>
              <a:rPr sz="1425" b="0" i="0">
                <a:solidFill>
                  <a:srgbClr val="5B6472"/>
                </a:solidFill>
                <a:latin typeface="Helvetica Neue"/>
                <a:ea typeface="Helvetica Neue"/>
                <a:cs typeface="Helvetica Neue"/>
              </a:rPr>
              <a:t>analytic · learned · hybrid</a:t>
            </a:r>
          </a:p>
        </p:txBody>
      </p:sp>
      <p:sp>
        <p:nvSpPr>
          <p:cNvPr id="14" name="Oval 13">
            <a:extLst>
              <a:ext uri="{FF2B5EF4-FFF2-40B4-BE49-F238E27FC236}">
                <a16:creationId xmlns:a16="http://schemas.microsoft.com/office/drawing/2014/main" id="{BE40ED4D-81D7-411F-AA5B-59530FED2640}"/>
              </a:ext>
            </a:extLst>
          </p:cNvPr>
          <p:cNvSpPr>
            <a:spLocks noGrp="1"/>
          </p:cNvSpPr>
          <p:nvPr/>
        </p:nvSpPr>
        <p:spPr>
          <a:xfrm>
            <a:off x="5153025" y="2695575"/>
            <a:ext cx="304800" cy="304800"/>
          </a:xfrm>
          <a:prstGeom prst="ellipse">
            <a:avLst/>
          </a:prstGeom>
          <a:solidFill>
            <a:srgbClr val="18AEB5"/>
          </a:solidFill>
          <a:ln w="9525">
            <a:solidFill>
              <a:srgbClr val="FFFFFF"/>
            </a:solidFill>
            <a:prstDash val="solid"/>
          </a:ln>
        </p:spPr>
        <p:txBody>
          <a:bodyPr/>
          <a:lstStyle/>
          <a:p>
            <a:endParaRPr lang="en-US"/>
          </a:p>
        </p:txBody>
      </p:sp>
      <p:sp>
        <p:nvSpPr>
          <p:cNvPr id="15" name="Rectangle 14">
            <a:extLst>
              <a:ext uri="{FF2B5EF4-FFF2-40B4-BE49-F238E27FC236}">
                <a16:creationId xmlns:a16="http://schemas.microsoft.com/office/drawing/2014/main" id="{A9C404DB-0983-4DB4-A34D-1724A4D09C55}"/>
              </a:ext>
            </a:extLst>
          </p:cNvPr>
          <p:cNvSpPr>
            <a:spLocks noGrp="1"/>
          </p:cNvSpPr>
          <p:nvPr/>
        </p:nvSpPr>
        <p:spPr>
          <a:xfrm>
            <a:off x="5114925" y="2295525"/>
            <a:ext cx="514350" cy="266700"/>
          </a:xfrm>
          <a:prstGeom prst="rect">
            <a:avLst/>
          </a:prstGeom>
          <a:noFill/>
          <a:ln w="0">
            <a:noFill/>
            <a:prstDash val="solid"/>
          </a:ln>
        </p:spPr>
        <p:txBody>
          <a:bodyPr anchor="t">
            <a:normAutofit fontScale="97696" lnSpcReduction="10000"/>
          </a:bodyPr>
          <a:lstStyle/>
          <a:p>
            <a:pPr algn="l">
              <a:buNone/>
              <a:defRPr sz="1275" b="1" i="0">
                <a:solidFill>
                  <a:srgbClr val="5B6472"/>
                </a:solidFill>
                <a:latin typeface="Helvetica Neue"/>
                <a:ea typeface="Helvetica Neue"/>
                <a:cs typeface="Helvetica Neue"/>
              </a:defRPr>
            </a:pPr>
            <a:r>
              <a:rPr sz="1275" b="1" i="0">
                <a:solidFill>
                  <a:srgbClr val="5B6472"/>
                </a:solidFill>
                <a:latin typeface="Helvetica Neue"/>
                <a:ea typeface="Helvetica Neue"/>
                <a:cs typeface="Helvetica Neue"/>
              </a:rPr>
              <a:t>03</a:t>
            </a:r>
          </a:p>
        </p:txBody>
      </p:sp>
      <p:sp>
        <p:nvSpPr>
          <p:cNvPr id="16" name="Rectangle 15">
            <a:extLst>
              <a:ext uri="{FF2B5EF4-FFF2-40B4-BE49-F238E27FC236}">
                <a16:creationId xmlns:a16="http://schemas.microsoft.com/office/drawing/2014/main" id="{EE92779B-3A83-4E71-A740-6E84E0735D6D}"/>
              </a:ext>
            </a:extLst>
          </p:cNvPr>
          <p:cNvSpPr>
            <a:spLocks noGrp="1"/>
          </p:cNvSpPr>
          <p:nvPr/>
        </p:nvSpPr>
        <p:spPr>
          <a:xfrm>
            <a:off x="5114925" y="3314700"/>
            <a:ext cx="1866900" cy="590550"/>
          </a:xfrm>
          <a:prstGeom prst="rect">
            <a:avLst/>
          </a:prstGeom>
          <a:noFill/>
          <a:ln w="0">
            <a:noFill/>
            <a:prstDash val="solid"/>
          </a:ln>
        </p:spPr>
        <p:txBody>
          <a:bodyPr anchor="t">
            <a:normAutofit fontScale="99242"/>
          </a:bodyPr>
          <a:lstStyle/>
          <a:p>
            <a:pPr algn="l">
              <a:buNone/>
              <a:defRPr sz="1650" b="1" i="0">
                <a:solidFill>
                  <a:srgbClr val="000000"/>
                </a:solidFill>
                <a:latin typeface="Helvetica Neue"/>
                <a:ea typeface="Helvetica Neue"/>
                <a:cs typeface="Helvetica Neue"/>
              </a:defRPr>
            </a:pPr>
            <a:r>
              <a:rPr sz="1650" b="1" i="0">
                <a:solidFill>
                  <a:srgbClr val="000000"/>
                </a:solidFill>
                <a:latin typeface="Helvetica Neue"/>
                <a:ea typeface="Helvetica Neue"/>
                <a:cs typeface="Helvetica Neue"/>
              </a:rPr>
              <a:t>Solver embedding</a:t>
            </a:r>
          </a:p>
        </p:txBody>
      </p:sp>
      <p:sp>
        <p:nvSpPr>
          <p:cNvPr id="17" name="Rectangle 16">
            <a:extLst>
              <a:ext uri="{FF2B5EF4-FFF2-40B4-BE49-F238E27FC236}">
                <a16:creationId xmlns:a16="http://schemas.microsoft.com/office/drawing/2014/main" id="{13EA0330-638C-4FC6-99DA-41F9E0D39130}"/>
              </a:ext>
            </a:extLst>
          </p:cNvPr>
          <p:cNvSpPr>
            <a:spLocks noGrp="1"/>
          </p:cNvSpPr>
          <p:nvPr/>
        </p:nvSpPr>
        <p:spPr>
          <a:xfrm>
            <a:off x="5114925" y="4114800"/>
            <a:ext cx="1905000" cy="723900"/>
          </a:xfrm>
          <a:prstGeom prst="rect">
            <a:avLst/>
          </a:prstGeom>
          <a:noFill/>
          <a:ln w="0">
            <a:noFill/>
            <a:prstDash val="solid"/>
          </a:ln>
        </p:spPr>
        <p:txBody>
          <a:bodyPr anchor="t">
            <a:normAutofit/>
          </a:bodyPr>
          <a:lstStyle/>
          <a:p>
            <a:pPr algn="l">
              <a:buNone/>
              <a:defRPr sz="1425" b="0" i="0">
                <a:solidFill>
                  <a:srgbClr val="5B6472"/>
                </a:solidFill>
                <a:latin typeface="Helvetica Neue"/>
                <a:ea typeface="Helvetica Neue"/>
                <a:cs typeface="Helvetica Neue"/>
              </a:defRPr>
            </a:pPr>
            <a:r>
              <a:rPr sz="1425" b="0" i="0">
                <a:solidFill>
                  <a:srgbClr val="5B6472"/>
                </a:solidFill>
                <a:latin typeface="Helvetica Neue"/>
                <a:ea typeface="Helvetica Neue"/>
                <a:cs typeface="Helvetica Neue"/>
              </a:rPr>
              <a:t>a priori + a posteriori</a:t>
            </a:r>
          </a:p>
        </p:txBody>
      </p:sp>
      <p:sp>
        <p:nvSpPr>
          <p:cNvPr id="18" name="Oval 17">
            <a:extLst>
              <a:ext uri="{FF2B5EF4-FFF2-40B4-BE49-F238E27FC236}">
                <a16:creationId xmlns:a16="http://schemas.microsoft.com/office/drawing/2014/main" id="{8A8CC3CA-1003-4F98-9089-31EB2738552E}"/>
              </a:ext>
            </a:extLst>
          </p:cNvPr>
          <p:cNvSpPr>
            <a:spLocks noGrp="1"/>
          </p:cNvSpPr>
          <p:nvPr/>
        </p:nvSpPr>
        <p:spPr>
          <a:xfrm>
            <a:off x="7324725" y="2695575"/>
            <a:ext cx="304800" cy="304800"/>
          </a:xfrm>
          <a:prstGeom prst="ellipse">
            <a:avLst/>
          </a:prstGeom>
          <a:solidFill>
            <a:srgbClr val="3D8DFF"/>
          </a:solidFill>
          <a:ln w="9525">
            <a:solidFill>
              <a:srgbClr val="FFFFFF"/>
            </a:solidFill>
            <a:prstDash val="solid"/>
          </a:ln>
        </p:spPr>
        <p:txBody>
          <a:bodyPr/>
          <a:lstStyle/>
          <a:p>
            <a:endParaRPr lang="en-US"/>
          </a:p>
        </p:txBody>
      </p:sp>
      <p:sp>
        <p:nvSpPr>
          <p:cNvPr id="19" name="Rectangle 18">
            <a:extLst>
              <a:ext uri="{FF2B5EF4-FFF2-40B4-BE49-F238E27FC236}">
                <a16:creationId xmlns:a16="http://schemas.microsoft.com/office/drawing/2014/main" id="{3398937B-B074-4277-B279-C47DCD1659FA}"/>
              </a:ext>
            </a:extLst>
          </p:cNvPr>
          <p:cNvSpPr>
            <a:spLocks noGrp="1"/>
          </p:cNvSpPr>
          <p:nvPr/>
        </p:nvSpPr>
        <p:spPr>
          <a:xfrm>
            <a:off x="7286625" y="2295525"/>
            <a:ext cx="514350" cy="266700"/>
          </a:xfrm>
          <a:prstGeom prst="rect">
            <a:avLst/>
          </a:prstGeom>
          <a:noFill/>
          <a:ln w="0">
            <a:noFill/>
            <a:prstDash val="solid"/>
          </a:ln>
        </p:spPr>
        <p:txBody>
          <a:bodyPr anchor="t">
            <a:normAutofit fontScale="97696" lnSpcReduction="10000"/>
          </a:bodyPr>
          <a:lstStyle/>
          <a:p>
            <a:pPr algn="l">
              <a:buNone/>
              <a:defRPr sz="1275" b="1" i="0">
                <a:solidFill>
                  <a:srgbClr val="5B6472"/>
                </a:solidFill>
                <a:latin typeface="Helvetica Neue"/>
                <a:ea typeface="Helvetica Neue"/>
                <a:cs typeface="Helvetica Neue"/>
              </a:defRPr>
            </a:pPr>
            <a:r>
              <a:rPr sz="1275" b="1" i="0">
                <a:solidFill>
                  <a:srgbClr val="5B6472"/>
                </a:solidFill>
                <a:latin typeface="Helvetica Neue"/>
                <a:ea typeface="Helvetica Neue"/>
                <a:cs typeface="Helvetica Neue"/>
              </a:rPr>
              <a:t>04</a:t>
            </a:r>
          </a:p>
        </p:txBody>
      </p:sp>
      <p:sp>
        <p:nvSpPr>
          <p:cNvPr id="20" name="Rectangle 19">
            <a:extLst>
              <a:ext uri="{FF2B5EF4-FFF2-40B4-BE49-F238E27FC236}">
                <a16:creationId xmlns:a16="http://schemas.microsoft.com/office/drawing/2014/main" id="{DBC91875-921D-47F8-868B-C910D3EF20E8}"/>
              </a:ext>
            </a:extLst>
          </p:cNvPr>
          <p:cNvSpPr>
            <a:spLocks noGrp="1"/>
          </p:cNvSpPr>
          <p:nvPr/>
        </p:nvSpPr>
        <p:spPr>
          <a:xfrm>
            <a:off x="7286625" y="3314700"/>
            <a:ext cx="1866900" cy="590550"/>
          </a:xfrm>
          <a:prstGeom prst="rect">
            <a:avLst/>
          </a:prstGeom>
          <a:noFill/>
          <a:ln w="0">
            <a:noFill/>
            <a:prstDash val="solid"/>
          </a:ln>
        </p:spPr>
        <p:txBody>
          <a:bodyPr anchor="t">
            <a:normAutofit fontScale="99242"/>
          </a:bodyPr>
          <a:lstStyle/>
          <a:p>
            <a:pPr algn="l">
              <a:buNone/>
              <a:defRPr sz="1650" b="1" i="0">
                <a:solidFill>
                  <a:srgbClr val="000000"/>
                </a:solidFill>
                <a:latin typeface="Helvetica Neue"/>
                <a:ea typeface="Helvetica Neue"/>
                <a:cs typeface="Helvetica Neue"/>
              </a:defRPr>
            </a:pPr>
            <a:r>
              <a:rPr sz="1650" b="1" i="0">
                <a:solidFill>
                  <a:srgbClr val="000000"/>
                </a:solidFill>
                <a:latin typeface="Helvetica Neue"/>
                <a:ea typeface="Helvetica Neue"/>
                <a:cs typeface="Helvetica Neue"/>
              </a:rPr>
              <a:t>Shared scorecards</a:t>
            </a:r>
          </a:p>
        </p:txBody>
      </p:sp>
      <p:sp>
        <p:nvSpPr>
          <p:cNvPr id="21" name="Rectangle 20">
            <a:extLst>
              <a:ext uri="{FF2B5EF4-FFF2-40B4-BE49-F238E27FC236}">
                <a16:creationId xmlns:a16="http://schemas.microsoft.com/office/drawing/2014/main" id="{2E675493-A153-4DB6-BA00-F44B72C63FAC}"/>
              </a:ext>
            </a:extLst>
          </p:cNvPr>
          <p:cNvSpPr>
            <a:spLocks noGrp="1"/>
          </p:cNvSpPr>
          <p:nvPr/>
        </p:nvSpPr>
        <p:spPr>
          <a:xfrm>
            <a:off x="7286625" y="4114800"/>
            <a:ext cx="1905000" cy="723900"/>
          </a:xfrm>
          <a:prstGeom prst="rect">
            <a:avLst/>
          </a:prstGeom>
          <a:noFill/>
          <a:ln w="0">
            <a:noFill/>
            <a:prstDash val="solid"/>
          </a:ln>
        </p:spPr>
        <p:txBody>
          <a:bodyPr anchor="t">
            <a:normAutofit/>
          </a:bodyPr>
          <a:lstStyle/>
          <a:p>
            <a:pPr algn="l">
              <a:buNone/>
              <a:defRPr sz="1425" b="0" i="0">
                <a:solidFill>
                  <a:srgbClr val="5B6472"/>
                </a:solidFill>
                <a:latin typeface="Helvetica Neue"/>
                <a:ea typeface="Helvetica Neue"/>
                <a:cs typeface="Helvetica Neue"/>
              </a:defRPr>
            </a:pPr>
            <a:r>
              <a:rPr sz="1425" b="0" i="0">
                <a:solidFill>
                  <a:srgbClr val="5B6472"/>
                </a:solidFill>
                <a:latin typeface="Helvetica Neue"/>
                <a:ea typeface="Helvetica Neue"/>
                <a:cs typeface="Helvetica Neue"/>
              </a:rPr>
              <a:t>accuracy · validity · cost</a:t>
            </a:r>
          </a:p>
        </p:txBody>
      </p:sp>
      <p:sp>
        <p:nvSpPr>
          <p:cNvPr id="22" name="Oval 21">
            <a:extLst>
              <a:ext uri="{FF2B5EF4-FFF2-40B4-BE49-F238E27FC236}">
                <a16:creationId xmlns:a16="http://schemas.microsoft.com/office/drawing/2014/main" id="{8807787E-0646-45A1-AB26-CA27B67747B0}"/>
              </a:ext>
            </a:extLst>
          </p:cNvPr>
          <p:cNvSpPr>
            <a:spLocks noGrp="1"/>
          </p:cNvSpPr>
          <p:nvPr/>
        </p:nvSpPr>
        <p:spPr>
          <a:xfrm>
            <a:off x="9496425" y="2695575"/>
            <a:ext cx="304800" cy="304800"/>
          </a:xfrm>
          <a:prstGeom prst="ellipse">
            <a:avLst/>
          </a:prstGeom>
          <a:solidFill>
            <a:srgbClr val="3D8DFF"/>
          </a:solidFill>
          <a:ln w="9525">
            <a:solidFill>
              <a:srgbClr val="FFFFFF"/>
            </a:solidFill>
            <a:prstDash val="solid"/>
          </a:ln>
        </p:spPr>
        <p:txBody>
          <a:bodyPr/>
          <a:lstStyle/>
          <a:p>
            <a:endParaRPr lang="en-US"/>
          </a:p>
        </p:txBody>
      </p:sp>
      <p:sp>
        <p:nvSpPr>
          <p:cNvPr id="23" name="Rectangle 22">
            <a:extLst>
              <a:ext uri="{FF2B5EF4-FFF2-40B4-BE49-F238E27FC236}">
                <a16:creationId xmlns:a16="http://schemas.microsoft.com/office/drawing/2014/main" id="{CDE9996E-BD19-43BB-8FC0-2C09E6168C56}"/>
              </a:ext>
            </a:extLst>
          </p:cNvPr>
          <p:cNvSpPr>
            <a:spLocks noGrp="1"/>
          </p:cNvSpPr>
          <p:nvPr/>
        </p:nvSpPr>
        <p:spPr>
          <a:xfrm>
            <a:off x="9458325" y="2295525"/>
            <a:ext cx="514350" cy="266700"/>
          </a:xfrm>
          <a:prstGeom prst="rect">
            <a:avLst/>
          </a:prstGeom>
          <a:noFill/>
          <a:ln w="0">
            <a:noFill/>
            <a:prstDash val="solid"/>
          </a:ln>
        </p:spPr>
        <p:txBody>
          <a:bodyPr anchor="t">
            <a:normAutofit fontScale="97696" lnSpcReduction="10000"/>
          </a:bodyPr>
          <a:lstStyle/>
          <a:p>
            <a:pPr algn="l">
              <a:buNone/>
              <a:defRPr sz="1275" b="1" i="0">
                <a:solidFill>
                  <a:srgbClr val="5B6472"/>
                </a:solidFill>
                <a:latin typeface="Helvetica Neue"/>
                <a:ea typeface="Helvetica Neue"/>
                <a:cs typeface="Helvetica Neue"/>
              </a:defRPr>
            </a:pPr>
            <a:r>
              <a:rPr sz="1275" b="1" i="0">
                <a:solidFill>
                  <a:srgbClr val="5B6472"/>
                </a:solidFill>
                <a:latin typeface="Helvetica Neue"/>
                <a:ea typeface="Helvetica Neue"/>
                <a:cs typeface="Helvetica Neue"/>
              </a:rPr>
              <a:t>05</a:t>
            </a:r>
          </a:p>
        </p:txBody>
      </p:sp>
      <p:sp>
        <p:nvSpPr>
          <p:cNvPr id="24" name="Rectangle 23">
            <a:extLst>
              <a:ext uri="{FF2B5EF4-FFF2-40B4-BE49-F238E27FC236}">
                <a16:creationId xmlns:a16="http://schemas.microsoft.com/office/drawing/2014/main" id="{778A7B00-8847-4F02-B179-EAEB49A3F9B3}"/>
              </a:ext>
            </a:extLst>
          </p:cNvPr>
          <p:cNvSpPr>
            <a:spLocks noGrp="1"/>
          </p:cNvSpPr>
          <p:nvPr/>
        </p:nvSpPr>
        <p:spPr>
          <a:xfrm>
            <a:off x="9458325" y="3314700"/>
            <a:ext cx="1866900" cy="590550"/>
          </a:xfrm>
          <a:prstGeom prst="rect">
            <a:avLst/>
          </a:prstGeom>
          <a:noFill/>
          <a:ln w="0">
            <a:noFill/>
            <a:prstDash val="solid"/>
          </a:ln>
        </p:spPr>
        <p:txBody>
          <a:bodyPr anchor="t">
            <a:normAutofit fontScale="99242"/>
          </a:bodyPr>
          <a:lstStyle/>
          <a:p>
            <a:pPr algn="l">
              <a:buNone/>
              <a:defRPr sz="1650" b="1" i="0">
                <a:solidFill>
                  <a:srgbClr val="000000"/>
                </a:solidFill>
                <a:latin typeface="Helvetica Neue"/>
                <a:ea typeface="Helvetica Neue"/>
                <a:cs typeface="Helvetica Neue"/>
              </a:defRPr>
            </a:pPr>
            <a:r>
              <a:rPr sz="1650" b="1" i="0">
                <a:solidFill>
                  <a:srgbClr val="000000"/>
                </a:solidFill>
                <a:latin typeface="Helvetica Neue"/>
                <a:ea typeface="Helvetica Neue"/>
                <a:cs typeface="Helvetica Neue"/>
              </a:rPr>
              <a:t>Reproducible report</a:t>
            </a:r>
          </a:p>
        </p:txBody>
      </p:sp>
      <p:sp>
        <p:nvSpPr>
          <p:cNvPr id="25" name="Rectangle 24">
            <a:extLst>
              <a:ext uri="{FF2B5EF4-FFF2-40B4-BE49-F238E27FC236}">
                <a16:creationId xmlns:a16="http://schemas.microsoft.com/office/drawing/2014/main" id="{CB28087D-E44D-4445-8DE3-7FB9F6B52C21}"/>
              </a:ext>
            </a:extLst>
          </p:cNvPr>
          <p:cNvSpPr>
            <a:spLocks noGrp="1"/>
          </p:cNvSpPr>
          <p:nvPr/>
        </p:nvSpPr>
        <p:spPr>
          <a:xfrm>
            <a:off x="9458325" y="4114800"/>
            <a:ext cx="1905000" cy="723900"/>
          </a:xfrm>
          <a:prstGeom prst="rect">
            <a:avLst/>
          </a:prstGeom>
          <a:noFill/>
          <a:ln w="0">
            <a:noFill/>
            <a:prstDash val="solid"/>
          </a:ln>
        </p:spPr>
        <p:txBody>
          <a:bodyPr anchor="t">
            <a:normAutofit/>
          </a:bodyPr>
          <a:lstStyle/>
          <a:p>
            <a:pPr algn="l">
              <a:buNone/>
              <a:defRPr sz="1425" b="0" i="0">
                <a:solidFill>
                  <a:srgbClr val="5B6472"/>
                </a:solidFill>
                <a:latin typeface="Helvetica Neue"/>
                <a:ea typeface="Helvetica Neue"/>
                <a:cs typeface="Helvetica Neue"/>
              </a:defRPr>
            </a:pPr>
            <a:r>
              <a:rPr sz="1425" b="0" i="0">
                <a:solidFill>
                  <a:srgbClr val="5B6472"/>
                </a:solidFill>
                <a:latin typeface="Helvetica Neue"/>
                <a:ea typeface="Helvetica Neue"/>
                <a:cs typeface="Helvetica Neue"/>
              </a:rPr>
              <a:t>metrics → figures → claims</a:t>
            </a:r>
          </a:p>
        </p:txBody>
      </p:sp>
      <p:sp>
        <p:nvSpPr>
          <p:cNvPr id="26" name="Rectangle 25">
            <a:extLst>
              <a:ext uri="{FF2B5EF4-FFF2-40B4-BE49-F238E27FC236}">
                <a16:creationId xmlns:a16="http://schemas.microsoft.com/office/drawing/2014/main" id="{F0AFA62A-3E38-42AA-AD92-41207129B4C3}"/>
              </a:ext>
            </a:extLst>
          </p:cNvPr>
          <p:cNvSpPr>
            <a:spLocks noGrp="1"/>
          </p:cNvSpPr>
          <p:nvPr/>
        </p:nvSpPr>
        <p:spPr>
          <a:xfrm>
            <a:off x="1065235" y="5386387"/>
            <a:ext cx="9182100" cy="638175"/>
          </a:xfrm>
          <a:prstGeom prst="rect">
            <a:avLst/>
          </a:prstGeom>
          <a:solidFill>
            <a:srgbClr val="F6F7F8"/>
          </a:solidFill>
          <a:ln w="9525">
            <a:solidFill>
              <a:srgbClr val="B8BCC4"/>
            </a:solidFill>
            <a:prstDash val="solid"/>
          </a:ln>
        </p:spPr>
        <p:txBody>
          <a:bodyPr/>
          <a:lstStyle/>
          <a:p>
            <a:endParaRPr lang="en-US"/>
          </a:p>
        </p:txBody>
      </p:sp>
      <p:sp>
        <p:nvSpPr>
          <p:cNvPr id="27" name="Rectangle 26">
            <a:extLst>
              <a:ext uri="{FF2B5EF4-FFF2-40B4-BE49-F238E27FC236}">
                <a16:creationId xmlns:a16="http://schemas.microsoft.com/office/drawing/2014/main" id="{DA38B2D0-E1DF-4D1F-A6A8-F437DE32844A}"/>
              </a:ext>
            </a:extLst>
          </p:cNvPr>
          <p:cNvSpPr>
            <a:spLocks noGrp="1"/>
          </p:cNvSpPr>
          <p:nvPr/>
        </p:nvSpPr>
        <p:spPr>
          <a:xfrm>
            <a:off x="1507506" y="5562600"/>
            <a:ext cx="8477250" cy="400050"/>
          </a:xfrm>
          <a:prstGeom prst="rect">
            <a:avLst/>
          </a:prstGeom>
          <a:noFill/>
          <a:ln w="0">
            <a:noFill/>
            <a:prstDash val="solid"/>
          </a:ln>
        </p:spPr>
        <p:txBody>
          <a:bodyPr anchor="t">
            <a:normAutofit fontScale="84807" lnSpcReduction="10000"/>
          </a:bodyPr>
          <a:lstStyle/>
          <a:p>
            <a:pPr algn="ctr">
              <a:buNone/>
              <a:defRPr sz="1575" b="1" i="0">
                <a:solidFill>
                  <a:srgbClr val="000000"/>
                </a:solidFill>
                <a:latin typeface="Helvetica Neue"/>
                <a:ea typeface="Helvetica Neue"/>
                <a:cs typeface="Helvetica Neue"/>
              </a:defRPr>
            </a:pPr>
            <a:r>
              <a:rPr sz="1575" b="1" i="0" dirty="0">
                <a:solidFill>
                  <a:srgbClr val="000000"/>
                </a:solidFill>
                <a:latin typeface="Helvetica Neue"/>
                <a:ea typeface="Helvetica Neue"/>
                <a:cs typeface="Helvetica Neue"/>
              </a:rPr>
              <a:t>Adding a method means implementing one interface — not rewriting data, integration, scoring,</a:t>
            </a:r>
            <a:r>
              <a:rPr lang="en-US" sz="1575" b="1" i="0" dirty="0">
                <a:solidFill>
                  <a:srgbClr val="000000"/>
                </a:solidFill>
                <a:latin typeface="Helvetica Neue"/>
                <a:ea typeface="Helvetica Neue"/>
                <a:cs typeface="Helvetica Neue"/>
              </a:rPr>
              <a:t> plotting</a:t>
            </a:r>
            <a:r>
              <a:rPr sz="1575" b="1" i="0" dirty="0">
                <a:solidFill>
                  <a:srgbClr val="000000"/>
                </a:solidFill>
                <a:latin typeface="Helvetica Neue"/>
                <a:ea typeface="Helvetica Neue"/>
                <a:cs typeface="Helvetica Neue"/>
              </a:rPr>
              <a:t>.</a:t>
            </a:r>
          </a:p>
        </p:txBody>
      </p:sp>
    </p:spTree>
    <p:extLst>
      <p:ext uri="{BB962C8B-B14F-4D97-AF65-F5344CB8AC3E}">
        <p14:creationId xmlns:p14="http://schemas.microsoft.com/office/powerpoint/2010/main" val="9111042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7358BB43-3F0C-452F-A232-6E545694760C}"/>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52D4EB03-3349-48FF-9A87-328F924BB0A5}"/>
              </a:ext>
            </a:extLst>
          </p:cNvPr>
          <p:cNvSpPr>
            <a:spLocks noGrp="1"/>
          </p:cNvSpPr>
          <p:nvPr/>
        </p:nvSpPr>
        <p:spPr>
          <a:xfrm>
            <a:off x="400050" y="495300"/>
            <a:ext cx="11391900" cy="590550"/>
          </a:xfrm>
          <a:prstGeom prst="rect">
            <a:avLst/>
          </a:prstGeom>
          <a:noFill/>
          <a:ln w="0">
            <a:noFill/>
            <a:prstDash val="solid"/>
          </a:ln>
        </p:spPr>
        <p:txBody>
          <a:bodyPr anchor="t">
            <a:normAutofit fontScale="92500"/>
          </a:bodyPr>
          <a:lstStyle/>
          <a:p>
            <a:pPr algn="l">
              <a:buNone/>
              <a:defRPr sz="2925" b="1" i="0">
                <a:solidFill>
                  <a:srgbClr val="000000"/>
                </a:solidFill>
                <a:latin typeface="Helvetica Neue"/>
                <a:ea typeface="Helvetica Neue"/>
                <a:cs typeface="Helvetica Neue"/>
              </a:defRPr>
            </a:pPr>
            <a:r>
              <a:rPr sz="2925" b="1" i="0" dirty="0">
                <a:solidFill>
                  <a:srgbClr val="000000"/>
                </a:solidFill>
                <a:latin typeface="Helvetica Neue"/>
                <a:ea typeface="Helvetica Neue"/>
                <a:cs typeface="Helvetica Neue"/>
              </a:rPr>
              <a:t>Scorecards </a:t>
            </a:r>
            <a:r>
              <a:rPr lang="en-US" sz="2925" b="1" i="0" dirty="0">
                <a:solidFill>
                  <a:srgbClr val="000000"/>
                </a:solidFill>
                <a:latin typeface="Helvetica Neue"/>
                <a:ea typeface="Helvetica Neue"/>
                <a:cs typeface="Helvetica Neue"/>
              </a:rPr>
              <a:t>for evaluation components </a:t>
            </a:r>
            <a:r>
              <a:rPr sz="2925" b="1" i="0" dirty="0">
                <a:solidFill>
                  <a:srgbClr val="000000"/>
                </a:solidFill>
                <a:latin typeface="Helvetica Neue"/>
                <a:ea typeface="Helvetica Neue"/>
                <a:cs typeface="Helvetica Neue"/>
              </a:rPr>
              <a:t>replace a universal winner</a:t>
            </a:r>
          </a:p>
        </p:txBody>
      </p:sp>
      <p:cxnSp>
        <p:nvCxnSpPr>
          <p:cNvPr id="82" name="Straight Arrow Connector 81"/>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D4648D33-9BC4-4C6F-9CE0-515DEB32CD48}"/>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20</a:t>
            </a:r>
          </a:p>
        </p:txBody>
      </p:sp>
      <p:sp>
        <p:nvSpPr>
          <p:cNvPr id="5" name="Rectangle 4">
            <a:extLst>
              <a:ext uri="{FF2B5EF4-FFF2-40B4-BE49-F238E27FC236}">
                <a16:creationId xmlns:a16="http://schemas.microsoft.com/office/drawing/2014/main" id="{A40C7041-7AA1-43A6-8CA0-D6F0F8B49F9D}"/>
              </a:ext>
            </a:extLst>
          </p:cNvPr>
          <p:cNvSpPr>
            <a:spLocks noGrp="1"/>
          </p:cNvSpPr>
          <p:nvPr/>
        </p:nvSpPr>
        <p:spPr>
          <a:xfrm>
            <a:off x="400050" y="1504950"/>
            <a:ext cx="495300" cy="285750"/>
          </a:xfrm>
          <a:prstGeom prst="rect">
            <a:avLst/>
          </a:prstGeom>
          <a:noFill/>
          <a:ln w="0">
            <a:noFill/>
            <a:prstDash val="solid"/>
          </a:ln>
        </p:spPr>
        <p:txBody>
          <a:bodyPr anchor="t">
            <a:normAutofit fontScale="94444" lnSpcReduction="10000"/>
          </a:bodyPr>
          <a:lstStyle/>
          <a:p>
            <a:pPr algn="l">
              <a:buNone/>
              <a:defRPr sz="1350" b="1" i="0">
                <a:solidFill>
                  <a:srgbClr val="3D8DFF"/>
                </a:solidFill>
                <a:latin typeface="Helvetica Neue"/>
                <a:ea typeface="Helvetica Neue"/>
                <a:cs typeface="Helvetica Neue"/>
              </a:defRPr>
            </a:pPr>
            <a:r>
              <a:rPr sz="1350" b="1" i="0">
                <a:solidFill>
                  <a:srgbClr val="3D8DFF"/>
                </a:solidFill>
                <a:latin typeface="Helvetica Neue"/>
                <a:ea typeface="Helvetica Neue"/>
                <a:cs typeface="Helvetica Neue"/>
              </a:rPr>
              <a:t>01</a:t>
            </a:r>
          </a:p>
        </p:txBody>
      </p:sp>
      <p:sp>
        <p:nvSpPr>
          <p:cNvPr id="6" name="Rectangle 5">
            <a:extLst>
              <a:ext uri="{FF2B5EF4-FFF2-40B4-BE49-F238E27FC236}">
                <a16:creationId xmlns:a16="http://schemas.microsoft.com/office/drawing/2014/main" id="{88E54245-7676-471A-9CA8-8786C8C98B12}"/>
              </a:ext>
            </a:extLst>
          </p:cNvPr>
          <p:cNvSpPr>
            <a:spLocks noGrp="1"/>
          </p:cNvSpPr>
          <p:nvPr/>
        </p:nvSpPr>
        <p:spPr>
          <a:xfrm>
            <a:off x="971550" y="1504950"/>
            <a:ext cx="4619625" cy="323850"/>
          </a:xfrm>
          <a:prstGeom prst="rect">
            <a:avLst/>
          </a:prstGeom>
          <a:noFill/>
          <a:ln w="0">
            <a:noFill/>
            <a:prstDash val="solid"/>
          </a:ln>
        </p:spPr>
        <p:txBody>
          <a:bodyPr anchor="t">
            <a:normAutofit fontScale="88406"/>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Target accuracy + identifiability</a:t>
            </a:r>
          </a:p>
        </p:txBody>
      </p:sp>
      <p:cxnSp>
        <p:nvCxnSpPr>
          <p:cNvPr id="86" name="Straight Arrow Connector 85"/>
          <p:cNvCxnSpPr/>
          <p:nvPr/>
        </p:nvCxnSpPr>
        <p:spPr>
          <a:xfrm>
            <a:off x="400050" y="1924050"/>
            <a:ext cx="5238750" cy="953"/>
          </a:xfrm>
          <a:prstGeom prst="straightConnector1">
            <a:avLst/>
          </a:prstGeom>
          <a:ln w="9525">
            <a:solidFill>
              <a:srgbClr val="B8BCC4"/>
            </a:solidFill>
            <a:prstDash val="solid"/>
          </a:ln>
        </p:spPr>
      </p:cxnSp>
      <p:sp>
        <p:nvSpPr>
          <p:cNvPr id="8" name="Rectangle 7">
            <a:extLst>
              <a:ext uri="{FF2B5EF4-FFF2-40B4-BE49-F238E27FC236}">
                <a16:creationId xmlns:a16="http://schemas.microsoft.com/office/drawing/2014/main" id="{7713771C-7B58-45B8-9F72-0C5163ACF71C}"/>
              </a:ext>
            </a:extLst>
          </p:cNvPr>
          <p:cNvSpPr>
            <a:spLocks noGrp="1"/>
          </p:cNvSpPr>
          <p:nvPr/>
        </p:nvSpPr>
        <p:spPr>
          <a:xfrm>
            <a:off x="400050" y="2171700"/>
            <a:ext cx="495300" cy="285750"/>
          </a:xfrm>
          <a:prstGeom prst="rect">
            <a:avLst/>
          </a:prstGeom>
          <a:noFill/>
          <a:ln w="0">
            <a:noFill/>
            <a:prstDash val="solid"/>
          </a:ln>
        </p:spPr>
        <p:txBody>
          <a:bodyPr anchor="t">
            <a:normAutofit fontScale="94444" lnSpcReduction="10000"/>
          </a:bodyPr>
          <a:lstStyle/>
          <a:p>
            <a:pPr algn="l">
              <a:buNone/>
              <a:defRPr sz="1350" b="1" i="0">
                <a:solidFill>
                  <a:srgbClr val="3D8DFF"/>
                </a:solidFill>
                <a:latin typeface="Helvetica Neue"/>
                <a:ea typeface="Helvetica Neue"/>
                <a:cs typeface="Helvetica Neue"/>
              </a:defRPr>
            </a:pPr>
            <a:r>
              <a:rPr sz="1350" b="1" i="0">
                <a:solidFill>
                  <a:srgbClr val="3D8DFF"/>
                </a:solidFill>
                <a:latin typeface="Helvetica Neue"/>
                <a:ea typeface="Helvetica Neue"/>
                <a:cs typeface="Helvetica Neue"/>
              </a:rPr>
              <a:t>02</a:t>
            </a:r>
          </a:p>
        </p:txBody>
      </p:sp>
      <p:sp>
        <p:nvSpPr>
          <p:cNvPr id="9" name="Rectangle 8">
            <a:extLst>
              <a:ext uri="{FF2B5EF4-FFF2-40B4-BE49-F238E27FC236}">
                <a16:creationId xmlns:a16="http://schemas.microsoft.com/office/drawing/2014/main" id="{6A360E77-73D5-4625-BD04-CE71E9E97A03}"/>
              </a:ext>
            </a:extLst>
          </p:cNvPr>
          <p:cNvSpPr>
            <a:spLocks noGrp="1"/>
          </p:cNvSpPr>
          <p:nvPr/>
        </p:nvSpPr>
        <p:spPr>
          <a:xfrm>
            <a:off x="971550" y="2171700"/>
            <a:ext cx="4619625" cy="323850"/>
          </a:xfrm>
          <a:prstGeom prst="rect">
            <a:avLst/>
          </a:prstGeom>
          <a:noFill/>
          <a:ln w="0">
            <a:noFill/>
            <a:prstDash val="solid"/>
          </a:ln>
        </p:spPr>
        <p:txBody>
          <a:bodyPr anchor="t">
            <a:normAutofit fontScale="88406"/>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Dynamics + reliability</a:t>
            </a:r>
          </a:p>
        </p:txBody>
      </p:sp>
      <p:cxnSp>
        <p:nvCxnSpPr>
          <p:cNvPr id="89" name="Straight Arrow Connector 88"/>
          <p:cNvCxnSpPr/>
          <p:nvPr/>
        </p:nvCxnSpPr>
        <p:spPr>
          <a:xfrm>
            <a:off x="400050" y="2590800"/>
            <a:ext cx="5238750" cy="953"/>
          </a:xfrm>
          <a:prstGeom prst="straightConnector1">
            <a:avLst/>
          </a:prstGeom>
          <a:ln w="9525">
            <a:solidFill>
              <a:srgbClr val="B8BCC4"/>
            </a:solidFill>
            <a:prstDash val="solid"/>
          </a:ln>
        </p:spPr>
      </p:cxnSp>
      <p:sp>
        <p:nvSpPr>
          <p:cNvPr id="11" name="Rectangle 10">
            <a:extLst>
              <a:ext uri="{FF2B5EF4-FFF2-40B4-BE49-F238E27FC236}">
                <a16:creationId xmlns:a16="http://schemas.microsoft.com/office/drawing/2014/main" id="{B52E5DDF-6A5D-40EF-8327-7D93D308E2BC}"/>
              </a:ext>
            </a:extLst>
          </p:cNvPr>
          <p:cNvSpPr>
            <a:spLocks noGrp="1"/>
          </p:cNvSpPr>
          <p:nvPr/>
        </p:nvSpPr>
        <p:spPr>
          <a:xfrm>
            <a:off x="400050" y="2838450"/>
            <a:ext cx="495300" cy="285750"/>
          </a:xfrm>
          <a:prstGeom prst="rect">
            <a:avLst/>
          </a:prstGeom>
          <a:noFill/>
          <a:ln w="0">
            <a:noFill/>
            <a:prstDash val="solid"/>
          </a:ln>
        </p:spPr>
        <p:txBody>
          <a:bodyPr anchor="t">
            <a:normAutofit fontScale="94444" lnSpcReduction="10000"/>
          </a:bodyPr>
          <a:lstStyle/>
          <a:p>
            <a:pPr algn="l">
              <a:buNone/>
              <a:defRPr sz="1350" b="1" i="0">
                <a:solidFill>
                  <a:srgbClr val="3D8DFF"/>
                </a:solidFill>
                <a:latin typeface="Helvetica Neue"/>
                <a:ea typeface="Helvetica Neue"/>
                <a:cs typeface="Helvetica Neue"/>
              </a:defRPr>
            </a:pPr>
            <a:r>
              <a:rPr sz="1350" b="1" i="0">
                <a:solidFill>
                  <a:srgbClr val="3D8DFF"/>
                </a:solidFill>
                <a:latin typeface="Helvetica Neue"/>
                <a:ea typeface="Helvetica Neue"/>
                <a:cs typeface="Helvetica Neue"/>
              </a:rPr>
              <a:t>03</a:t>
            </a:r>
          </a:p>
        </p:txBody>
      </p:sp>
      <p:sp>
        <p:nvSpPr>
          <p:cNvPr id="12" name="Rectangle 11">
            <a:extLst>
              <a:ext uri="{FF2B5EF4-FFF2-40B4-BE49-F238E27FC236}">
                <a16:creationId xmlns:a16="http://schemas.microsoft.com/office/drawing/2014/main" id="{B8BF78B4-694A-4F04-A33E-E2AC6FC7541E}"/>
              </a:ext>
            </a:extLst>
          </p:cNvPr>
          <p:cNvSpPr>
            <a:spLocks noGrp="1"/>
          </p:cNvSpPr>
          <p:nvPr/>
        </p:nvSpPr>
        <p:spPr>
          <a:xfrm>
            <a:off x="971550" y="2838450"/>
            <a:ext cx="4619625" cy="323850"/>
          </a:xfrm>
          <a:prstGeom prst="rect">
            <a:avLst/>
          </a:prstGeom>
          <a:noFill/>
          <a:ln w="0">
            <a:noFill/>
            <a:prstDash val="solid"/>
          </a:ln>
        </p:spPr>
        <p:txBody>
          <a:bodyPr anchor="t">
            <a:normAutofit fontScale="88406"/>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Closure diagnosis</a:t>
            </a:r>
          </a:p>
        </p:txBody>
      </p:sp>
      <p:cxnSp>
        <p:nvCxnSpPr>
          <p:cNvPr id="92" name="Straight Arrow Connector 91"/>
          <p:cNvCxnSpPr/>
          <p:nvPr/>
        </p:nvCxnSpPr>
        <p:spPr>
          <a:xfrm>
            <a:off x="400050" y="3257550"/>
            <a:ext cx="5238750" cy="953"/>
          </a:xfrm>
          <a:prstGeom prst="straightConnector1">
            <a:avLst/>
          </a:prstGeom>
          <a:ln w="9525">
            <a:solidFill>
              <a:srgbClr val="B8BCC4"/>
            </a:solidFill>
            <a:prstDash val="solid"/>
          </a:ln>
        </p:spPr>
      </p:cxnSp>
      <p:sp>
        <p:nvSpPr>
          <p:cNvPr id="14" name="Rectangle 13">
            <a:extLst>
              <a:ext uri="{FF2B5EF4-FFF2-40B4-BE49-F238E27FC236}">
                <a16:creationId xmlns:a16="http://schemas.microsoft.com/office/drawing/2014/main" id="{051D20DB-4A4E-48FE-AE85-49A55D901DCA}"/>
              </a:ext>
            </a:extLst>
          </p:cNvPr>
          <p:cNvSpPr>
            <a:spLocks noGrp="1"/>
          </p:cNvSpPr>
          <p:nvPr/>
        </p:nvSpPr>
        <p:spPr>
          <a:xfrm>
            <a:off x="400050" y="3505200"/>
            <a:ext cx="495300" cy="285750"/>
          </a:xfrm>
          <a:prstGeom prst="rect">
            <a:avLst/>
          </a:prstGeom>
          <a:noFill/>
          <a:ln w="0">
            <a:noFill/>
            <a:prstDash val="solid"/>
          </a:ln>
        </p:spPr>
        <p:txBody>
          <a:bodyPr anchor="t">
            <a:normAutofit fontScale="94444" lnSpcReduction="10000"/>
          </a:bodyPr>
          <a:lstStyle/>
          <a:p>
            <a:pPr algn="l">
              <a:buNone/>
              <a:defRPr sz="1350" b="1" i="0">
                <a:solidFill>
                  <a:srgbClr val="18AEB5"/>
                </a:solidFill>
                <a:latin typeface="Helvetica Neue"/>
                <a:ea typeface="Helvetica Neue"/>
                <a:cs typeface="Helvetica Neue"/>
              </a:defRPr>
            </a:pPr>
            <a:r>
              <a:rPr sz="1350" b="1" i="0">
                <a:solidFill>
                  <a:srgbClr val="18AEB5"/>
                </a:solidFill>
                <a:latin typeface="Helvetica Neue"/>
                <a:ea typeface="Helvetica Neue"/>
                <a:cs typeface="Helvetica Neue"/>
              </a:rPr>
              <a:t>04</a:t>
            </a:r>
          </a:p>
        </p:txBody>
      </p:sp>
      <p:sp>
        <p:nvSpPr>
          <p:cNvPr id="15" name="Rectangle 14">
            <a:extLst>
              <a:ext uri="{FF2B5EF4-FFF2-40B4-BE49-F238E27FC236}">
                <a16:creationId xmlns:a16="http://schemas.microsoft.com/office/drawing/2014/main" id="{04D178D5-7797-46F9-9BB7-CECD88417A49}"/>
              </a:ext>
            </a:extLst>
          </p:cNvPr>
          <p:cNvSpPr>
            <a:spLocks noGrp="1"/>
          </p:cNvSpPr>
          <p:nvPr/>
        </p:nvSpPr>
        <p:spPr>
          <a:xfrm>
            <a:off x="971550" y="3505200"/>
            <a:ext cx="4619625" cy="323850"/>
          </a:xfrm>
          <a:prstGeom prst="rect">
            <a:avLst/>
          </a:prstGeom>
          <a:noFill/>
          <a:ln w="0">
            <a:noFill/>
            <a:prstDash val="solid"/>
          </a:ln>
        </p:spPr>
        <p:txBody>
          <a:bodyPr anchor="t">
            <a:normAutofit fontScale="88406"/>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Physical / mathematical validity</a:t>
            </a:r>
          </a:p>
        </p:txBody>
      </p:sp>
      <p:cxnSp>
        <p:nvCxnSpPr>
          <p:cNvPr id="95" name="Straight Arrow Connector 94"/>
          <p:cNvCxnSpPr/>
          <p:nvPr/>
        </p:nvCxnSpPr>
        <p:spPr>
          <a:xfrm>
            <a:off x="400050" y="3924300"/>
            <a:ext cx="5238750" cy="953"/>
          </a:xfrm>
          <a:prstGeom prst="straightConnector1">
            <a:avLst/>
          </a:prstGeom>
          <a:ln w="9525">
            <a:solidFill>
              <a:srgbClr val="B8BCC4"/>
            </a:solidFill>
            <a:prstDash val="solid"/>
          </a:ln>
        </p:spPr>
      </p:cxnSp>
      <p:sp>
        <p:nvSpPr>
          <p:cNvPr id="17" name="Rectangle 16">
            <a:extLst>
              <a:ext uri="{FF2B5EF4-FFF2-40B4-BE49-F238E27FC236}">
                <a16:creationId xmlns:a16="http://schemas.microsoft.com/office/drawing/2014/main" id="{2205BB8B-70FC-4D0E-AC00-B24D121CCEC2}"/>
              </a:ext>
            </a:extLst>
          </p:cNvPr>
          <p:cNvSpPr>
            <a:spLocks noGrp="1"/>
          </p:cNvSpPr>
          <p:nvPr/>
        </p:nvSpPr>
        <p:spPr>
          <a:xfrm>
            <a:off x="400050" y="4171950"/>
            <a:ext cx="495300" cy="285750"/>
          </a:xfrm>
          <a:prstGeom prst="rect">
            <a:avLst/>
          </a:prstGeom>
          <a:noFill/>
          <a:ln w="0">
            <a:noFill/>
            <a:prstDash val="solid"/>
          </a:ln>
        </p:spPr>
        <p:txBody>
          <a:bodyPr anchor="t">
            <a:normAutofit fontScale="94444" lnSpcReduction="10000"/>
          </a:bodyPr>
          <a:lstStyle/>
          <a:p>
            <a:pPr algn="l">
              <a:buNone/>
              <a:defRPr sz="1350" b="1" i="0">
                <a:solidFill>
                  <a:srgbClr val="18AEB5"/>
                </a:solidFill>
                <a:latin typeface="Helvetica Neue"/>
                <a:ea typeface="Helvetica Neue"/>
                <a:cs typeface="Helvetica Neue"/>
              </a:defRPr>
            </a:pPr>
            <a:r>
              <a:rPr sz="1350" b="1" i="0">
                <a:solidFill>
                  <a:srgbClr val="18AEB5"/>
                </a:solidFill>
                <a:latin typeface="Helvetica Neue"/>
                <a:ea typeface="Helvetica Neue"/>
                <a:cs typeface="Helvetica Neue"/>
              </a:rPr>
              <a:t>05</a:t>
            </a:r>
          </a:p>
        </p:txBody>
      </p:sp>
      <p:sp>
        <p:nvSpPr>
          <p:cNvPr id="18" name="Rectangle 17">
            <a:extLst>
              <a:ext uri="{FF2B5EF4-FFF2-40B4-BE49-F238E27FC236}">
                <a16:creationId xmlns:a16="http://schemas.microsoft.com/office/drawing/2014/main" id="{4184E44C-06F5-4954-AA18-5F7638D7BD0F}"/>
              </a:ext>
            </a:extLst>
          </p:cNvPr>
          <p:cNvSpPr>
            <a:spLocks noGrp="1"/>
          </p:cNvSpPr>
          <p:nvPr/>
        </p:nvSpPr>
        <p:spPr>
          <a:xfrm>
            <a:off x="971550" y="4171950"/>
            <a:ext cx="4619625" cy="323850"/>
          </a:xfrm>
          <a:prstGeom prst="rect">
            <a:avLst/>
          </a:prstGeom>
          <a:noFill/>
          <a:ln w="0">
            <a:noFill/>
            <a:prstDash val="solid"/>
          </a:ln>
        </p:spPr>
        <p:txBody>
          <a:bodyPr anchor="t">
            <a:normAutofit fontScale="88406"/>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Limits + transfer</a:t>
            </a:r>
          </a:p>
        </p:txBody>
      </p:sp>
      <p:cxnSp>
        <p:nvCxnSpPr>
          <p:cNvPr id="98" name="Straight Arrow Connector 97"/>
          <p:cNvCxnSpPr/>
          <p:nvPr/>
        </p:nvCxnSpPr>
        <p:spPr>
          <a:xfrm>
            <a:off x="400050" y="4591050"/>
            <a:ext cx="5238750" cy="953"/>
          </a:xfrm>
          <a:prstGeom prst="straightConnector1">
            <a:avLst/>
          </a:prstGeom>
          <a:ln w="9525">
            <a:solidFill>
              <a:srgbClr val="B8BCC4"/>
            </a:solidFill>
            <a:prstDash val="solid"/>
          </a:ln>
        </p:spPr>
      </p:cxnSp>
      <p:sp>
        <p:nvSpPr>
          <p:cNvPr id="20" name="Rectangle 19">
            <a:extLst>
              <a:ext uri="{FF2B5EF4-FFF2-40B4-BE49-F238E27FC236}">
                <a16:creationId xmlns:a16="http://schemas.microsoft.com/office/drawing/2014/main" id="{E63CCCDD-49F5-4643-BDD3-3D38FA7F12FA}"/>
              </a:ext>
            </a:extLst>
          </p:cNvPr>
          <p:cNvSpPr>
            <a:spLocks noGrp="1"/>
          </p:cNvSpPr>
          <p:nvPr/>
        </p:nvSpPr>
        <p:spPr>
          <a:xfrm>
            <a:off x="400050" y="4838700"/>
            <a:ext cx="495300" cy="285750"/>
          </a:xfrm>
          <a:prstGeom prst="rect">
            <a:avLst/>
          </a:prstGeom>
          <a:noFill/>
          <a:ln w="0">
            <a:noFill/>
            <a:prstDash val="solid"/>
          </a:ln>
        </p:spPr>
        <p:txBody>
          <a:bodyPr anchor="t">
            <a:normAutofit fontScale="94444" lnSpcReduction="10000"/>
          </a:bodyPr>
          <a:lstStyle/>
          <a:p>
            <a:pPr algn="l">
              <a:buNone/>
              <a:defRPr sz="1350" b="1" i="0">
                <a:solidFill>
                  <a:srgbClr val="18AEB5"/>
                </a:solidFill>
                <a:latin typeface="Helvetica Neue"/>
                <a:ea typeface="Helvetica Neue"/>
                <a:cs typeface="Helvetica Neue"/>
              </a:defRPr>
            </a:pPr>
            <a:r>
              <a:rPr sz="1350" b="1" i="0">
                <a:solidFill>
                  <a:srgbClr val="18AEB5"/>
                </a:solidFill>
                <a:latin typeface="Helvetica Neue"/>
                <a:ea typeface="Helvetica Neue"/>
                <a:cs typeface="Helvetica Neue"/>
              </a:rPr>
              <a:t>06</a:t>
            </a:r>
          </a:p>
        </p:txBody>
      </p:sp>
      <p:sp>
        <p:nvSpPr>
          <p:cNvPr id="21" name="Rectangle 20">
            <a:extLst>
              <a:ext uri="{FF2B5EF4-FFF2-40B4-BE49-F238E27FC236}">
                <a16:creationId xmlns:a16="http://schemas.microsoft.com/office/drawing/2014/main" id="{5090FEC8-C10C-4ECE-B77C-E3D6A3E0BCBA}"/>
              </a:ext>
            </a:extLst>
          </p:cNvPr>
          <p:cNvSpPr>
            <a:spLocks noGrp="1"/>
          </p:cNvSpPr>
          <p:nvPr/>
        </p:nvSpPr>
        <p:spPr>
          <a:xfrm>
            <a:off x="971550" y="4838700"/>
            <a:ext cx="4619625" cy="323850"/>
          </a:xfrm>
          <a:prstGeom prst="rect">
            <a:avLst/>
          </a:prstGeom>
          <a:noFill/>
          <a:ln w="0">
            <a:noFill/>
            <a:prstDash val="solid"/>
          </a:ln>
        </p:spPr>
        <p:txBody>
          <a:bodyPr anchor="t">
            <a:normAutofit fontScale="88406"/>
          </a:bodyPr>
          <a:lstStyle/>
          <a:p>
            <a:pPr algn="l">
              <a:buNone/>
              <a:defRPr sz="1725" b="1" i="0">
                <a:solidFill>
                  <a:srgbClr val="000000"/>
                </a:solidFill>
                <a:latin typeface="Helvetica Neue"/>
                <a:ea typeface="Helvetica Neue"/>
                <a:cs typeface="Helvetica Neue"/>
              </a:defRPr>
            </a:pPr>
            <a:r>
              <a:rPr sz="1725" b="1" i="0">
                <a:solidFill>
                  <a:srgbClr val="000000"/>
                </a:solidFill>
                <a:latin typeface="Helvetica Neue"/>
                <a:ea typeface="Helvetica Neue"/>
                <a:cs typeface="Helvetica Neue"/>
              </a:rPr>
              <a:t>Information + total cost</a:t>
            </a:r>
          </a:p>
        </p:txBody>
      </p:sp>
      <p:cxnSp>
        <p:nvCxnSpPr>
          <p:cNvPr id="101" name="Straight Arrow Connector 100"/>
          <p:cNvCxnSpPr/>
          <p:nvPr/>
        </p:nvCxnSpPr>
        <p:spPr>
          <a:xfrm>
            <a:off x="400050" y="5257800"/>
            <a:ext cx="5238750" cy="953"/>
          </a:xfrm>
          <a:prstGeom prst="straightConnector1">
            <a:avLst/>
          </a:prstGeom>
          <a:ln w="9525">
            <a:solidFill>
              <a:srgbClr val="B8BCC4"/>
            </a:solidFill>
            <a:prstDash val="solid"/>
          </a:ln>
        </p:spPr>
      </p:cxnSp>
      <p:sp>
        <p:nvSpPr>
          <p:cNvPr id="23" name="Rectangle 22">
            <a:extLst>
              <a:ext uri="{FF2B5EF4-FFF2-40B4-BE49-F238E27FC236}">
                <a16:creationId xmlns:a16="http://schemas.microsoft.com/office/drawing/2014/main" id="{F7739EE7-ADFE-43D6-8C0E-6D86A540397E}"/>
              </a:ext>
            </a:extLst>
          </p:cNvPr>
          <p:cNvSpPr>
            <a:spLocks noGrp="1"/>
          </p:cNvSpPr>
          <p:nvPr/>
        </p:nvSpPr>
        <p:spPr>
          <a:xfrm>
            <a:off x="6229350" y="1495425"/>
            <a:ext cx="5562600" cy="3933825"/>
          </a:xfrm>
          <a:prstGeom prst="rect">
            <a:avLst/>
          </a:prstGeom>
          <a:solidFill>
            <a:srgbClr val="F6F7F8"/>
          </a:solidFill>
          <a:ln w="9525">
            <a:solidFill>
              <a:srgbClr val="B8BCC4"/>
            </a:solidFill>
            <a:prstDash val="solid"/>
          </a:ln>
        </p:spPr>
        <p:txBody>
          <a:bodyPr/>
          <a:lstStyle/>
          <a:p>
            <a:endParaRPr lang="en-US"/>
          </a:p>
        </p:txBody>
      </p:sp>
      <p:sp>
        <p:nvSpPr>
          <p:cNvPr id="24" name="Rectangle 23">
            <a:extLst>
              <a:ext uri="{FF2B5EF4-FFF2-40B4-BE49-F238E27FC236}">
                <a16:creationId xmlns:a16="http://schemas.microsoft.com/office/drawing/2014/main" id="{2D0B2542-CF10-4B03-B422-4CFB699EECF2}"/>
              </a:ext>
            </a:extLst>
          </p:cNvPr>
          <p:cNvSpPr>
            <a:spLocks noGrp="1"/>
          </p:cNvSpPr>
          <p:nvPr/>
        </p:nvSpPr>
        <p:spPr>
          <a:xfrm>
            <a:off x="6534150" y="1771650"/>
            <a:ext cx="2857500" cy="266700"/>
          </a:xfrm>
          <a:prstGeom prst="rect">
            <a:avLst/>
          </a:prstGeom>
          <a:noFill/>
          <a:ln w="0">
            <a:noFill/>
            <a:prstDash val="solid"/>
          </a:ln>
        </p:spPr>
        <p:txBody>
          <a:bodyPr anchor="t">
            <a:normAutofit fontScale="97696" lnSpcReduction="10000"/>
          </a:bodyPr>
          <a:lstStyle/>
          <a:p>
            <a:pPr algn="l">
              <a:buNone/>
              <a:defRPr sz="1275" b="1" i="0">
                <a:solidFill>
                  <a:srgbClr val="143A72"/>
                </a:solidFill>
                <a:latin typeface="Helvetica Neue"/>
                <a:ea typeface="Helvetica Neue"/>
                <a:cs typeface="Helvetica Neue"/>
              </a:defRPr>
            </a:pPr>
            <a:r>
              <a:rPr sz="1275" b="1" i="0">
                <a:solidFill>
                  <a:srgbClr val="143A72"/>
                </a:solidFill>
                <a:latin typeface="Helvetica Neue"/>
                <a:ea typeface="Helvetica Neue"/>
                <a:cs typeface="Helvetica Neue"/>
              </a:rPr>
              <a:t>FAIRNESS RULES</a:t>
            </a:r>
          </a:p>
        </p:txBody>
      </p:sp>
      <p:sp>
        <p:nvSpPr>
          <p:cNvPr id="25" name="Rectangle 24">
            <a:extLst>
              <a:ext uri="{FF2B5EF4-FFF2-40B4-BE49-F238E27FC236}">
                <a16:creationId xmlns:a16="http://schemas.microsoft.com/office/drawing/2014/main" id="{B18F1874-E7C1-4DEB-BDBA-4444D9A92313}"/>
              </a:ext>
            </a:extLst>
          </p:cNvPr>
          <p:cNvSpPr>
            <a:spLocks noGrp="1"/>
          </p:cNvSpPr>
          <p:nvPr/>
        </p:nvSpPr>
        <p:spPr>
          <a:xfrm>
            <a:off x="6534150" y="2324100"/>
            <a:ext cx="228600" cy="266700"/>
          </a:xfrm>
          <a:prstGeom prst="rect">
            <a:avLst/>
          </a:prstGeom>
          <a:noFill/>
          <a:ln w="0">
            <a:noFill/>
            <a:prstDash val="solid"/>
          </a:ln>
        </p:spPr>
        <p:txBody>
          <a:bodyPr anchor="t">
            <a:noAutofit/>
          </a:bodyPr>
          <a:lstStyle/>
          <a:p>
            <a:pPr algn="l">
              <a:buNone/>
              <a:defRPr sz="1500" b="1" i="0">
                <a:solidFill>
                  <a:srgbClr val="143A72"/>
                </a:solidFill>
                <a:latin typeface="Helvetica Neue"/>
                <a:ea typeface="Helvetica Neue"/>
                <a:cs typeface="Helvetica Neue"/>
              </a:defRPr>
            </a:pPr>
            <a:r>
              <a:rPr sz="1500" b="1" i="0">
                <a:solidFill>
                  <a:srgbClr val="143A72"/>
                </a:solidFill>
                <a:latin typeface="Helvetica Neue"/>
                <a:ea typeface="Helvetica Neue"/>
                <a:cs typeface="Helvetica Neue"/>
              </a:rPr>
              <a:t>•</a:t>
            </a:r>
          </a:p>
        </p:txBody>
      </p:sp>
      <p:sp>
        <p:nvSpPr>
          <p:cNvPr id="26" name="Rectangle 25">
            <a:extLst>
              <a:ext uri="{FF2B5EF4-FFF2-40B4-BE49-F238E27FC236}">
                <a16:creationId xmlns:a16="http://schemas.microsoft.com/office/drawing/2014/main" id="{5675CE56-98DE-460C-993E-4804A5D5D930}"/>
              </a:ext>
            </a:extLst>
          </p:cNvPr>
          <p:cNvSpPr>
            <a:spLocks noGrp="1"/>
          </p:cNvSpPr>
          <p:nvPr/>
        </p:nvSpPr>
        <p:spPr>
          <a:xfrm>
            <a:off x="6819900" y="2324100"/>
            <a:ext cx="4572000" cy="504825"/>
          </a:xfrm>
          <a:prstGeom prst="rect">
            <a:avLst/>
          </a:prstGeom>
          <a:noFill/>
          <a:ln w="0">
            <a:noFill/>
            <a:prstDash val="solid"/>
          </a:ln>
        </p:spPr>
        <p:txBody>
          <a:bodyPr anchor="t">
            <a:normAutofit/>
          </a:bodyPr>
          <a:lstStyle/>
          <a:p>
            <a:pPr algn="l">
              <a:buNone/>
              <a:defRPr sz="1500" b="0" i="0">
                <a:solidFill>
                  <a:srgbClr val="000000"/>
                </a:solidFill>
                <a:latin typeface="Helvetica Neue"/>
                <a:ea typeface="Helvetica Neue"/>
                <a:cs typeface="Helvetica Neue"/>
              </a:defRPr>
            </a:pPr>
            <a:r>
              <a:rPr sz="1500" b="0" i="0">
                <a:solidFill>
                  <a:srgbClr val="000000"/>
                </a:solidFill>
                <a:latin typeface="Helvetica Neue"/>
                <a:ea typeface="Helvetica Neue"/>
                <a:cs typeface="Helvetica Neue"/>
              </a:rPr>
              <a:t>Match high-fidelity calls and ensemble members</a:t>
            </a:r>
          </a:p>
        </p:txBody>
      </p:sp>
      <p:sp>
        <p:nvSpPr>
          <p:cNvPr id="27" name="Rectangle 26">
            <a:extLst>
              <a:ext uri="{FF2B5EF4-FFF2-40B4-BE49-F238E27FC236}">
                <a16:creationId xmlns:a16="http://schemas.microsoft.com/office/drawing/2014/main" id="{7D8C8677-71FA-4C7B-AAEE-6FB857418A0D}"/>
              </a:ext>
            </a:extLst>
          </p:cNvPr>
          <p:cNvSpPr>
            <a:spLocks noGrp="1"/>
          </p:cNvSpPr>
          <p:nvPr/>
        </p:nvSpPr>
        <p:spPr>
          <a:xfrm>
            <a:off x="6534150" y="2867025"/>
            <a:ext cx="228600" cy="266700"/>
          </a:xfrm>
          <a:prstGeom prst="rect">
            <a:avLst/>
          </a:prstGeom>
          <a:noFill/>
          <a:ln w="0">
            <a:noFill/>
            <a:prstDash val="solid"/>
          </a:ln>
        </p:spPr>
        <p:txBody>
          <a:bodyPr anchor="t">
            <a:noAutofit/>
          </a:bodyPr>
          <a:lstStyle/>
          <a:p>
            <a:pPr algn="l">
              <a:buNone/>
              <a:defRPr sz="1500" b="1" i="0">
                <a:solidFill>
                  <a:srgbClr val="143A72"/>
                </a:solidFill>
                <a:latin typeface="Helvetica Neue"/>
                <a:ea typeface="Helvetica Neue"/>
                <a:cs typeface="Helvetica Neue"/>
              </a:defRPr>
            </a:pPr>
            <a:r>
              <a:rPr sz="1500" b="1" i="0">
                <a:solidFill>
                  <a:srgbClr val="143A72"/>
                </a:solidFill>
                <a:latin typeface="Helvetica Neue"/>
                <a:ea typeface="Helvetica Neue"/>
                <a:cs typeface="Helvetica Neue"/>
              </a:rPr>
              <a:t>•</a:t>
            </a:r>
          </a:p>
        </p:txBody>
      </p:sp>
      <p:sp>
        <p:nvSpPr>
          <p:cNvPr id="28" name="Rectangle 27">
            <a:extLst>
              <a:ext uri="{FF2B5EF4-FFF2-40B4-BE49-F238E27FC236}">
                <a16:creationId xmlns:a16="http://schemas.microsoft.com/office/drawing/2014/main" id="{8857D6B9-14A8-42B8-9ABD-1BE99D3081C4}"/>
              </a:ext>
            </a:extLst>
          </p:cNvPr>
          <p:cNvSpPr>
            <a:spLocks noGrp="1"/>
          </p:cNvSpPr>
          <p:nvPr/>
        </p:nvSpPr>
        <p:spPr>
          <a:xfrm>
            <a:off x="6819900" y="2867025"/>
            <a:ext cx="4572000" cy="504825"/>
          </a:xfrm>
          <a:prstGeom prst="rect">
            <a:avLst/>
          </a:prstGeom>
          <a:noFill/>
          <a:ln w="0">
            <a:noFill/>
            <a:prstDash val="solid"/>
          </a:ln>
        </p:spPr>
        <p:txBody>
          <a:bodyPr anchor="t">
            <a:normAutofit/>
          </a:bodyPr>
          <a:lstStyle/>
          <a:p>
            <a:pPr algn="l">
              <a:buNone/>
              <a:defRPr sz="1500" b="0" i="0">
                <a:solidFill>
                  <a:srgbClr val="000000"/>
                </a:solidFill>
                <a:latin typeface="Helvetica Neue"/>
                <a:ea typeface="Helvetica Neue"/>
                <a:cs typeface="Helvetica Neue"/>
              </a:defRPr>
            </a:pPr>
            <a:r>
              <a:rPr sz="1500" b="0" i="0">
                <a:solidFill>
                  <a:srgbClr val="000000"/>
                </a:solidFill>
                <a:latin typeface="Helvetica Neue"/>
                <a:ea typeface="Helvetica Neue"/>
                <a:cs typeface="Helvetica Neue"/>
              </a:rPr>
              <a:t>Match retained state, history, and compute</a:t>
            </a:r>
          </a:p>
        </p:txBody>
      </p:sp>
      <p:sp>
        <p:nvSpPr>
          <p:cNvPr id="29" name="Rectangle 28">
            <a:extLst>
              <a:ext uri="{FF2B5EF4-FFF2-40B4-BE49-F238E27FC236}">
                <a16:creationId xmlns:a16="http://schemas.microsoft.com/office/drawing/2014/main" id="{2754F11F-B14E-46AF-BA2C-D808F81C308A}"/>
              </a:ext>
            </a:extLst>
          </p:cNvPr>
          <p:cNvSpPr>
            <a:spLocks noGrp="1"/>
          </p:cNvSpPr>
          <p:nvPr/>
        </p:nvSpPr>
        <p:spPr>
          <a:xfrm>
            <a:off x="6534150" y="3409950"/>
            <a:ext cx="228600" cy="266700"/>
          </a:xfrm>
          <a:prstGeom prst="rect">
            <a:avLst/>
          </a:prstGeom>
          <a:noFill/>
          <a:ln w="0">
            <a:noFill/>
            <a:prstDash val="solid"/>
          </a:ln>
        </p:spPr>
        <p:txBody>
          <a:bodyPr anchor="t">
            <a:noAutofit/>
          </a:bodyPr>
          <a:lstStyle/>
          <a:p>
            <a:pPr algn="l">
              <a:buNone/>
              <a:defRPr sz="1500" b="1" i="0">
                <a:solidFill>
                  <a:srgbClr val="143A72"/>
                </a:solidFill>
                <a:latin typeface="Helvetica Neue"/>
                <a:ea typeface="Helvetica Neue"/>
                <a:cs typeface="Helvetica Neue"/>
              </a:defRPr>
            </a:pPr>
            <a:r>
              <a:rPr sz="1500" b="1" i="0">
                <a:solidFill>
                  <a:srgbClr val="143A72"/>
                </a:solidFill>
                <a:latin typeface="Helvetica Neue"/>
                <a:ea typeface="Helvetica Neue"/>
                <a:cs typeface="Helvetica Neue"/>
              </a:rPr>
              <a:t>•</a:t>
            </a:r>
          </a:p>
        </p:txBody>
      </p:sp>
      <p:sp>
        <p:nvSpPr>
          <p:cNvPr id="30" name="Rectangle 29">
            <a:extLst>
              <a:ext uri="{FF2B5EF4-FFF2-40B4-BE49-F238E27FC236}">
                <a16:creationId xmlns:a16="http://schemas.microsoft.com/office/drawing/2014/main" id="{5797DE42-F82F-4116-A522-E582CD3A98EC}"/>
              </a:ext>
            </a:extLst>
          </p:cNvPr>
          <p:cNvSpPr>
            <a:spLocks noGrp="1"/>
          </p:cNvSpPr>
          <p:nvPr/>
        </p:nvSpPr>
        <p:spPr>
          <a:xfrm>
            <a:off x="6819900" y="3409950"/>
            <a:ext cx="4572000" cy="504825"/>
          </a:xfrm>
          <a:prstGeom prst="rect">
            <a:avLst/>
          </a:prstGeom>
          <a:noFill/>
          <a:ln w="0">
            <a:noFill/>
            <a:prstDash val="solid"/>
          </a:ln>
        </p:spPr>
        <p:txBody>
          <a:bodyPr anchor="t">
            <a:normAutofit/>
          </a:bodyPr>
          <a:lstStyle/>
          <a:p>
            <a:pPr algn="l">
              <a:buNone/>
              <a:defRPr sz="1500" b="0" i="0">
                <a:solidFill>
                  <a:srgbClr val="000000"/>
                </a:solidFill>
                <a:latin typeface="Helvetica Neue"/>
                <a:ea typeface="Helvetica Neue"/>
                <a:cs typeface="Helvetica Neue"/>
              </a:defRPr>
            </a:pPr>
            <a:r>
              <a:rPr sz="1500" b="0" i="0">
                <a:solidFill>
                  <a:srgbClr val="000000"/>
                </a:solidFill>
                <a:latin typeface="Helvetica Neue"/>
                <a:ea typeface="Helvetica Neue"/>
                <a:cs typeface="Helvetica Neue"/>
              </a:rPr>
              <a:t>Count equation and residual access</a:t>
            </a:r>
          </a:p>
        </p:txBody>
      </p:sp>
      <p:sp>
        <p:nvSpPr>
          <p:cNvPr id="31" name="Rectangle 30">
            <a:extLst>
              <a:ext uri="{FF2B5EF4-FFF2-40B4-BE49-F238E27FC236}">
                <a16:creationId xmlns:a16="http://schemas.microsoft.com/office/drawing/2014/main" id="{BA17D80F-6DFF-474D-B9F9-7B6BC5B92DCD}"/>
              </a:ext>
            </a:extLst>
          </p:cNvPr>
          <p:cNvSpPr>
            <a:spLocks noGrp="1"/>
          </p:cNvSpPr>
          <p:nvPr/>
        </p:nvSpPr>
        <p:spPr>
          <a:xfrm>
            <a:off x="6534150" y="3952875"/>
            <a:ext cx="228600" cy="266700"/>
          </a:xfrm>
          <a:prstGeom prst="rect">
            <a:avLst/>
          </a:prstGeom>
          <a:noFill/>
          <a:ln w="0">
            <a:noFill/>
            <a:prstDash val="solid"/>
          </a:ln>
        </p:spPr>
        <p:txBody>
          <a:bodyPr anchor="t">
            <a:noAutofit/>
          </a:bodyPr>
          <a:lstStyle/>
          <a:p>
            <a:pPr algn="l">
              <a:buNone/>
              <a:defRPr sz="1500" b="1" i="0">
                <a:solidFill>
                  <a:srgbClr val="143A72"/>
                </a:solidFill>
                <a:latin typeface="Helvetica Neue"/>
                <a:ea typeface="Helvetica Neue"/>
                <a:cs typeface="Helvetica Neue"/>
              </a:defRPr>
            </a:pPr>
            <a:r>
              <a:rPr sz="1500" b="1" i="0">
                <a:solidFill>
                  <a:srgbClr val="143A72"/>
                </a:solidFill>
                <a:latin typeface="Helvetica Neue"/>
                <a:ea typeface="Helvetica Neue"/>
                <a:cs typeface="Helvetica Neue"/>
              </a:rPr>
              <a:t>•</a:t>
            </a:r>
          </a:p>
        </p:txBody>
      </p:sp>
      <p:sp>
        <p:nvSpPr>
          <p:cNvPr id="32" name="Rectangle 31">
            <a:extLst>
              <a:ext uri="{FF2B5EF4-FFF2-40B4-BE49-F238E27FC236}">
                <a16:creationId xmlns:a16="http://schemas.microsoft.com/office/drawing/2014/main" id="{3D0F682D-9088-408D-B980-385DACF1D1F2}"/>
              </a:ext>
            </a:extLst>
          </p:cNvPr>
          <p:cNvSpPr>
            <a:spLocks noGrp="1"/>
          </p:cNvSpPr>
          <p:nvPr/>
        </p:nvSpPr>
        <p:spPr>
          <a:xfrm>
            <a:off x="6819900" y="3952875"/>
            <a:ext cx="4572000" cy="504825"/>
          </a:xfrm>
          <a:prstGeom prst="rect">
            <a:avLst/>
          </a:prstGeom>
          <a:noFill/>
          <a:ln w="0">
            <a:noFill/>
            <a:prstDash val="solid"/>
          </a:ln>
        </p:spPr>
        <p:txBody>
          <a:bodyPr anchor="t">
            <a:normAutofit/>
          </a:bodyPr>
          <a:lstStyle/>
          <a:p>
            <a:pPr algn="l">
              <a:buNone/>
              <a:defRPr sz="1500" b="0" i="0">
                <a:solidFill>
                  <a:srgbClr val="000000"/>
                </a:solidFill>
                <a:latin typeface="Helvetica Neue"/>
                <a:ea typeface="Helvetica Neue"/>
                <a:cs typeface="Helvetica Neue"/>
              </a:defRPr>
            </a:pPr>
            <a:r>
              <a:rPr sz="1500" b="0" i="0">
                <a:solidFill>
                  <a:srgbClr val="000000"/>
                </a:solidFill>
                <a:latin typeface="Helvetica Neue"/>
                <a:ea typeface="Helvetica Neue"/>
                <a:cs typeface="Helvetica Neue"/>
              </a:rPr>
              <a:t>Price online cumulant and memory estimation</a:t>
            </a:r>
          </a:p>
        </p:txBody>
      </p:sp>
      <p:sp>
        <p:nvSpPr>
          <p:cNvPr id="33" name="Rectangle 32">
            <a:extLst>
              <a:ext uri="{FF2B5EF4-FFF2-40B4-BE49-F238E27FC236}">
                <a16:creationId xmlns:a16="http://schemas.microsoft.com/office/drawing/2014/main" id="{65B40EF2-98B3-413F-A93F-29BCB4FC8CE6}"/>
              </a:ext>
            </a:extLst>
          </p:cNvPr>
          <p:cNvSpPr>
            <a:spLocks noGrp="1"/>
          </p:cNvSpPr>
          <p:nvPr/>
        </p:nvSpPr>
        <p:spPr>
          <a:xfrm>
            <a:off x="6534150" y="4495800"/>
            <a:ext cx="228600" cy="266700"/>
          </a:xfrm>
          <a:prstGeom prst="rect">
            <a:avLst/>
          </a:prstGeom>
          <a:noFill/>
          <a:ln w="0">
            <a:noFill/>
            <a:prstDash val="solid"/>
          </a:ln>
        </p:spPr>
        <p:txBody>
          <a:bodyPr anchor="t">
            <a:noAutofit/>
          </a:bodyPr>
          <a:lstStyle/>
          <a:p>
            <a:pPr algn="l">
              <a:buNone/>
              <a:defRPr sz="1500" b="1" i="0">
                <a:solidFill>
                  <a:srgbClr val="143A72"/>
                </a:solidFill>
                <a:latin typeface="Helvetica Neue"/>
                <a:ea typeface="Helvetica Neue"/>
                <a:cs typeface="Helvetica Neue"/>
              </a:defRPr>
            </a:pPr>
            <a:r>
              <a:rPr sz="1500" b="1" i="0">
                <a:solidFill>
                  <a:srgbClr val="143A72"/>
                </a:solidFill>
                <a:latin typeface="Helvetica Neue"/>
                <a:ea typeface="Helvetica Neue"/>
                <a:cs typeface="Helvetica Neue"/>
              </a:rPr>
              <a:t>•</a:t>
            </a:r>
          </a:p>
        </p:txBody>
      </p:sp>
      <p:sp>
        <p:nvSpPr>
          <p:cNvPr id="34" name="Rectangle 33">
            <a:extLst>
              <a:ext uri="{FF2B5EF4-FFF2-40B4-BE49-F238E27FC236}">
                <a16:creationId xmlns:a16="http://schemas.microsoft.com/office/drawing/2014/main" id="{04A18598-D4E9-4373-91E8-8ACE24D47911}"/>
              </a:ext>
            </a:extLst>
          </p:cNvPr>
          <p:cNvSpPr>
            <a:spLocks noGrp="1"/>
          </p:cNvSpPr>
          <p:nvPr/>
        </p:nvSpPr>
        <p:spPr>
          <a:xfrm>
            <a:off x="6819900" y="4495800"/>
            <a:ext cx="4572000" cy="504825"/>
          </a:xfrm>
          <a:prstGeom prst="rect">
            <a:avLst/>
          </a:prstGeom>
          <a:noFill/>
          <a:ln w="0">
            <a:noFill/>
            <a:prstDash val="solid"/>
          </a:ln>
        </p:spPr>
        <p:txBody>
          <a:bodyPr anchor="t">
            <a:normAutofit/>
          </a:bodyPr>
          <a:lstStyle/>
          <a:p>
            <a:pPr algn="l">
              <a:buNone/>
              <a:defRPr sz="1500" b="0" i="0">
                <a:solidFill>
                  <a:srgbClr val="000000"/>
                </a:solidFill>
                <a:latin typeface="Helvetica Neue"/>
                <a:ea typeface="Helvetica Neue"/>
                <a:cs typeface="Helvetica Neue"/>
              </a:defRPr>
            </a:pPr>
            <a:r>
              <a:rPr sz="1500" b="0" i="0">
                <a:solidFill>
                  <a:srgbClr val="000000"/>
                </a:solidFill>
                <a:latin typeface="Helvetica Neue"/>
                <a:ea typeface="Helvetica Neue"/>
                <a:cs typeface="Helvetica Neue"/>
              </a:rPr>
              <a:t>Keep failed and nonconverged runs</a:t>
            </a:r>
          </a:p>
        </p:txBody>
      </p:sp>
      <p:sp>
        <p:nvSpPr>
          <p:cNvPr id="35" name="Rectangle 34">
            <a:extLst>
              <a:ext uri="{FF2B5EF4-FFF2-40B4-BE49-F238E27FC236}">
                <a16:creationId xmlns:a16="http://schemas.microsoft.com/office/drawing/2014/main" id="{B95F1BEB-1508-4A3C-8C4E-B54F6F9FE0A0}"/>
              </a:ext>
            </a:extLst>
          </p:cNvPr>
          <p:cNvSpPr>
            <a:spLocks noGrp="1"/>
          </p:cNvSpPr>
          <p:nvPr/>
        </p:nvSpPr>
        <p:spPr>
          <a:xfrm>
            <a:off x="1790700" y="5762625"/>
            <a:ext cx="8610600" cy="371475"/>
          </a:xfrm>
          <a:prstGeom prst="rect">
            <a:avLst/>
          </a:prstGeom>
          <a:noFill/>
          <a:ln w="0">
            <a:noFill/>
            <a:prstDash val="solid"/>
          </a:ln>
        </p:spPr>
        <p:txBody>
          <a:bodyPr anchor="t">
            <a:normAutofit fontScale="99439"/>
          </a:bodyPr>
          <a:lstStyle/>
          <a:p>
            <a:pPr algn="ctr">
              <a:buNone/>
              <a:defRPr sz="1650" b="1" i="0">
                <a:solidFill>
                  <a:srgbClr val="143A72"/>
                </a:solidFill>
                <a:latin typeface="Helvetica Neue"/>
                <a:ea typeface="Helvetica Neue"/>
                <a:cs typeface="Helvetica Neue"/>
              </a:defRPr>
            </a:pPr>
            <a:r>
              <a:rPr sz="1650" b="1" i="0">
                <a:solidFill>
                  <a:srgbClr val="143A72"/>
                </a:solidFill>
                <a:latin typeface="Helvetica Neue"/>
                <a:ea typeface="Helvetica Neue"/>
                <a:cs typeface="Helvetica Neue"/>
              </a:rPr>
              <a:t>Cross-stage synthesis: identify the smallest sufficient information set in each regime.</a:t>
            </a:r>
          </a:p>
        </p:txBody>
      </p:sp>
    </p:spTree>
    <p:extLst>
      <p:ext uri="{BB962C8B-B14F-4D97-AF65-F5344CB8AC3E}">
        <p14:creationId xmlns:p14="http://schemas.microsoft.com/office/powerpoint/2010/main" val="4942834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a:extLst>
              <a:ext uri="{FF2B5EF4-FFF2-40B4-BE49-F238E27FC236}">
                <a16:creationId xmlns:a16="http://schemas.microsoft.com/office/drawing/2014/main" id="{0C1CAD3C-7F4B-C458-28CC-00217A11D56B}"/>
              </a:ext>
            </a:extLst>
          </p:cNvPr>
          <p:cNvSpPr/>
          <p:nvPr/>
        </p:nvSpPr>
        <p:spPr>
          <a:xfrm>
            <a:off x="375921" y="3957851"/>
            <a:ext cx="10882630" cy="5322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191F60C8-6FFE-BA3F-8945-3164A25DE6C3}"/>
              </a:ext>
            </a:extLst>
          </p:cNvPr>
          <p:cNvSpPr/>
          <p:nvPr/>
        </p:nvSpPr>
        <p:spPr>
          <a:xfrm>
            <a:off x="375920" y="1905427"/>
            <a:ext cx="10882630" cy="532262"/>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B686F788-763C-741E-B02B-303420EB5A83}"/>
              </a:ext>
            </a:extLst>
          </p:cNvPr>
          <p:cNvSpPr/>
          <p:nvPr/>
        </p:nvSpPr>
        <p:spPr>
          <a:xfrm>
            <a:off x="375920" y="5478013"/>
            <a:ext cx="10882630" cy="532262"/>
          </a:xfrm>
          <a:prstGeom prst="round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Table 17"/>
          <p:cNvGraphicFramePr/>
          <p:nvPr>
            <p:extLst>
              <p:ext uri="{D42A27DB-BD31-4B8C-83A1-F6EECF244321}">
                <p14:modId xmlns:p14="http://schemas.microsoft.com/office/powerpoint/2010/main" val="1454833196"/>
              </p:ext>
            </p:extLst>
          </p:nvPr>
        </p:nvGraphicFramePr>
        <p:xfrm>
          <a:off x="400050" y="1381125"/>
          <a:ext cx="10882630" cy="4629150"/>
        </p:xfrm>
        <a:graphic>
          <a:graphicData uri="http://schemas.openxmlformats.org/drawingml/2006/table">
            <a:tbl>
              <a:tblPr firstRow="1"/>
              <a:tblGrid>
                <a:gridCol w="1490980">
                  <a:extLst>
                    <a:ext uri="{9D8B030D-6E8A-4147-A177-3AD203B41FA5}">
                      <a16:colId xmlns:a16="http://schemas.microsoft.com/office/drawing/2014/main" val="20000"/>
                    </a:ext>
                  </a:extLst>
                </a:gridCol>
                <a:gridCol w="2428875">
                  <a:extLst>
                    <a:ext uri="{9D8B030D-6E8A-4147-A177-3AD203B41FA5}">
                      <a16:colId xmlns:a16="http://schemas.microsoft.com/office/drawing/2014/main" val="20001"/>
                    </a:ext>
                  </a:extLst>
                </a:gridCol>
                <a:gridCol w="3286125">
                  <a:extLst>
                    <a:ext uri="{9D8B030D-6E8A-4147-A177-3AD203B41FA5}">
                      <a16:colId xmlns:a16="http://schemas.microsoft.com/office/drawing/2014/main" val="20002"/>
                    </a:ext>
                  </a:extLst>
                </a:gridCol>
                <a:gridCol w="3676650">
                  <a:extLst>
                    <a:ext uri="{9D8B030D-6E8A-4147-A177-3AD203B41FA5}">
                      <a16:colId xmlns:a16="http://schemas.microsoft.com/office/drawing/2014/main" val="20003"/>
                    </a:ext>
                  </a:extLst>
                </a:gridCol>
              </a:tblGrid>
              <a:tr h="514350">
                <a:tc>
                  <a:txBody>
                    <a:bodyPr/>
                    <a:lstStyle/>
                    <a:p>
                      <a:r>
                        <a:rPr sz="1200" b="1">
                          <a:solidFill>
                            <a:srgbClr val="FFFFFF"/>
                          </a:solidFill>
                        </a:rPr>
                        <a:t>Family</a:t>
                      </a:r>
                    </a:p>
                  </a:txBody>
                  <a:tcPr>
                    <a:solidFill>
                      <a:srgbClr val="143A72"/>
                    </a:solidFill>
                  </a:tcPr>
                </a:tc>
                <a:tc>
                  <a:txBody>
                    <a:bodyPr/>
                    <a:lstStyle/>
                    <a:p>
                      <a:r>
                        <a:rPr sz="1200" b="1">
                          <a:solidFill>
                            <a:srgbClr val="FFFFFF"/>
                          </a:solidFill>
                        </a:rPr>
                        <a:t>Learned object</a:t>
                      </a:r>
                    </a:p>
                  </a:txBody>
                  <a:tcPr>
                    <a:solidFill>
                      <a:srgbClr val="143A72"/>
                    </a:solidFill>
                  </a:tcPr>
                </a:tc>
                <a:tc>
                  <a:txBody>
                    <a:bodyPr/>
                    <a:lstStyle/>
                    <a:p>
                      <a:r>
                        <a:rPr sz="1200" b="1">
                          <a:solidFill>
                            <a:srgbClr val="FFFFFF"/>
                          </a:solidFill>
                        </a:rPr>
                        <a:t>Primary information</a:t>
                      </a:r>
                    </a:p>
                  </a:txBody>
                  <a:tcPr>
                    <a:solidFill>
                      <a:srgbClr val="143A72"/>
                    </a:solidFill>
                  </a:tcPr>
                </a:tc>
                <a:tc>
                  <a:txBody>
                    <a:bodyPr/>
                    <a:lstStyle/>
                    <a:p>
                      <a:r>
                        <a:rPr lang="en-US" sz="1200" b="1" dirty="0">
                          <a:solidFill>
                            <a:srgbClr val="FFFFFF"/>
                          </a:solidFill>
                        </a:rPr>
                        <a:t>Potential</a:t>
                      </a:r>
                      <a:r>
                        <a:rPr sz="1200" b="1" dirty="0">
                          <a:solidFill>
                            <a:srgbClr val="FFFFFF"/>
                          </a:solidFill>
                        </a:rPr>
                        <a:t> role</a:t>
                      </a:r>
                    </a:p>
                  </a:txBody>
                  <a:tcPr>
                    <a:solidFill>
                      <a:srgbClr val="143A72"/>
                    </a:solidFill>
                  </a:tcPr>
                </a:tc>
                <a:extLst>
                  <a:ext uri="{0D108BD9-81ED-4DB2-BD59-A6C34878D82A}">
                    <a16:rowId xmlns:a16="http://schemas.microsoft.com/office/drawing/2014/main" val="10000"/>
                  </a:ext>
                </a:extLst>
              </a:tr>
              <a:tr h="514350">
                <a:tc>
                  <a:txBody>
                    <a:bodyPr/>
                    <a:lstStyle/>
                    <a:p>
                      <a:r>
                        <a:rPr lang="en-US" sz="1200" dirty="0">
                          <a:solidFill>
                            <a:srgbClr val="000000"/>
                          </a:solidFill>
                        </a:rPr>
                        <a:t>Structure-preserving NNs</a:t>
                      </a:r>
                      <a:endParaRPr sz="1200" dirty="0">
                        <a:solidFill>
                          <a:srgbClr val="000000"/>
                        </a:solidFill>
                      </a:endParaRPr>
                    </a:p>
                  </a:txBody>
                  <a:tcPr/>
                </a:tc>
                <a:tc>
                  <a:txBody>
                    <a:bodyPr/>
                    <a:lstStyle/>
                    <a:p>
                      <a:r>
                        <a:rPr sz="1200" dirty="0">
                          <a:solidFill>
                            <a:srgbClr val="000000"/>
                          </a:solidFill>
                        </a:rPr>
                        <a:t>One solution</a:t>
                      </a:r>
                    </a:p>
                  </a:txBody>
                  <a:tcPr/>
                </a:tc>
                <a:tc>
                  <a:txBody>
                    <a:bodyPr/>
                    <a:lstStyle/>
                    <a:p>
                      <a:r>
                        <a:rPr sz="1200">
                          <a:solidFill>
                            <a:srgbClr val="000000"/>
                          </a:solidFill>
                        </a:rPr>
                        <a:t>Equations + sparse data</a:t>
                      </a:r>
                    </a:p>
                  </a:txBody>
                  <a:tcPr/>
                </a:tc>
                <a:tc>
                  <a:txBody>
                    <a:bodyPr/>
                    <a:lstStyle/>
                    <a:p>
                      <a:r>
                        <a:rPr sz="1200" dirty="0">
                          <a:solidFill>
                            <a:srgbClr val="000000"/>
                          </a:solidFill>
                        </a:rPr>
                        <a:t>Forward / inverse instance</a:t>
                      </a:r>
                    </a:p>
                  </a:txBody>
                  <a:tcPr>
                    <a:solidFill>
                      <a:schemeClr val="accent6">
                        <a:lumMod val="40000"/>
                        <a:lumOff val="60000"/>
                      </a:schemeClr>
                    </a:solidFill>
                  </a:tcPr>
                </a:tc>
                <a:extLst>
                  <a:ext uri="{0D108BD9-81ED-4DB2-BD59-A6C34878D82A}">
                    <a16:rowId xmlns:a16="http://schemas.microsoft.com/office/drawing/2014/main" val="10001"/>
                  </a:ext>
                </a:extLst>
              </a:tr>
              <a:tr h="514350">
                <a:tc>
                  <a:txBody>
                    <a:bodyPr/>
                    <a:lstStyle/>
                    <a:p>
                      <a:r>
                        <a:rPr sz="1200">
                          <a:solidFill>
                            <a:srgbClr val="000000"/>
                          </a:solidFill>
                        </a:rPr>
                        <a:t>Neural operator</a:t>
                      </a:r>
                    </a:p>
                  </a:txBody>
                  <a:tcPr>
                    <a:solidFill>
                      <a:srgbClr val="F6F7F8"/>
                    </a:solidFill>
                  </a:tcPr>
                </a:tc>
                <a:tc>
                  <a:txBody>
                    <a:bodyPr/>
                    <a:lstStyle/>
                    <a:p>
                      <a:r>
                        <a:rPr sz="1200">
                          <a:solidFill>
                            <a:srgbClr val="000000"/>
                          </a:solidFill>
                        </a:rPr>
                        <a:t>Solution map</a:t>
                      </a:r>
                    </a:p>
                  </a:txBody>
                  <a:tcPr>
                    <a:solidFill>
                      <a:srgbClr val="F6F7F8"/>
                    </a:solidFill>
                  </a:tcPr>
                </a:tc>
                <a:tc>
                  <a:txBody>
                    <a:bodyPr/>
                    <a:lstStyle/>
                    <a:p>
                      <a:r>
                        <a:rPr sz="1200">
                          <a:solidFill>
                            <a:srgbClr val="000000"/>
                          </a:solidFill>
                        </a:rPr>
                        <a:t>Paired fields</a:t>
                      </a:r>
                    </a:p>
                  </a:txBody>
                  <a:tcPr>
                    <a:solidFill>
                      <a:srgbClr val="F6F7F8"/>
                    </a:solidFill>
                  </a:tcPr>
                </a:tc>
                <a:tc>
                  <a:txBody>
                    <a:bodyPr/>
                    <a:lstStyle/>
                    <a:p>
                      <a:r>
                        <a:rPr sz="1200">
                          <a:solidFill>
                            <a:srgbClr val="000000"/>
                          </a:solidFill>
                        </a:rPr>
                        <a:t>Amortized family of solves</a:t>
                      </a:r>
                    </a:p>
                  </a:txBody>
                  <a:tcPr>
                    <a:solidFill>
                      <a:srgbClr val="F6F7F8"/>
                    </a:solidFill>
                  </a:tcPr>
                </a:tc>
                <a:extLst>
                  <a:ext uri="{0D108BD9-81ED-4DB2-BD59-A6C34878D82A}">
                    <a16:rowId xmlns:a16="http://schemas.microsoft.com/office/drawing/2014/main" val="10002"/>
                  </a:ext>
                </a:extLst>
              </a:tr>
              <a:tr h="514350">
                <a:tc>
                  <a:txBody>
                    <a:bodyPr/>
                    <a:lstStyle/>
                    <a:p>
                      <a:r>
                        <a:rPr sz="1200">
                          <a:solidFill>
                            <a:srgbClr val="000000"/>
                          </a:solidFill>
                        </a:rPr>
                        <a:t>PINO</a:t>
                      </a:r>
                    </a:p>
                  </a:txBody>
                  <a:tcPr/>
                </a:tc>
                <a:tc>
                  <a:txBody>
                    <a:bodyPr/>
                    <a:lstStyle/>
                    <a:p>
                      <a:r>
                        <a:rPr sz="1200">
                          <a:solidFill>
                            <a:srgbClr val="000000"/>
                          </a:solidFill>
                        </a:rPr>
                        <a:t>Solution map</a:t>
                      </a:r>
                    </a:p>
                  </a:txBody>
                  <a:tcPr/>
                </a:tc>
                <a:tc>
                  <a:txBody>
                    <a:bodyPr/>
                    <a:lstStyle/>
                    <a:p>
                      <a:r>
                        <a:rPr sz="1200">
                          <a:solidFill>
                            <a:srgbClr val="000000"/>
                          </a:solidFill>
                        </a:rPr>
                        <a:t>Paired fields + residuals</a:t>
                      </a:r>
                    </a:p>
                  </a:txBody>
                  <a:tcPr/>
                </a:tc>
                <a:tc>
                  <a:txBody>
                    <a:bodyPr/>
                    <a:lstStyle/>
                    <a:p>
                      <a:r>
                        <a:rPr sz="1200">
                          <a:solidFill>
                            <a:srgbClr val="000000"/>
                          </a:solidFill>
                        </a:rPr>
                        <a:t>Data + equation-informed operator</a:t>
                      </a:r>
                    </a:p>
                  </a:txBody>
                  <a:tcPr/>
                </a:tc>
                <a:extLst>
                  <a:ext uri="{0D108BD9-81ED-4DB2-BD59-A6C34878D82A}">
                    <a16:rowId xmlns:a16="http://schemas.microsoft.com/office/drawing/2014/main" val="10003"/>
                  </a:ext>
                </a:extLst>
              </a:tr>
              <a:tr h="514350">
                <a:tc>
                  <a:txBody>
                    <a:bodyPr/>
                    <a:lstStyle/>
                    <a:p>
                      <a:r>
                        <a:rPr sz="1200">
                          <a:solidFill>
                            <a:srgbClr val="000000"/>
                          </a:solidFill>
                        </a:rPr>
                        <a:t>Interaction kernel</a:t>
                      </a:r>
                    </a:p>
                  </a:txBody>
                  <a:tcPr>
                    <a:solidFill>
                      <a:srgbClr val="F6F7F8"/>
                    </a:solidFill>
                  </a:tcPr>
                </a:tc>
                <a:tc>
                  <a:txBody>
                    <a:bodyPr/>
                    <a:lstStyle/>
                    <a:p>
                      <a:r>
                        <a:rPr sz="1200">
                          <a:solidFill>
                            <a:srgbClr val="000000"/>
                          </a:solidFill>
                        </a:rPr>
                        <a:t>Effective force</a:t>
                      </a:r>
                    </a:p>
                  </a:txBody>
                  <a:tcPr>
                    <a:solidFill>
                      <a:srgbClr val="F6F7F8"/>
                    </a:solidFill>
                  </a:tcPr>
                </a:tc>
                <a:tc>
                  <a:txBody>
                    <a:bodyPr/>
                    <a:lstStyle/>
                    <a:p>
                      <a:r>
                        <a:rPr sz="1200">
                          <a:solidFill>
                            <a:srgbClr val="000000"/>
                          </a:solidFill>
                        </a:rPr>
                        <a:t>Particle trajectories</a:t>
                      </a:r>
                    </a:p>
                  </a:txBody>
                  <a:tcPr>
                    <a:solidFill>
                      <a:srgbClr val="F6F7F8"/>
                    </a:solidFill>
                  </a:tcPr>
                </a:tc>
                <a:tc>
                  <a:txBody>
                    <a:bodyPr/>
                    <a:lstStyle/>
                    <a:p>
                      <a:r>
                        <a:rPr sz="1200">
                          <a:solidFill>
                            <a:srgbClr val="000000"/>
                          </a:solidFill>
                        </a:rPr>
                        <a:t>Interpretable particle closure</a:t>
                      </a:r>
                    </a:p>
                  </a:txBody>
                  <a:tcPr>
                    <a:solidFill>
                      <a:srgbClr val="F6F7F8"/>
                    </a:solidFill>
                  </a:tcPr>
                </a:tc>
                <a:extLst>
                  <a:ext uri="{0D108BD9-81ED-4DB2-BD59-A6C34878D82A}">
                    <a16:rowId xmlns:a16="http://schemas.microsoft.com/office/drawing/2014/main" val="10004"/>
                  </a:ext>
                </a:extLst>
              </a:tr>
              <a:tr h="514350">
                <a:tc>
                  <a:txBody>
                    <a:bodyPr/>
                    <a:lstStyle/>
                    <a:p>
                      <a:r>
                        <a:rPr sz="1200">
                          <a:solidFill>
                            <a:srgbClr val="000000"/>
                          </a:solidFill>
                        </a:rPr>
                        <a:t>Graph simulator</a:t>
                      </a:r>
                    </a:p>
                  </a:txBody>
                  <a:tcPr/>
                </a:tc>
                <a:tc>
                  <a:txBody>
                    <a:bodyPr/>
                    <a:lstStyle/>
                    <a:p>
                      <a:r>
                        <a:rPr sz="1200">
                          <a:solidFill>
                            <a:srgbClr val="000000"/>
                          </a:solidFill>
                        </a:rPr>
                        <a:t>Vector field / step map</a:t>
                      </a:r>
                    </a:p>
                  </a:txBody>
                  <a:tcPr/>
                </a:tc>
                <a:tc>
                  <a:txBody>
                    <a:bodyPr/>
                    <a:lstStyle/>
                    <a:p>
                      <a:r>
                        <a:rPr sz="1200">
                          <a:solidFill>
                            <a:srgbClr val="000000"/>
                          </a:solidFill>
                        </a:rPr>
                        <a:t>Trajectories + context</a:t>
                      </a:r>
                    </a:p>
                  </a:txBody>
                  <a:tcPr/>
                </a:tc>
                <a:tc>
                  <a:txBody>
                    <a:bodyPr/>
                    <a:lstStyle/>
                    <a:p>
                      <a:r>
                        <a:rPr sz="1200" dirty="0">
                          <a:solidFill>
                            <a:srgbClr val="000000"/>
                          </a:solidFill>
                        </a:rPr>
                        <a:t>Many-particle dynamics</a:t>
                      </a:r>
                    </a:p>
                  </a:txBody>
                  <a:tcPr/>
                </a:tc>
                <a:extLst>
                  <a:ext uri="{0D108BD9-81ED-4DB2-BD59-A6C34878D82A}">
                    <a16:rowId xmlns:a16="http://schemas.microsoft.com/office/drawing/2014/main" val="10005"/>
                  </a:ext>
                </a:extLst>
              </a:tr>
              <a:tr h="514350">
                <a:tc>
                  <a:txBody>
                    <a:bodyPr/>
                    <a:lstStyle/>
                    <a:p>
                      <a:r>
                        <a:rPr sz="1200">
                          <a:solidFill>
                            <a:srgbClr val="000000"/>
                          </a:solidFill>
                        </a:rPr>
                        <a:t>Learned closure</a:t>
                      </a:r>
                    </a:p>
                  </a:txBody>
                  <a:tcPr>
                    <a:solidFill>
                      <a:srgbClr val="F6F7F8"/>
                    </a:solidFill>
                  </a:tcPr>
                </a:tc>
                <a:tc>
                  <a:txBody>
                    <a:bodyPr/>
                    <a:lstStyle/>
                    <a:p>
                      <a:r>
                        <a:rPr sz="1200">
                          <a:solidFill>
                            <a:srgbClr val="000000"/>
                          </a:solidFill>
                        </a:rPr>
                        <a:t>Identified residual</a:t>
                      </a:r>
                    </a:p>
                  </a:txBody>
                  <a:tcPr>
                    <a:solidFill>
                      <a:srgbClr val="F6F7F8"/>
                    </a:solidFill>
                  </a:tcPr>
                </a:tc>
                <a:tc>
                  <a:txBody>
                    <a:bodyPr/>
                    <a:lstStyle/>
                    <a:p>
                      <a:r>
                        <a:rPr sz="1200">
                          <a:solidFill>
                            <a:srgbClr val="000000"/>
                          </a:solidFill>
                        </a:rPr>
                        <a:t>Closure targets / indirect loss</a:t>
                      </a:r>
                    </a:p>
                  </a:txBody>
                  <a:tcPr>
                    <a:solidFill>
                      <a:srgbClr val="F6F7F8"/>
                    </a:solidFill>
                  </a:tcPr>
                </a:tc>
                <a:tc>
                  <a:txBody>
                    <a:bodyPr/>
                    <a:lstStyle/>
                    <a:p>
                      <a:r>
                        <a:rPr sz="1200">
                          <a:solidFill>
                            <a:srgbClr val="000000"/>
                          </a:solidFill>
                        </a:rPr>
                        <a:t>Embedded reduced solver</a:t>
                      </a:r>
                    </a:p>
                  </a:txBody>
                  <a:tcPr>
                    <a:solidFill>
                      <a:srgbClr val="F6F7F8"/>
                    </a:solidFill>
                  </a:tcPr>
                </a:tc>
                <a:extLst>
                  <a:ext uri="{0D108BD9-81ED-4DB2-BD59-A6C34878D82A}">
                    <a16:rowId xmlns:a16="http://schemas.microsoft.com/office/drawing/2014/main" val="10006"/>
                  </a:ext>
                </a:extLst>
              </a:tr>
              <a:tr h="514350">
                <a:tc>
                  <a:txBody>
                    <a:bodyPr/>
                    <a:lstStyle/>
                    <a:p>
                      <a:r>
                        <a:rPr sz="1200">
                          <a:solidFill>
                            <a:srgbClr val="000000"/>
                          </a:solidFill>
                        </a:rPr>
                        <a:t>Structured dynamics</a:t>
                      </a:r>
                    </a:p>
                  </a:txBody>
                  <a:tcPr/>
                </a:tc>
                <a:tc>
                  <a:txBody>
                    <a:bodyPr/>
                    <a:lstStyle/>
                    <a:p>
                      <a:r>
                        <a:rPr sz="1200">
                          <a:solidFill>
                            <a:srgbClr val="000000"/>
                          </a:solidFill>
                        </a:rPr>
                        <a:t>Vector field / flow map</a:t>
                      </a:r>
                    </a:p>
                  </a:txBody>
                  <a:tcPr/>
                </a:tc>
                <a:tc>
                  <a:txBody>
                    <a:bodyPr/>
                    <a:lstStyle/>
                    <a:p>
                      <a:r>
                        <a:rPr sz="1200">
                          <a:solidFill>
                            <a:srgbClr val="000000"/>
                          </a:solidFill>
                        </a:rPr>
                        <a:t>Trajectories + hard structure</a:t>
                      </a:r>
                    </a:p>
                  </a:txBody>
                  <a:tcPr/>
                </a:tc>
                <a:tc>
                  <a:txBody>
                    <a:bodyPr/>
                    <a:lstStyle/>
                    <a:p>
                      <a:r>
                        <a:rPr sz="1200">
                          <a:solidFill>
                            <a:srgbClr val="000000"/>
                          </a:solidFill>
                        </a:rPr>
                        <a:t>Stable recursive rollout</a:t>
                      </a:r>
                    </a:p>
                  </a:txBody>
                  <a:tcPr/>
                </a:tc>
                <a:extLst>
                  <a:ext uri="{0D108BD9-81ED-4DB2-BD59-A6C34878D82A}">
                    <a16:rowId xmlns:a16="http://schemas.microsoft.com/office/drawing/2014/main" val="10007"/>
                  </a:ext>
                </a:extLst>
              </a:tr>
              <a:tr h="514350">
                <a:tc>
                  <a:txBody>
                    <a:bodyPr/>
                    <a:lstStyle/>
                    <a:p>
                      <a:r>
                        <a:rPr sz="1200" dirty="0">
                          <a:solidFill>
                            <a:srgbClr val="000000"/>
                          </a:solidFill>
                        </a:rPr>
                        <a:t>World model</a:t>
                      </a:r>
                    </a:p>
                  </a:txBody>
                  <a:tcPr>
                    <a:solidFill>
                      <a:schemeClr val="accent2">
                        <a:lumMod val="40000"/>
                        <a:lumOff val="60000"/>
                      </a:schemeClr>
                    </a:solidFill>
                  </a:tcPr>
                </a:tc>
                <a:tc>
                  <a:txBody>
                    <a:bodyPr/>
                    <a:lstStyle/>
                    <a:p>
                      <a:r>
                        <a:rPr sz="1200" dirty="0">
                          <a:solidFill>
                            <a:srgbClr val="000000"/>
                          </a:solidFill>
                        </a:rPr>
                        <a:t>Action-conditioned transition</a:t>
                      </a:r>
                    </a:p>
                  </a:txBody>
                  <a:tcPr>
                    <a:solidFill>
                      <a:schemeClr val="accent2">
                        <a:lumMod val="40000"/>
                        <a:lumOff val="60000"/>
                      </a:schemeClr>
                    </a:solidFill>
                  </a:tcPr>
                </a:tc>
                <a:tc>
                  <a:txBody>
                    <a:bodyPr/>
                    <a:lstStyle/>
                    <a:p>
                      <a:r>
                        <a:rPr sz="1200" dirty="0">
                          <a:solidFill>
                            <a:srgbClr val="000000"/>
                          </a:solidFill>
                        </a:rPr>
                        <a:t>Controlled trajectories</a:t>
                      </a:r>
                    </a:p>
                  </a:txBody>
                  <a:tcPr>
                    <a:solidFill>
                      <a:schemeClr val="accent2">
                        <a:lumMod val="40000"/>
                        <a:lumOff val="60000"/>
                      </a:schemeClr>
                    </a:solidFill>
                  </a:tcPr>
                </a:tc>
                <a:tc>
                  <a:txBody>
                    <a:bodyPr/>
                    <a:lstStyle/>
                    <a:p>
                      <a:r>
                        <a:rPr sz="1200" dirty="0">
                          <a:solidFill>
                            <a:srgbClr val="000000"/>
                          </a:solidFill>
                        </a:rPr>
                        <a:t>Planning / counterfactuals</a:t>
                      </a:r>
                    </a:p>
                  </a:txBody>
                  <a:tcPr>
                    <a:solidFill>
                      <a:schemeClr val="accent2">
                        <a:lumMod val="40000"/>
                        <a:lumOff val="60000"/>
                      </a:schemeClr>
                    </a:solidFill>
                  </a:tcPr>
                </a:tc>
                <a:extLst>
                  <a:ext uri="{0D108BD9-81ED-4DB2-BD59-A6C34878D82A}">
                    <a16:rowId xmlns:a16="http://schemas.microsoft.com/office/drawing/2014/main" val="10008"/>
                  </a:ext>
                </a:extLst>
              </a:tr>
            </a:tbl>
          </a:graphicData>
        </a:graphic>
      </p:graphicFrame>
      <p:sp>
        <p:nvSpPr>
          <p:cNvPr id="6" name="Rectangle 5">
            <a:extLst>
              <a:ext uri="{FF2B5EF4-FFF2-40B4-BE49-F238E27FC236}">
                <a16:creationId xmlns:a16="http://schemas.microsoft.com/office/drawing/2014/main" id="{3EFF9458-DDC9-459E-A07B-412A7FFB1022}"/>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98C0F603-240F-44AA-A86C-135F797ACEC9}"/>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dirty="0">
                <a:solidFill>
                  <a:srgbClr val="000000"/>
                </a:solidFill>
                <a:latin typeface="Helvetica Neue"/>
                <a:ea typeface="Helvetica Neue"/>
                <a:cs typeface="Helvetica Neue"/>
              </a:rPr>
              <a:t>Each AI/ML family has a </a:t>
            </a:r>
            <a:r>
              <a:rPr lang="en-US" sz="2925" b="1" i="0" dirty="0">
                <a:solidFill>
                  <a:srgbClr val="000000"/>
                </a:solidFill>
                <a:latin typeface="Helvetica Neue"/>
                <a:ea typeface="Helvetica Neue"/>
                <a:cs typeface="Helvetica Neue"/>
              </a:rPr>
              <a:t>potential</a:t>
            </a:r>
            <a:r>
              <a:rPr sz="2925" b="1" i="0" dirty="0">
                <a:solidFill>
                  <a:srgbClr val="000000"/>
                </a:solidFill>
                <a:latin typeface="Helvetica Neue"/>
                <a:ea typeface="Helvetica Neue"/>
                <a:cs typeface="Helvetica Neue"/>
              </a:rPr>
              <a:t> role</a:t>
            </a:r>
          </a:p>
        </p:txBody>
      </p:sp>
      <p:cxnSp>
        <p:nvCxnSpPr>
          <p:cNvPr id="16" name="Straight Arrow Connector 15"/>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D2F04987-DEE5-4327-9524-5FA035D7A24B}"/>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18</a:t>
            </a:r>
          </a:p>
        </p:txBody>
      </p:sp>
    </p:spTree>
    <p:extLst>
      <p:ext uri="{BB962C8B-B14F-4D97-AF65-F5344CB8AC3E}">
        <p14:creationId xmlns:p14="http://schemas.microsoft.com/office/powerpoint/2010/main" val="20697943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3400BAD4-7E6D-431D-95C0-93AD26995187}"/>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B0F19D2A-F104-488B-96C4-5DED5E7F4ECD}"/>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lang="en-US" sz="2925" b="1" i="0" dirty="0">
                <a:solidFill>
                  <a:srgbClr val="000000"/>
                </a:solidFill>
                <a:latin typeface="Helvetica Neue"/>
                <a:ea typeface="Helvetica Neue"/>
                <a:cs typeface="Helvetica Neue"/>
              </a:rPr>
              <a:t>Potential </a:t>
            </a:r>
            <a:r>
              <a:rPr sz="2925" b="1" i="0" dirty="0">
                <a:solidFill>
                  <a:srgbClr val="000000"/>
                </a:solidFill>
                <a:latin typeface="Helvetica Neue"/>
                <a:ea typeface="Helvetica Neue"/>
                <a:cs typeface="Helvetica Neue"/>
              </a:rPr>
              <a:t>transfer test</a:t>
            </a:r>
            <a:r>
              <a:rPr lang="en-US" sz="2925" b="1" i="0" dirty="0">
                <a:solidFill>
                  <a:srgbClr val="000000"/>
                </a:solidFill>
                <a:latin typeface="Helvetica Neue"/>
                <a:ea typeface="Helvetica Neue"/>
                <a:cs typeface="Helvetica Neue"/>
              </a:rPr>
              <a:t>s – help!</a:t>
            </a:r>
            <a:endParaRPr sz="2925" b="1" i="0" dirty="0">
              <a:solidFill>
                <a:srgbClr val="000000"/>
              </a:solidFill>
              <a:latin typeface="Helvetica Neue"/>
              <a:ea typeface="Helvetica Neue"/>
              <a:cs typeface="Helvetica Neue"/>
            </a:endParaRPr>
          </a:p>
        </p:txBody>
      </p:sp>
      <p:cxnSp>
        <p:nvCxnSpPr>
          <p:cNvPr id="34" name="Straight Arrow Connector 33"/>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DCE8A9BA-458C-45A0-9805-164353FC0170}"/>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17</a:t>
            </a:r>
          </a:p>
        </p:txBody>
      </p:sp>
      <p:sp>
        <p:nvSpPr>
          <p:cNvPr id="6" name="Rectangle 5">
            <a:extLst>
              <a:ext uri="{FF2B5EF4-FFF2-40B4-BE49-F238E27FC236}">
                <a16:creationId xmlns:a16="http://schemas.microsoft.com/office/drawing/2014/main" id="{D4B048FC-B0E5-4914-8CB5-7559931B5140}"/>
              </a:ext>
            </a:extLst>
          </p:cNvPr>
          <p:cNvSpPr>
            <a:spLocks noGrp="1"/>
          </p:cNvSpPr>
          <p:nvPr/>
        </p:nvSpPr>
        <p:spPr>
          <a:xfrm>
            <a:off x="400050" y="1895475"/>
            <a:ext cx="4572000" cy="666750"/>
          </a:xfrm>
          <a:prstGeom prst="rect">
            <a:avLst/>
          </a:prstGeom>
          <a:noFill/>
          <a:ln w="0">
            <a:noFill/>
            <a:prstDash val="solid"/>
          </a:ln>
        </p:spPr>
        <p:txBody>
          <a:bodyPr anchor="t">
            <a:normAutofit fontScale="95381"/>
          </a:bodyPr>
          <a:lstStyle/>
          <a:p>
            <a:pPr algn="l">
              <a:buNone/>
              <a:defRPr sz="2175" b="1" i="0">
                <a:solidFill>
                  <a:srgbClr val="000000"/>
                </a:solidFill>
                <a:latin typeface="Helvetica Neue"/>
                <a:ea typeface="Helvetica Neue"/>
                <a:cs typeface="Helvetica Neue"/>
              </a:defRPr>
            </a:pPr>
            <a:r>
              <a:rPr lang="en-US" sz="2175" b="1" i="0" dirty="0">
                <a:solidFill>
                  <a:srgbClr val="000000"/>
                </a:solidFill>
                <a:latin typeface="Helvetica Neue"/>
                <a:ea typeface="Helvetica Neue"/>
                <a:cs typeface="Helvetica Neue"/>
              </a:rPr>
              <a:t>Possible sprints to run this fall</a:t>
            </a:r>
            <a:endParaRPr sz="2175" b="1" i="0" dirty="0">
              <a:solidFill>
                <a:srgbClr val="000000"/>
              </a:solidFill>
              <a:latin typeface="Helvetica Neue"/>
              <a:ea typeface="Helvetica Neue"/>
              <a:cs typeface="Helvetica Neue"/>
            </a:endParaRPr>
          </a:p>
        </p:txBody>
      </p:sp>
      <p:sp>
        <p:nvSpPr>
          <p:cNvPr id="7" name="Rectangle 6">
            <a:extLst>
              <a:ext uri="{FF2B5EF4-FFF2-40B4-BE49-F238E27FC236}">
                <a16:creationId xmlns:a16="http://schemas.microsoft.com/office/drawing/2014/main" id="{5946EE0C-7B72-4603-8270-FED71B893F6F}"/>
              </a:ext>
            </a:extLst>
          </p:cNvPr>
          <p:cNvSpPr>
            <a:spLocks noGrp="1"/>
          </p:cNvSpPr>
          <p:nvPr/>
        </p:nvSpPr>
        <p:spPr>
          <a:xfrm>
            <a:off x="400050" y="2876550"/>
            <a:ext cx="228600" cy="266700"/>
          </a:xfrm>
          <a:prstGeom prst="rect">
            <a:avLst/>
          </a:prstGeom>
          <a:noFill/>
          <a:ln w="0">
            <a:noFill/>
            <a:prstDash val="solid"/>
          </a:ln>
        </p:spPr>
        <p:txBody>
          <a:bodyPr anchor="t">
            <a:noAutofit/>
          </a:bodyPr>
          <a:lstStyle/>
          <a:p>
            <a:pPr algn="l">
              <a:buNone/>
              <a:defRPr sz="1575" b="1" i="0">
                <a:solidFill>
                  <a:srgbClr val="143A72"/>
                </a:solidFill>
                <a:latin typeface="Helvetica Neue"/>
                <a:ea typeface="Helvetica Neue"/>
                <a:cs typeface="Helvetica Neue"/>
              </a:defRPr>
            </a:pPr>
            <a:r>
              <a:rPr sz="1575" b="1" i="0">
                <a:solidFill>
                  <a:srgbClr val="143A72"/>
                </a:solidFill>
                <a:latin typeface="Helvetica Neue"/>
                <a:ea typeface="Helvetica Neue"/>
                <a:cs typeface="Helvetica Neue"/>
              </a:rPr>
              <a:t>•</a:t>
            </a:r>
          </a:p>
        </p:txBody>
      </p:sp>
      <p:sp>
        <p:nvSpPr>
          <p:cNvPr id="8" name="Rectangle 7">
            <a:extLst>
              <a:ext uri="{FF2B5EF4-FFF2-40B4-BE49-F238E27FC236}">
                <a16:creationId xmlns:a16="http://schemas.microsoft.com/office/drawing/2014/main" id="{147AF906-B6E6-4694-8DD9-CA0ED910CF98}"/>
              </a:ext>
            </a:extLst>
          </p:cNvPr>
          <p:cNvSpPr>
            <a:spLocks noGrp="1"/>
          </p:cNvSpPr>
          <p:nvPr/>
        </p:nvSpPr>
        <p:spPr>
          <a:xfrm>
            <a:off x="685800" y="2876550"/>
            <a:ext cx="4476750" cy="581025"/>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lang="en-US" sz="1575" b="0" i="0" dirty="0">
                <a:solidFill>
                  <a:srgbClr val="000000"/>
                </a:solidFill>
                <a:latin typeface="Helvetica Neue"/>
                <a:ea typeface="Helvetica Neue"/>
                <a:cs typeface="Helvetica Neue"/>
              </a:rPr>
              <a:t>Michael: Learned non-local heat flux closures </a:t>
            </a:r>
            <a:endParaRPr sz="1575" b="0" i="0" dirty="0">
              <a:solidFill>
                <a:srgbClr val="000000"/>
              </a:solidFill>
              <a:latin typeface="Helvetica Neue"/>
              <a:ea typeface="Helvetica Neue"/>
              <a:cs typeface="Helvetica Neue"/>
            </a:endParaRPr>
          </a:p>
        </p:txBody>
      </p:sp>
      <p:sp>
        <p:nvSpPr>
          <p:cNvPr id="9" name="Rectangle 8">
            <a:extLst>
              <a:ext uri="{FF2B5EF4-FFF2-40B4-BE49-F238E27FC236}">
                <a16:creationId xmlns:a16="http://schemas.microsoft.com/office/drawing/2014/main" id="{7D57FB38-E843-4977-BB22-38FCF17A62FE}"/>
              </a:ext>
            </a:extLst>
          </p:cNvPr>
          <p:cNvSpPr>
            <a:spLocks noGrp="1"/>
          </p:cNvSpPr>
          <p:nvPr/>
        </p:nvSpPr>
        <p:spPr>
          <a:xfrm>
            <a:off x="400050" y="3495675"/>
            <a:ext cx="228600" cy="266700"/>
          </a:xfrm>
          <a:prstGeom prst="rect">
            <a:avLst/>
          </a:prstGeom>
          <a:noFill/>
          <a:ln w="0">
            <a:noFill/>
            <a:prstDash val="solid"/>
          </a:ln>
        </p:spPr>
        <p:txBody>
          <a:bodyPr anchor="t">
            <a:noAutofit/>
          </a:bodyPr>
          <a:lstStyle/>
          <a:p>
            <a:pPr algn="l">
              <a:buNone/>
              <a:defRPr sz="1575" b="1" i="0">
                <a:solidFill>
                  <a:srgbClr val="143A72"/>
                </a:solidFill>
                <a:latin typeface="Helvetica Neue"/>
                <a:ea typeface="Helvetica Neue"/>
                <a:cs typeface="Helvetica Neue"/>
              </a:defRPr>
            </a:pPr>
            <a:r>
              <a:rPr sz="1575" b="1" i="0">
                <a:solidFill>
                  <a:srgbClr val="143A72"/>
                </a:solidFill>
                <a:latin typeface="Helvetica Neue"/>
                <a:ea typeface="Helvetica Neue"/>
                <a:cs typeface="Helvetica Neue"/>
              </a:rPr>
              <a:t>•</a:t>
            </a:r>
          </a:p>
        </p:txBody>
      </p:sp>
      <p:sp>
        <p:nvSpPr>
          <p:cNvPr id="10" name="Rectangle 9">
            <a:extLst>
              <a:ext uri="{FF2B5EF4-FFF2-40B4-BE49-F238E27FC236}">
                <a16:creationId xmlns:a16="http://schemas.microsoft.com/office/drawing/2014/main" id="{361E2F26-F3E4-41D5-9F7D-97A0A301578F}"/>
              </a:ext>
            </a:extLst>
          </p:cNvPr>
          <p:cNvSpPr>
            <a:spLocks noGrp="1"/>
          </p:cNvSpPr>
          <p:nvPr/>
        </p:nvSpPr>
        <p:spPr>
          <a:xfrm>
            <a:off x="685800" y="3495675"/>
            <a:ext cx="4476750" cy="581025"/>
          </a:xfrm>
          <a:prstGeom prst="rect">
            <a:avLst/>
          </a:prstGeom>
          <a:noFill/>
          <a:ln w="0">
            <a:noFill/>
            <a:prstDash val="solid"/>
          </a:ln>
        </p:spPr>
        <p:txBody>
          <a:bodyPr anchor="t">
            <a:normAutofit/>
          </a:bodyPr>
          <a:lstStyle/>
          <a:p>
            <a:pPr algn="l">
              <a:buNone/>
              <a:defRPr sz="1575" b="0" i="0">
                <a:solidFill>
                  <a:srgbClr val="000000"/>
                </a:solidFill>
                <a:latin typeface="Helvetica Neue"/>
                <a:ea typeface="Helvetica Neue"/>
                <a:cs typeface="Helvetica Neue"/>
              </a:defRPr>
            </a:pPr>
            <a:r>
              <a:rPr lang="en-US" sz="1575" b="0" i="0" dirty="0">
                <a:solidFill>
                  <a:srgbClr val="000000"/>
                </a:solidFill>
                <a:latin typeface="Helvetica Neue"/>
                <a:ea typeface="Helvetica Neue"/>
                <a:cs typeface="Helvetica Neue"/>
              </a:rPr>
              <a:t>Andrew: 1D Plasma example </a:t>
            </a:r>
            <a:endParaRPr sz="1575" b="0" i="0" dirty="0">
              <a:solidFill>
                <a:srgbClr val="000000"/>
              </a:solidFill>
              <a:latin typeface="Helvetica Neue"/>
              <a:ea typeface="Helvetica Neue"/>
              <a:cs typeface="Helvetica Neue"/>
            </a:endParaRPr>
          </a:p>
        </p:txBody>
      </p:sp>
    </p:spTree>
    <p:extLst>
      <p:ext uri="{BB962C8B-B14F-4D97-AF65-F5344CB8AC3E}">
        <p14:creationId xmlns:p14="http://schemas.microsoft.com/office/powerpoint/2010/main" val="10023715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D32CEDA-D12F-4181-96E4-6BF82418D43B}"/>
              </a:ext>
            </a:extLst>
          </p:cNvPr>
          <p:cNvSpPr>
            <a:spLocks noGrp="1"/>
          </p:cNvSpPr>
          <p:nvPr/>
        </p:nvSpPr>
        <p:spPr>
          <a:xfrm>
            <a:off x="400050" y="238125"/>
            <a:ext cx="5715000" cy="228600"/>
          </a:xfrm>
          <a:prstGeom prst="rect">
            <a:avLst/>
          </a:prstGeom>
          <a:noFill/>
          <a:ln w="0">
            <a:noFill/>
            <a:prstDash val="solid"/>
          </a:ln>
        </p:spPr>
        <p:txBody>
          <a:bodyPr anchor="t">
            <a:noAutofit/>
          </a:bodyPr>
          <a:lstStyle/>
          <a:p>
            <a:pPr algn="l">
              <a:buNone/>
              <a:defRPr sz="1050" b="1" i="0">
                <a:solidFill>
                  <a:srgbClr val="5B6472"/>
                </a:solidFill>
                <a:latin typeface="Helvetica Neue"/>
                <a:ea typeface="Helvetica Neue"/>
                <a:cs typeface="Helvetica Neue"/>
              </a:defRPr>
            </a:pPr>
            <a:r>
              <a:rPr sz="1050" b="1" i="0">
                <a:solidFill>
                  <a:srgbClr val="5B6472"/>
                </a:solidFill>
                <a:latin typeface="Helvetica Neue"/>
                <a:ea typeface="Helvetica Neue"/>
                <a:cs typeface="Helvetica Neue"/>
              </a:rPr>
              <a:t>TEMPEST MATHEMATICAL CLOSURE + AI/ML</a:t>
            </a:r>
          </a:p>
        </p:txBody>
      </p:sp>
      <p:sp>
        <p:nvSpPr>
          <p:cNvPr id="2" name="Rectangle 1">
            <a:extLst>
              <a:ext uri="{FF2B5EF4-FFF2-40B4-BE49-F238E27FC236}">
                <a16:creationId xmlns:a16="http://schemas.microsoft.com/office/drawing/2014/main" id="{9504C1BF-F03D-42EF-A878-3678AD126E26}"/>
              </a:ext>
            </a:extLst>
          </p:cNvPr>
          <p:cNvSpPr>
            <a:spLocks noGrp="1"/>
          </p:cNvSpPr>
          <p:nvPr/>
        </p:nvSpPr>
        <p:spPr>
          <a:xfrm>
            <a:off x="400050" y="495300"/>
            <a:ext cx="11391900" cy="590550"/>
          </a:xfrm>
          <a:prstGeom prst="rect">
            <a:avLst/>
          </a:prstGeom>
          <a:noFill/>
          <a:ln w="0">
            <a:noFill/>
            <a:prstDash val="solid"/>
          </a:ln>
        </p:spPr>
        <p:txBody>
          <a:bodyPr anchor="t">
            <a:normAutofit/>
          </a:bodyPr>
          <a:lstStyle/>
          <a:p>
            <a:pPr algn="l">
              <a:buNone/>
              <a:defRPr sz="2925" b="1" i="0">
                <a:solidFill>
                  <a:srgbClr val="000000"/>
                </a:solidFill>
                <a:latin typeface="Helvetica Neue"/>
                <a:ea typeface="Helvetica Neue"/>
                <a:cs typeface="Helvetica Neue"/>
              </a:defRPr>
            </a:pPr>
            <a:r>
              <a:rPr sz="2925" b="1" i="0">
                <a:solidFill>
                  <a:srgbClr val="000000"/>
                </a:solidFill>
                <a:latin typeface="Helvetica Neue"/>
                <a:ea typeface="Helvetica Neue"/>
                <a:cs typeface="Helvetica Neue"/>
              </a:rPr>
              <a:t>SWOT: explicit strengths and failure modes</a:t>
            </a:r>
          </a:p>
        </p:txBody>
      </p:sp>
      <p:cxnSp>
        <p:nvCxnSpPr>
          <p:cNvPr id="53" name="Straight Arrow Connector 52"/>
          <p:cNvCxnSpPr/>
          <p:nvPr/>
        </p:nvCxnSpPr>
        <p:spPr>
          <a:xfrm>
            <a:off x="400050" y="1152525"/>
            <a:ext cx="11391900" cy="953"/>
          </a:xfrm>
          <a:prstGeom prst="straightConnector1">
            <a:avLst/>
          </a:prstGeom>
          <a:ln w="9525">
            <a:solidFill>
              <a:srgbClr val="B8BCC4"/>
            </a:solidFill>
            <a:prstDash val="solid"/>
          </a:ln>
        </p:spPr>
      </p:cxnSp>
      <p:sp>
        <p:nvSpPr>
          <p:cNvPr id="4" name="Rectangle 3">
            <a:extLst>
              <a:ext uri="{FF2B5EF4-FFF2-40B4-BE49-F238E27FC236}">
                <a16:creationId xmlns:a16="http://schemas.microsoft.com/office/drawing/2014/main" id="{A9625694-8253-43C2-B16A-665622BC39C2}"/>
              </a:ext>
            </a:extLst>
          </p:cNvPr>
          <p:cNvSpPr>
            <a:spLocks noGrp="1"/>
          </p:cNvSpPr>
          <p:nvPr/>
        </p:nvSpPr>
        <p:spPr>
          <a:xfrm>
            <a:off x="11258550" y="6429375"/>
            <a:ext cx="533400" cy="190500"/>
          </a:xfrm>
          <a:prstGeom prst="rect">
            <a:avLst/>
          </a:prstGeom>
          <a:noFill/>
          <a:ln w="0">
            <a:noFill/>
            <a:prstDash val="solid"/>
          </a:ln>
        </p:spPr>
        <p:txBody>
          <a:bodyPr anchor="t">
            <a:noAutofit/>
          </a:bodyPr>
          <a:lstStyle/>
          <a:p>
            <a:pPr algn="r">
              <a:buNone/>
              <a:defRPr sz="975" b="0" i="0">
                <a:solidFill>
                  <a:srgbClr val="5B6472"/>
                </a:solidFill>
                <a:latin typeface="Helvetica Neue"/>
                <a:ea typeface="Helvetica Neue"/>
                <a:cs typeface="Helvetica Neue"/>
              </a:defRPr>
            </a:pPr>
            <a:r>
              <a:rPr sz="975" b="0" i="0">
                <a:solidFill>
                  <a:srgbClr val="5B6472"/>
                </a:solidFill>
                <a:latin typeface="Helvetica Neue"/>
                <a:ea typeface="Helvetica Neue"/>
                <a:cs typeface="Helvetica Neue"/>
              </a:rPr>
              <a:t>22</a:t>
            </a:r>
          </a:p>
        </p:txBody>
      </p:sp>
      <p:sp>
        <p:nvSpPr>
          <p:cNvPr id="5" name="Rectangle 4">
            <a:extLst>
              <a:ext uri="{FF2B5EF4-FFF2-40B4-BE49-F238E27FC236}">
                <a16:creationId xmlns:a16="http://schemas.microsoft.com/office/drawing/2014/main" id="{A7C7CB54-F1DC-4B7F-BD14-C58576F0A3DF}"/>
              </a:ext>
            </a:extLst>
          </p:cNvPr>
          <p:cNvSpPr>
            <a:spLocks noGrp="1"/>
          </p:cNvSpPr>
          <p:nvPr/>
        </p:nvSpPr>
        <p:spPr>
          <a:xfrm>
            <a:off x="400050" y="1438275"/>
            <a:ext cx="5381625" cy="2171700"/>
          </a:xfrm>
          <a:prstGeom prst="rect">
            <a:avLst/>
          </a:prstGeom>
          <a:solidFill>
            <a:srgbClr val="D0EDFA"/>
          </a:solidFill>
          <a:ln w="14288">
            <a:solidFill>
              <a:srgbClr val="143A72"/>
            </a:solidFill>
            <a:prstDash val="solid"/>
          </a:ln>
        </p:spPr>
        <p:txBody>
          <a:bodyPr/>
          <a:lstStyle/>
          <a:p>
            <a:endParaRPr lang="en-US"/>
          </a:p>
        </p:txBody>
      </p:sp>
      <p:sp>
        <p:nvSpPr>
          <p:cNvPr id="6" name="Rectangle 5">
            <a:extLst>
              <a:ext uri="{FF2B5EF4-FFF2-40B4-BE49-F238E27FC236}">
                <a16:creationId xmlns:a16="http://schemas.microsoft.com/office/drawing/2014/main" id="{534DD731-5F4A-4E70-9282-C440F05DC7CC}"/>
              </a:ext>
            </a:extLst>
          </p:cNvPr>
          <p:cNvSpPr>
            <a:spLocks noGrp="1"/>
          </p:cNvSpPr>
          <p:nvPr/>
        </p:nvSpPr>
        <p:spPr>
          <a:xfrm>
            <a:off x="628650" y="1619250"/>
            <a:ext cx="4924425" cy="266700"/>
          </a:xfrm>
          <a:prstGeom prst="rect">
            <a:avLst/>
          </a:prstGeom>
          <a:noFill/>
          <a:ln w="0">
            <a:noFill/>
            <a:prstDash val="solid"/>
          </a:ln>
        </p:spPr>
        <p:txBody>
          <a:bodyPr anchor="t">
            <a:normAutofit fontScale="85185"/>
          </a:bodyPr>
          <a:lstStyle/>
          <a:p>
            <a:pPr algn="l">
              <a:buNone/>
              <a:defRPr sz="1350" b="1" i="0">
                <a:solidFill>
                  <a:srgbClr val="143A72"/>
                </a:solidFill>
                <a:latin typeface="Helvetica Neue"/>
                <a:ea typeface="Helvetica Neue"/>
                <a:cs typeface="Helvetica Neue"/>
              </a:defRPr>
            </a:pPr>
            <a:r>
              <a:rPr sz="1350" b="1" i="0">
                <a:solidFill>
                  <a:srgbClr val="143A72"/>
                </a:solidFill>
                <a:latin typeface="Helvetica Neue"/>
                <a:ea typeface="Helvetica Neue"/>
                <a:cs typeface="Helvetica Neue"/>
              </a:rPr>
              <a:t>STRENGTHS</a:t>
            </a:r>
          </a:p>
        </p:txBody>
      </p:sp>
      <p:sp>
        <p:nvSpPr>
          <p:cNvPr id="7" name="Rectangle 6">
            <a:extLst>
              <a:ext uri="{FF2B5EF4-FFF2-40B4-BE49-F238E27FC236}">
                <a16:creationId xmlns:a16="http://schemas.microsoft.com/office/drawing/2014/main" id="{CD0B5E21-F38B-4AF9-A90E-E449CCF7D4B3}"/>
              </a:ext>
            </a:extLst>
          </p:cNvPr>
          <p:cNvSpPr>
            <a:spLocks noGrp="1"/>
          </p:cNvSpPr>
          <p:nvPr/>
        </p:nvSpPr>
        <p:spPr>
          <a:xfrm>
            <a:off x="628650" y="2028825"/>
            <a:ext cx="228600" cy="266700"/>
          </a:xfrm>
          <a:prstGeom prst="rect">
            <a:avLst/>
          </a:prstGeom>
          <a:noFill/>
          <a:ln w="0">
            <a:noFill/>
            <a:prstDash val="solid"/>
          </a:ln>
        </p:spPr>
        <p:txBody>
          <a:bodyPr anchor="t">
            <a:noAutofit/>
          </a:bodyPr>
          <a:lstStyle/>
          <a:p>
            <a:pPr algn="l">
              <a:buNone/>
              <a:defRPr sz="1425" b="1" i="0">
                <a:solidFill>
                  <a:srgbClr val="143A72"/>
                </a:solidFill>
                <a:latin typeface="Helvetica Neue"/>
                <a:ea typeface="Helvetica Neue"/>
                <a:cs typeface="Helvetica Neue"/>
              </a:defRPr>
            </a:pPr>
            <a:r>
              <a:rPr sz="1425" b="1" i="0">
                <a:solidFill>
                  <a:srgbClr val="143A72"/>
                </a:solidFill>
                <a:latin typeface="Helvetica Neue"/>
                <a:ea typeface="Helvetica Neue"/>
                <a:cs typeface="Helvetica Neue"/>
              </a:rPr>
              <a:t>•</a:t>
            </a:r>
          </a:p>
        </p:txBody>
      </p:sp>
      <p:sp>
        <p:nvSpPr>
          <p:cNvPr id="8" name="Rectangle 7">
            <a:extLst>
              <a:ext uri="{FF2B5EF4-FFF2-40B4-BE49-F238E27FC236}">
                <a16:creationId xmlns:a16="http://schemas.microsoft.com/office/drawing/2014/main" id="{D210A988-4EFE-476E-86E8-76BB123329B2}"/>
              </a:ext>
            </a:extLst>
          </p:cNvPr>
          <p:cNvSpPr>
            <a:spLocks noGrp="1"/>
          </p:cNvSpPr>
          <p:nvPr/>
        </p:nvSpPr>
        <p:spPr>
          <a:xfrm>
            <a:off x="914400" y="2028825"/>
            <a:ext cx="463867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One question across scales</a:t>
            </a:r>
          </a:p>
        </p:txBody>
      </p:sp>
      <p:sp>
        <p:nvSpPr>
          <p:cNvPr id="9" name="Rectangle 8">
            <a:extLst>
              <a:ext uri="{FF2B5EF4-FFF2-40B4-BE49-F238E27FC236}">
                <a16:creationId xmlns:a16="http://schemas.microsoft.com/office/drawing/2014/main" id="{B8CA1809-C29D-4648-B895-1C08FA3A35B2}"/>
              </a:ext>
            </a:extLst>
          </p:cNvPr>
          <p:cNvSpPr>
            <a:spLocks noGrp="1"/>
          </p:cNvSpPr>
          <p:nvPr/>
        </p:nvSpPr>
        <p:spPr>
          <a:xfrm>
            <a:off x="628650" y="2400300"/>
            <a:ext cx="228600" cy="266700"/>
          </a:xfrm>
          <a:prstGeom prst="rect">
            <a:avLst/>
          </a:prstGeom>
          <a:noFill/>
          <a:ln w="0">
            <a:noFill/>
            <a:prstDash val="solid"/>
          </a:ln>
        </p:spPr>
        <p:txBody>
          <a:bodyPr anchor="t">
            <a:noAutofit/>
          </a:bodyPr>
          <a:lstStyle/>
          <a:p>
            <a:pPr algn="l">
              <a:buNone/>
              <a:defRPr sz="1425" b="1" i="0">
                <a:solidFill>
                  <a:srgbClr val="143A72"/>
                </a:solidFill>
                <a:latin typeface="Helvetica Neue"/>
                <a:ea typeface="Helvetica Neue"/>
                <a:cs typeface="Helvetica Neue"/>
              </a:defRPr>
            </a:pPr>
            <a:r>
              <a:rPr sz="1425" b="1" i="0">
                <a:solidFill>
                  <a:srgbClr val="143A72"/>
                </a:solidFill>
                <a:latin typeface="Helvetica Neue"/>
                <a:ea typeface="Helvetica Neue"/>
                <a:cs typeface="Helvetica Neue"/>
              </a:rPr>
              <a:t>•</a:t>
            </a:r>
          </a:p>
        </p:txBody>
      </p:sp>
      <p:sp>
        <p:nvSpPr>
          <p:cNvPr id="10" name="Rectangle 9">
            <a:extLst>
              <a:ext uri="{FF2B5EF4-FFF2-40B4-BE49-F238E27FC236}">
                <a16:creationId xmlns:a16="http://schemas.microsoft.com/office/drawing/2014/main" id="{A1FFF60F-6D9C-4D74-ACA0-C5FD3B44D57D}"/>
              </a:ext>
            </a:extLst>
          </p:cNvPr>
          <p:cNvSpPr>
            <a:spLocks noGrp="1"/>
          </p:cNvSpPr>
          <p:nvPr/>
        </p:nvSpPr>
        <p:spPr>
          <a:xfrm>
            <a:off x="914400" y="2400300"/>
            <a:ext cx="463867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Theorem-faithful anchors</a:t>
            </a:r>
          </a:p>
        </p:txBody>
      </p:sp>
      <p:sp>
        <p:nvSpPr>
          <p:cNvPr id="11" name="Rectangle 10">
            <a:extLst>
              <a:ext uri="{FF2B5EF4-FFF2-40B4-BE49-F238E27FC236}">
                <a16:creationId xmlns:a16="http://schemas.microsoft.com/office/drawing/2014/main" id="{94355720-8371-42EE-89E4-9CDD20507529}"/>
              </a:ext>
            </a:extLst>
          </p:cNvPr>
          <p:cNvSpPr>
            <a:spLocks noGrp="1"/>
          </p:cNvSpPr>
          <p:nvPr/>
        </p:nvSpPr>
        <p:spPr>
          <a:xfrm>
            <a:off x="628650" y="2771775"/>
            <a:ext cx="228600" cy="266700"/>
          </a:xfrm>
          <a:prstGeom prst="rect">
            <a:avLst/>
          </a:prstGeom>
          <a:noFill/>
          <a:ln w="0">
            <a:noFill/>
            <a:prstDash val="solid"/>
          </a:ln>
        </p:spPr>
        <p:txBody>
          <a:bodyPr anchor="t">
            <a:noAutofit/>
          </a:bodyPr>
          <a:lstStyle/>
          <a:p>
            <a:pPr algn="l">
              <a:buNone/>
              <a:defRPr sz="1425" b="1" i="0">
                <a:solidFill>
                  <a:srgbClr val="143A72"/>
                </a:solidFill>
                <a:latin typeface="Helvetica Neue"/>
                <a:ea typeface="Helvetica Neue"/>
                <a:cs typeface="Helvetica Neue"/>
              </a:defRPr>
            </a:pPr>
            <a:r>
              <a:rPr sz="1425" b="1" i="0">
                <a:solidFill>
                  <a:srgbClr val="143A72"/>
                </a:solidFill>
                <a:latin typeface="Helvetica Neue"/>
                <a:ea typeface="Helvetica Neue"/>
                <a:cs typeface="Helvetica Neue"/>
              </a:rPr>
              <a:t>•</a:t>
            </a:r>
          </a:p>
        </p:txBody>
      </p:sp>
      <p:sp>
        <p:nvSpPr>
          <p:cNvPr id="12" name="Rectangle 11">
            <a:extLst>
              <a:ext uri="{FF2B5EF4-FFF2-40B4-BE49-F238E27FC236}">
                <a16:creationId xmlns:a16="http://schemas.microsoft.com/office/drawing/2014/main" id="{4E4BD9A5-EE0F-42BD-A26F-9F74E898F3F9}"/>
              </a:ext>
            </a:extLst>
          </p:cNvPr>
          <p:cNvSpPr>
            <a:spLocks noGrp="1"/>
          </p:cNvSpPr>
          <p:nvPr/>
        </p:nvSpPr>
        <p:spPr>
          <a:xfrm>
            <a:off x="914400" y="2771775"/>
            <a:ext cx="463867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Fair, reusable evaluation harness</a:t>
            </a:r>
          </a:p>
        </p:txBody>
      </p:sp>
      <p:sp>
        <p:nvSpPr>
          <p:cNvPr id="13" name="Rectangle 12">
            <a:extLst>
              <a:ext uri="{FF2B5EF4-FFF2-40B4-BE49-F238E27FC236}">
                <a16:creationId xmlns:a16="http://schemas.microsoft.com/office/drawing/2014/main" id="{C6D396FE-0369-4DBE-B4A8-AF2FF70F8CF8}"/>
              </a:ext>
            </a:extLst>
          </p:cNvPr>
          <p:cNvSpPr>
            <a:spLocks noGrp="1"/>
          </p:cNvSpPr>
          <p:nvPr/>
        </p:nvSpPr>
        <p:spPr>
          <a:xfrm>
            <a:off x="628650" y="3143250"/>
            <a:ext cx="228600" cy="266700"/>
          </a:xfrm>
          <a:prstGeom prst="rect">
            <a:avLst/>
          </a:prstGeom>
          <a:noFill/>
          <a:ln w="0">
            <a:noFill/>
            <a:prstDash val="solid"/>
          </a:ln>
        </p:spPr>
        <p:txBody>
          <a:bodyPr anchor="t">
            <a:noAutofit/>
          </a:bodyPr>
          <a:lstStyle/>
          <a:p>
            <a:pPr algn="l">
              <a:buNone/>
              <a:defRPr sz="1425" b="1" i="0">
                <a:solidFill>
                  <a:srgbClr val="143A72"/>
                </a:solidFill>
                <a:latin typeface="Helvetica Neue"/>
                <a:ea typeface="Helvetica Neue"/>
                <a:cs typeface="Helvetica Neue"/>
              </a:defRPr>
            </a:pPr>
            <a:r>
              <a:rPr sz="1425" b="1" i="0">
                <a:solidFill>
                  <a:srgbClr val="143A72"/>
                </a:solidFill>
                <a:latin typeface="Helvetica Neue"/>
                <a:ea typeface="Helvetica Neue"/>
                <a:cs typeface="Helvetica Neue"/>
              </a:rPr>
              <a:t>•</a:t>
            </a:r>
          </a:p>
        </p:txBody>
      </p:sp>
      <p:sp>
        <p:nvSpPr>
          <p:cNvPr id="14" name="Rectangle 13">
            <a:extLst>
              <a:ext uri="{FF2B5EF4-FFF2-40B4-BE49-F238E27FC236}">
                <a16:creationId xmlns:a16="http://schemas.microsoft.com/office/drawing/2014/main" id="{9E303DCE-1593-4063-97BD-5A119CF3E6B5}"/>
              </a:ext>
            </a:extLst>
          </p:cNvPr>
          <p:cNvSpPr>
            <a:spLocks noGrp="1"/>
          </p:cNvSpPr>
          <p:nvPr/>
        </p:nvSpPr>
        <p:spPr>
          <a:xfrm>
            <a:off x="914400" y="3143250"/>
            <a:ext cx="463867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Negative results remain informative</a:t>
            </a:r>
          </a:p>
        </p:txBody>
      </p:sp>
      <p:sp>
        <p:nvSpPr>
          <p:cNvPr id="15" name="Rectangle 14">
            <a:extLst>
              <a:ext uri="{FF2B5EF4-FFF2-40B4-BE49-F238E27FC236}">
                <a16:creationId xmlns:a16="http://schemas.microsoft.com/office/drawing/2014/main" id="{967D25A3-E4CE-43D1-8FB3-80895925EB3D}"/>
              </a:ext>
            </a:extLst>
          </p:cNvPr>
          <p:cNvSpPr>
            <a:spLocks noGrp="1"/>
          </p:cNvSpPr>
          <p:nvPr/>
        </p:nvSpPr>
        <p:spPr>
          <a:xfrm>
            <a:off x="6010275" y="1438275"/>
            <a:ext cx="5781675" cy="2171700"/>
          </a:xfrm>
          <a:prstGeom prst="rect">
            <a:avLst/>
          </a:prstGeom>
          <a:solidFill>
            <a:srgbClr val="FCE6DE"/>
          </a:solidFill>
          <a:ln w="14288">
            <a:solidFill>
              <a:srgbClr val="B83A3A"/>
            </a:solidFill>
            <a:prstDash val="solid"/>
          </a:ln>
        </p:spPr>
        <p:txBody>
          <a:bodyPr/>
          <a:lstStyle/>
          <a:p>
            <a:endParaRPr lang="en-US"/>
          </a:p>
        </p:txBody>
      </p:sp>
      <p:sp>
        <p:nvSpPr>
          <p:cNvPr id="16" name="Rectangle 15">
            <a:extLst>
              <a:ext uri="{FF2B5EF4-FFF2-40B4-BE49-F238E27FC236}">
                <a16:creationId xmlns:a16="http://schemas.microsoft.com/office/drawing/2014/main" id="{3DEA2E54-11FE-401F-BF27-8F5940BD23C2}"/>
              </a:ext>
            </a:extLst>
          </p:cNvPr>
          <p:cNvSpPr>
            <a:spLocks noGrp="1"/>
          </p:cNvSpPr>
          <p:nvPr/>
        </p:nvSpPr>
        <p:spPr>
          <a:xfrm>
            <a:off x="6238875" y="1619250"/>
            <a:ext cx="5324475" cy="266700"/>
          </a:xfrm>
          <a:prstGeom prst="rect">
            <a:avLst/>
          </a:prstGeom>
          <a:noFill/>
          <a:ln w="0">
            <a:noFill/>
            <a:prstDash val="solid"/>
          </a:ln>
        </p:spPr>
        <p:txBody>
          <a:bodyPr anchor="t">
            <a:normAutofit fontScale="85185"/>
          </a:bodyPr>
          <a:lstStyle/>
          <a:p>
            <a:pPr algn="l">
              <a:buNone/>
              <a:defRPr sz="1350" b="1" i="0">
                <a:solidFill>
                  <a:srgbClr val="B83A3A"/>
                </a:solidFill>
                <a:latin typeface="Helvetica Neue"/>
                <a:ea typeface="Helvetica Neue"/>
                <a:cs typeface="Helvetica Neue"/>
              </a:defRPr>
            </a:pPr>
            <a:r>
              <a:rPr sz="1350" b="1" i="0">
                <a:solidFill>
                  <a:srgbClr val="B83A3A"/>
                </a:solidFill>
                <a:latin typeface="Helvetica Neue"/>
                <a:ea typeface="Helvetica Neue"/>
                <a:cs typeface="Helvetica Neue"/>
              </a:rPr>
              <a:t>WEAKNESSES</a:t>
            </a:r>
          </a:p>
        </p:txBody>
      </p:sp>
      <p:sp>
        <p:nvSpPr>
          <p:cNvPr id="17" name="Rectangle 16">
            <a:extLst>
              <a:ext uri="{FF2B5EF4-FFF2-40B4-BE49-F238E27FC236}">
                <a16:creationId xmlns:a16="http://schemas.microsoft.com/office/drawing/2014/main" id="{1658A8C9-A79C-45C7-A3B8-E66FABEFA649}"/>
              </a:ext>
            </a:extLst>
          </p:cNvPr>
          <p:cNvSpPr>
            <a:spLocks noGrp="1"/>
          </p:cNvSpPr>
          <p:nvPr/>
        </p:nvSpPr>
        <p:spPr>
          <a:xfrm>
            <a:off x="6238875" y="2028825"/>
            <a:ext cx="228600" cy="266700"/>
          </a:xfrm>
          <a:prstGeom prst="rect">
            <a:avLst/>
          </a:prstGeom>
          <a:noFill/>
          <a:ln w="0">
            <a:noFill/>
            <a:prstDash val="solid"/>
          </a:ln>
        </p:spPr>
        <p:txBody>
          <a:bodyPr anchor="t">
            <a:noAutofit/>
          </a:bodyPr>
          <a:lstStyle/>
          <a:p>
            <a:pPr algn="l">
              <a:buNone/>
              <a:defRPr sz="1425" b="1" i="0">
                <a:solidFill>
                  <a:srgbClr val="B83A3A"/>
                </a:solidFill>
                <a:latin typeface="Helvetica Neue"/>
                <a:ea typeface="Helvetica Neue"/>
                <a:cs typeface="Helvetica Neue"/>
              </a:defRPr>
            </a:pPr>
            <a:r>
              <a:rPr sz="1425" b="1" i="0">
                <a:solidFill>
                  <a:srgbClr val="B83A3A"/>
                </a:solidFill>
                <a:latin typeface="Helvetica Neue"/>
                <a:ea typeface="Helvetica Neue"/>
                <a:cs typeface="Helvetica Neue"/>
              </a:rPr>
              <a:t>•</a:t>
            </a:r>
          </a:p>
        </p:txBody>
      </p:sp>
      <p:sp>
        <p:nvSpPr>
          <p:cNvPr id="18" name="Rectangle 17">
            <a:extLst>
              <a:ext uri="{FF2B5EF4-FFF2-40B4-BE49-F238E27FC236}">
                <a16:creationId xmlns:a16="http://schemas.microsoft.com/office/drawing/2014/main" id="{73C19F98-F800-4826-AB05-C3B076772DB6}"/>
              </a:ext>
            </a:extLst>
          </p:cNvPr>
          <p:cNvSpPr>
            <a:spLocks noGrp="1"/>
          </p:cNvSpPr>
          <p:nvPr/>
        </p:nvSpPr>
        <p:spPr>
          <a:xfrm>
            <a:off x="6524625" y="2028825"/>
            <a:ext cx="503872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Many solvers and ensemble costs</a:t>
            </a:r>
          </a:p>
        </p:txBody>
      </p:sp>
      <p:sp>
        <p:nvSpPr>
          <p:cNvPr id="19" name="Rectangle 18">
            <a:extLst>
              <a:ext uri="{FF2B5EF4-FFF2-40B4-BE49-F238E27FC236}">
                <a16:creationId xmlns:a16="http://schemas.microsoft.com/office/drawing/2014/main" id="{F1099F69-A3C1-4EDE-AE49-D8D814A72DF0}"/>
              </a:ext>
            </a:extLst>
          </p:cNvPr>
          <p:cNvSpPr>
            <a:spLocks noGrp="1"/>
          </p:cNvSpPr>
          <p:nvPr/>
        </p:nvSpPr>
        <p:spPr>
          <a:xfrm>
            <a:off x="6238875" y="2400300"/>
            <a:ext cx="228600" cy="266700"/>
          </a:xfrm>
          <a:prstGeom prst="rect">
            <a:avLst/>
          </a:prstGeom>
          <a:noFill/>
          <a:ln w="0">
            <a:noFill/>
            <a:prstDash val="solid"/>
          </a:ln>
        </p:spPr>
        <p:txBody>
          <a:bodyPr anchor="t">
            <a:noAutofit/>
          </a:bodyPr>
          <a:lstStyle/>
          <a:p>
            <a:pPr algn="l">
              <a:buNone/>
              <a:defRPr sz="1425" b="1" i="0">
                <a:solidFill>
                  <a:srgbClr val="B83A3A"/>
                </a:solidFill>
                <a:latin typeface="Helvetica Neue"/>
                <a:ea typeface="Helvetica Neue"/>
                <a:cs typeface="Helvetica Neue"/>
              </a:defRPr>
            </a:pPr>
            <a:r>
              <a:rPr sz="1425" b="1" i="0">
                <a:solidFill>
                  <a:srgbClr val="B83A3A"/>
                </a:solidFill>
                <a:latin typeface="Helvetica Neue"/>
                <a:ea typeface="Helvetica Neue"/>
                <a:cs typeface="Helvetica Neue"/>
              </a:rPr>
              <a:t>•</a:t>
            </a:r>
          </a:p>
        </p:txBody>
      </p:sp>
      <p:sp>
        <p:nvSpPr>
          <p:cNvPr id="20" name="Rectangle 19">
            <a:extLst>
              <a:ext uri="{FF2B5EF4-FFF2-40B4-BE49-F238E27FC236}">
                <a16:creationId xmlns:a16="http://schemas.microsoft.com/office/drawing/2014/main" id="{79BB09B8-C6B1-4D83-8DB7-1B61EFDE5D21}"/>
              </a:ext>
            </a:extLst>
          </p:cNvPr>
          <p:cNvSpPr>
            <a:spLocks noGrp="1"/>
          </p:cNvSpPr>
          <p:nvPr/>
        </p:nvSpPr>
        <p:spPr>
          <a:xfrm>
            <a:off x="6524625" y="2400300"/>
            <a:ext cx="503872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Cumulant sample complexity</a:t>
            </a:r>
          </a:p>
        </p:txBody>
      </p:sp>
      <p:sp>
        <p:nvSpPr>
          <p:cNvPr id="21" name="Rectangle 20">
            <a:extLst>
              <a:ext uri="{FF2B5EF4-FFF2-40B4-BE49-F238E27FC236}">
                <a16:creationId xmlns:a16="http://schemas.microsoft.com/office/drawing/2014/main" id="{B5BC5BC8-668B-4DAE-8F8C-168EEBEE9B2C}"/>
              </a:ext>
            </a:extLst>
          </p:cNvPr>
          <p:cNvSpPr>
            <a:spLocks noGrp="1"/>
          </p:cNvSpPr>
          <p:nvPr/>
        </p:nvSpPr>
        <p:spPr>
          <a:xfrm>
            <a:off x="6238875" y="2771775"/>
            <a:ext cx="228600" cy="266700"/>
          </a:xfrm>
          <a:prstGeom prst="rect">
            <a:avLst/>
          </a:prstGeom>
          <a:noFill/>
          <a:ln w="0">
            <a:noFill/>
            <a:prstDash val="solid"/>
          </a:ln>
        </p:spPr>
        <p:txBody>
          <a:bodyPr anchor="t">
            <a:noAutofit/>
          </a:bodyPr>
          <a:lstStyle/>
          <a:p>
            <a:pPr algn="l">
              <a:buNone/>
              <a:defRPr sz="1425" b="1" i="0">
                <a:solidFill>
                  <a:srgbClr val="B83A3A"/>
                </a:solidFill>
                <a:latin typeface="Helvetica Neue"/>
                <a:ea typeface="Helvetica Neue"/>
                <a:cs typeface="Helvetica Neue"/>
              </a:defRPr>
            </a:pPr>
            <a:r>
              <a:rPr sz="1425" b="1" i="0">
                <a:solidFill>
                  <a:srgbClr val="B83A3A"/>
                </a:solidFill>
                <a:latin typeface="Helvetica Neue"/>
                <a:ea typeface="Helvetica Neue"/>
                <a:cs typeface="Helvetica Neue"/>
              </a:rPr>
              <a:t>•</a:t>
            </a:r>
          </a:p>
        </p:txBody>
      </p:sp>
      <p:sp>
        <p:nvSpPr>
          <p:cNvPr id="22" name="Rectangle 21">
            <a:extLst>
              <a:ext uri="{FF2B5EF4-FFF2-40B4-BE49-F238E27FC236}">
                <a16:creationId xmlns:a16="http://schemas.microsoft.com/office/drawing/2014/main" id="{6848856B-8D1D-45B1-8166-46EEF5DDFA82}"/>
              </a:ext>
            </a:extLst>
          </p:cNvPr>
          <p:cNvSpPr>
            <a:spLocks noGrp="1"/>
          </p:cNvSpPr>
          <p:nvPr/>
        </p:nvSpPr>
        <p:spPr>
          <a:xfrm>
            <a:off x="6524625" y="2771775"/>
            <a:ext cx="503872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Estimator-sensitive closure targets</a:t>
            </a:r>
          </a:p>
        </p:txBody>
      </p:sp>
      <p:sp>
        <p:nvSpPr>
          <p:cNvPr id="23" name="Rectangle 22">
            <a:extLst>
              <a:ext uri="{FF2B5EF4-FFF2-40B4-BE49-F238E27FC236}">
                <a16:creationId xmlns:a16="http://schemas.microsoft.com/office/drawing/2014/main" id="{8F805F8A-E35B-4D28-8278-114E703A49D7}"/>
              </a:ext>
            </a:extLst>
          </p:cNvPr>
          <p:cNvSpPr>
            <a:spLocks noGrp="1"/>
          </p:cNvSpPr>
          <p:nvPr/>
        </p:nvSpPr>
        <p:spPr>
          <a:xfrm>
            <a:off x="6238875" y="3143250"/>
            <a:ext cx="228600" cy="266700"/>
          </a:xfrm>
          <a:prstGeom prst="rect">
            <a:avLst/>
          </a:prstGeom>
          <a:noFill/>
          <a:ln w="0">
            <a:noFill/>
            <a:prstDash val="solid"/>
          </a:ln>
        </p:spPr>
        <p:txBody>
          <a:bodyPr anchor="t">
            <a:noAutofit/>
          </a:bodyPr>
          <a:lstStyle/>
          <a:p>
            <a:pPr algn="l">
              <a:buNone/>
              <a:defRPr sz="1425" b="1" i="0">
                <a:solidFill>
                  <a:srgbClr val="B83A3A"/>
                </a:solidFill>
                <a:latin typeface="Helvetica Neue"/>
                <a:ea typeface="Helvetica Neue"/>
                <a:cs typeface="Helvetica Neue"/>
              </a:defRPr>
            </a:pPr>
            <a:r>
              <a:rPr sz="1425" b="1" i="0">
                <a:solidFill>
                  <a:srgbClr val="B83A3A"/>
                </a:solidFill>
                <a:latin typeface="Helvetica Neue"/>
                <a:ea typeface="Helvetica Neue"/>
                <a:cs typeface="Helvetica Neue"/>
              </a:rPr>
              <a:t>•</a:t>
            </a:r>
          </a:p>
        </p:txBody>
      </p:sp>
      <p:sp>
        <p:nvSpPr>
          <p:cNvPr id="24" name="Rectangle 23">
            <a:extLst>
              <a:ext uri="{FF2B5EF4-FFF2-40B4-BE49-F238E27FC236}">
                <a16:creationId xmlns:a16="http://schemas.microsoft.com/office/drawing/2014/main" id="{BFB19230-D880-4360-8928-5AA0D5A75581}"/>
              </a:ext>
            </a:extLst>
          </p:cNvPr>
          <p:cNvSpPr>
            <a:spLocks noGrp="1"/>
          </p:cNvSpPr>
          <p:nvPr/>
        </p:nvSpPr>
        <p:spPr>
          <a:xfrm>
            <a:off x="6524625" y="3143250"/>
            <a:ext cx="503872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Heavy cross-disciplinary coordination</a:t>
            </a:r>
          </a:p>
        </p:txBody>
      </p:sp>
      <p:sp>
        <p:nvSpPr>
          <p:cNvPr id="25" name="Rectangle 24">
            <a:extLst>
              <a:ext uri="{FF2B5EF4-FFF2-40B4-BE49-F238E27FC236}">
                <a16:creationId xmlns:a16="http://schemas.microsoft.com/office/drawing/2014/main" id="{94C1A9B1-BFE5-4B30-BEF5-1371D35D7D84}"/>
              </a:ext>
            </a:extLst>
          </p:cNvPr>
          <p:cNvSpPr>
            <a:spLocks noGrp="1"/>
          </p:cNvSpPr>
          <p:nvPr/>
        </p:nvSpPr>
        <p:spPr>
          <a:xfrm>
            <a:off x="400050" y="3838575"/>
            <a:ext cx="5381625" cy="2171700"/>
          </a:xfrm>
          <a:prstGeom prst="rect">
            <a:avLst/>
          </a:prstGeom>
          <a:solidFill>
            <a:srgbClr val="DCF6F5"/>
          </a:solidFill>
          <a:ln w="14288">
            <a:solidFill>
              <a:srgbClr val="247A55"/>
            </a:solidFill>
            <a:prstDash val="solid"/>
          </a:ln>
        </p:spPr>
        <p:txBody>
          <a:bodyPr/>
          <a:lstStyle/>
          <a:p>
            <a:endParaRPr lang="en-US"/>
          </a:p>
        </p:txBody>
      </p:sp>
      <p:sp>
        <p:nvSpPr>
          <p:cNvPr id="26" name="Rectangle 25">
            <a:extLst>
              <a:ext uri="{FF2B5EF4-FFF2-40B4-BE49-F238E27FC236}">
                <a16:creationId xmlns:a16="http://schemas.microsoft.com/office/drawing/2014/main" id="{1B42BBB4-6D67-4D06-930C-B249F85C7B5B}"/>
              </a:ext>
            </a:extLst>
          </p:cNvPr>
          <p:cNvSpPr>
            <a:spLocks noGrp="1"/>
          </p:cNvSpPr>
          <p:nvPr/>
        </p:nvSpPr>
        <p:spPr>
          <a:xfrm>
            <a:off x="628650" y="4019550"/>
            <a:ext cx="4924425" cy="266700"/>
          </a:xfrm>
          <a:prstGeom prst="rect">
            <a:avLst/>
          </a:prstGeom>
          <a:noFill/>
          <a:ln w="0">
            <a:noFill/>
            <a:prstDash val="solid"/>
          </a:ln>
        </p:spPr>
        <p:txBody>
          <a:bodyPr anchor="t">
            <a:normAutofit fontScale="85185"/>
          </a:bodyPr>
          <a:lstStyle/>
          <a:p>
            <a:pPr algn="l">
              <a:buNone/>
              <a:defRPr sz="1350" b="1" i="0">
                <a:solidFill>
                  <a:srgbClr val="247A55"/>
                </a:solidFill>
                <a:latin typeface="Helvetica Neue"/>
                <a:ea typeface="Helvetica Neue"/>
                <a:cs typeface="Helvetica Neue"/>
              </a:defRPr>
            </a:pPr>
            <a:r>
              <a:rPr sz="1350" b="1" i="0">
                <a:solidFill>
                  <a:srgbClr val="247A55"/>
                </a:solidFill>
                <a:latin typeface="Helvetica Neue"/>
                <a:ea typeface="Helvetica Neue"/>
                <a:cs typeface="Helvetica Neue"/>
              </a:rPr>
              <a:t>OPPORTUNITIES</a:t>
            </a:r>
          </a:p>
        </p:txBody>
      </p:sp>
      <p:sp>
        <p:nvSpPr>
          <p:cNvPr id="27" name="Rectangle 26">
            <a:extLst>
              <a:ext uri="{FF2B5EF4-FFF2-40B4-BE49-F238E27FC236}">
                <a16:creationId xmlns:a16="http://schemas.microsoft.com/office/drawing/2014/main" id="{9A0B229C-2FDB-4C51-94DC-76C30E9327CF}"/>
              </a:ext>
            </a:extLst>
          </p:cNvPr>
          <p:cNvSpPr>
            <a:spLocks noGrp="1"/>
          </p:cNvSpPr>
          <p:nvPr/>
        </p:nvSpPr>
        <p:spPr>
          <a:xfrm>
            <a:off x="628650" y="4429125"/>
            <a:ext cx="228600" cy="266700"/>
          </a:xfrm>
          <a:prstGeom prst="rect">
            <a:avLst/>
          </a:prstGeom>
          <a:noFill/>
          <a:ln w="0">
            <a:noFill/>
            <a:prstDash val="solid"/>
          </a:ln>
        </p:spPr>
        <p:txBody>
          <a:bodyPr anchor="t">
            <a:noAutofit/>
          </a:bodyPr>
          <a:lstStyle/>
          <a:p>
            <a:pPr algn="l">
              <a:buNone/>
              <a:defRPr sz="1425" b="1" i="0">
                <a:solidFill>
                  <a:srgbClr val="247A55"/>
                </a:solidFill>
                <a:latin typeface="Helvetica Neue"/>
                <a:ea typeface="Helvetica Neue"/>
                <a:cs typeface="Helvetica Neue"/>
              </a:defRPr>
            </a:pPr>
            <a:r>
              <a:rPr sz="1425" b="1" i="0">
                <a:solidFill>
                  <a:srgbClr val="247A55"/>
                </a:solidFill>
                <a:latin typeface="Helvetica Neue"/>
                <a:ea typeface="Helvetica Neue"/>
                <a:cs typeface="Helvetica Neue"/>
              </a:rPr>
              <a:t>•</a:t>
            </a:r>
          </a:p>
        </p:txBody>
      </p:sp>
      <p:sp>
        <p:nvSpPr>
          <p:cNvPr id="28" name="Rectangle 27">
            <a:extLst>
              <a:ext uri="{FF2B5EF4-FFF2-40B4-BE49-F238E27FC236}">
                <a16:creationId xmlns:a16="http://schemas.microsoft.com/office/drawing/2014/main" id="{6FE84287-A017-413E-AAE1-EEAE12569CB2}"/>
              </a:ext>
            </a:extLst>
          </p:cNvPr>
          <p:cNvSpPr>
            <a:spLocks noGrp="1"/>
          </p:cNvSpPr>
          <p:nvPr/>
        </p:nvSpPr>
        <p:spPr>
          <a:xfrm>
            <a:off x="914400" y="4429125"/>
            <a:ext cx="463867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dirty="0">
                <a:solidFill>
                  <a:srgbClr val="000000"/>
                </a:solidFill>
                <a:latin typeface="Helvetica Neue"/>
                <a:ea typeface="Helvetica Neue"/>
                <a:cs typeface="Helvetica Neue"/>
              </a:rPr>
              <a:t>Turn </a:t>
            </a:r>
            <a:r>
              <a:rPr lang="en-US" sz="1425" b="0" i="0" dirty="0">
                <a:solidFill>
                  <a:srgbClr val="000000"/>
                </a:solidFill>
                <a:latin typeface="Helvetica Neue"/>
                <a:ea typeface="Helvetica Neue"/>
                <a:cs typeface="Helvetica Neue"/>
              </a:rPr>
              <a:t>mathematical </a:t>
            </a:r>
            <a:r>
              <a:rPr sz="1425" b="0" i="0" dirty="0">
                <a:solidFill>
                  <a:srgbClr val="000000"/>
                </a:solidFill>
                <a:latin typeface="Helvetica Neue"/>
                <a:ea typeface="Helvetica Neue"/>
                <a:cs typeface="Helvetica Neue"/>
              </a:rPr>
              <a:t>analysis into </a:t>
            </a:r>
            <a:r>
              <a:rPr sz="1425" b="0" i="0" dirty="0" err="1">
                <a:solidFill>
                  <a:srgbClr val="000000"/>
                </a:solidFill>
                <a:latin typeface="Helvetica Neue"/>
                <a:ea typeface="Helvetica Neue"/>
                <a:cs typeface="Helvetica Neue"/>
              </a:rPr>
              <a:t>numerics</a:t>
            </a:r>
            <a:endParaRPr sz="1425" b="0" i="0" dirty="0">
              <a:solidFill>
                <a:srgbClr val="000000"/>
              </a:solidFill>
              <a:latin typeface="Helvetica Neue"/>
              <a:ea typeface="Helvetica Neue"/>
              <a:cs typeface="Helvetica Neue"/>
            </a:endParaRPr>
          </a:p>
        </p:txBody>
      </p:sp>
      <p:sp>
        <p:nvSpPr>
          <p:cNvPr id="29" name="Rectangle 28">
            <a:extLst>
              <a:ext uri="{FF2B5EF4-FFF2-40B4-BE49-F238E27FC236}">
                <a16:creationId xmlns:a16="http://schemas.microsoft.com/office/drawing/2014/main" id="{8B21A968-FF48-4986-864F-1B9EB2129006}"/>
              </a:ext>
            </a:extLst>
          </p:cNvPr>
          <p:cNvSpPr>
            <a:spLocks noGrp="1"/>
          </p:cNvSpPr>
          <p:nvPr/>
        </p:nvSpPr>
        <p:spPr>
          <a:xfrm>
            <a:off x="628650" y="4800600"/>
            <a:ext cx="228600" cy="266700"/>
          </a:xfrm>
          <a:prstGeom prst="rect">
            <a:avLst/>
          </a:prstGeom>
          <a:noFill/>
          <a:ln w="0">
            <a:noFill/>
            <a:prstDash val="solid"/>
          </a:ln>
        </p:spPr>
        <p:txBody>
          <a:bodyPr anchor="t">
            <a:noAutofit/>
          </a:bodyPr>
          <a:lstStyle/>
          <a:p>
            <a:pPr algn="l">
              <a:buNone/>
              <a:defRPr sz="1425" b="1" i="0">
                <a:solidFill>
                  <a:srgbClr val="247A55"/>
                </a:solidFill>
                <a:latin typeface="Helvetica Neue"/>
                <a:ea typeface="Helvetica Neue"/>
                <a:cs typeface="Helvetica Neue"/>
              </a:defRPr>
            </a:pPr>
            <a:r>
              <a:rPr sz="1425" b="1" i="0">
                <a:solidFill>
                  <a:srgbClr val="247A55"/>
                </a:solidFill>
                <a:latin typeface="Helvetica Neue"/>
                <a:ea typeface="Helvetica Neue"/>
                <a:cs typeface="Helvetica Neue"/>
              </a:rPr>
              <a:t>•</a:t>
            </a:r>
          </a:p>
        </p:txBody>
      </p:sp>
      <p:sp>
        <p:nvSpPr>
          <p:cNvPr id="30" name="Rectangle 29">
            <a:extLst>
              <a:ext uri="{FF2B5EF4-FFF2-40B4-BE49-F238E27FC236}">
                <a16:creationId xmlns:a16="http://schemas.microsoft.com/office/drawing/2014/main" id="{D684C2C3-78B4-4E84-B3B7-990946587333}"/>
              </a:ext>
            </a:extLst>
          </p:cNvPr>
          <p:cNvSpPr>
            <a:spLocks noGrp="1"/>
          </p:cNvSpPr>
          <p:nvPr/>
        </p:nvSpPr>
        <p:spPr>
          <a:xfrm>
            <a:off x="914400" y="4800600"/>
            <a:ext cx="463867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dirty="0">
                <a:solidFill>
                  <a:srgbClr val="000000"/>
                </a:solidFill>
                <a:latin typeface="Helvetica Neue"/>
                <a:ea typeface="Helvetica Neue"/>
                <a:cs typeface="Helvetica Neue"/>
              </a:rPr>
              <a:t>Reuse across TEMPEST applications</a:t>
            </a:r>
          </a:p>
        </p:txBody>
      </p:sp>
      <p:sp>
        <p:nvSpPr>
          <p:cNvPr id="31" name="Rectangle 30">
            <a:extLst>
              <a:ext uri="{FF2B5EF4-FFF2-40B4-BE49-F238E27FC236}">
                <a16:creationId xmlns:a16="http://schemas.microsoft.com/office/drawing/2014/main" id="{B57100BF-0B77-494D-BCAD-6085DAED8CEB}"/>
              </a:ext>
            </a:extLst>
          </p:cNvPr>
          <p:cNvSpPr>
            <a:spLocks noGrp="1"/>
          </p:cNvSpPr>
          <p:nvPr/>
        </p:nvSpPr>
        <p:spPr>
          <a:xfrm>
            <a:off x="628650" y="5172075"/>
            <a:ext cx="228600" cy="266700"/>
          </a:xfrm>
          <a:prstGeom prst="rect">
            <a:avLst/>
          </a:prstGeom>
          <a:noFill/>
          <a:ln w="0">
            <a:noFill/>
            <a:prstDash val="solid"/>
          </a:ln>
        </p:spPr>
        <p:txBody>
          <a:bodyPr anchor="t">
            <a:noAutofit/>
          </a:bodyPr>
          <a:lstStyle/>
          <a:p>
            <a:pPr algn="l">
              <a:buNone/>
              <a:defRPr sz="1425" b="1" i="0">
                <a:solidFill>
                  <a:srgbClr val="247A55"/>
                </a:solidFill>
                <a:latin typeface="Helvetica Neue"/>
                <a:ea typeface="Helvetica Neue"/>
                <a:cs typeface="Helvetica Neue"/>
              </a:defRPr>
            </a:pPr>
            <a:r>
              <a:rPr sz="1425" b="1" i="0">
                <a:solidFill>
                  <a:srgbClr val="247A55"/>
                </a:solidFill>
                <a:latin typeface="Helvetica Neue"/>
                <a:ea typeface="Helvetica Neue"/>
                <a:cs typeface="Helvetica Neue"/>
              </a:rPr>
              <a:t>•</a:t>
            </a:r>
          </a:p>
        </p:txBody>
      </p:sp>
      <p:sp>
        <p:nvSpPr>
          <p:cNvPr id="32" name="Rectangle 31">
            <a:extLst>
              <a:ext uri="{FF2B5EF4-FFF2-40B4-BE49-F238E27FC236}">
                <a16:creationId xmlns:a16="http://schemas.microsoft.com/office/drawing/2014/main" id="{731922A5-F974-4824-9C06-61F055F17B82}"/>
              </a:ext>
            </a:extLst>
          </p:cNvPr>
          <p:cNvSpPr>
            <a:spLocks noGrp="1"/>
          </p:cNvSpPr>
          <p:nvPr/>
        </p:nvSpPr>
        <p:spPr>
          <a:xfrm>
            <a:off x="914400" y="5172075"/>
            <a:ext cx="463867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Dusty-plasma experimental validation</a:t>
            </a:r>
          </a:p>
        </p:txBody>
      </p:sp>
      <p:sp>
        <p:nvSpPr>
          <p:cNvPr id="33" name="Rectangle 32">
            <a:extLst>
              <a:ext uri="{FF2B5EF4-FFF2-40B4-BE49-F238E27FC236}">
                <a16:creationId xmlns:a16="http://schemas.microsoft.com/office/drawing/2014/main" id="{60482C5D-0644-48E5-8C72-ABC2FDA35CB8}"/>
              </a:ext>
            </a:extLst>
          </p:cNvPr>
          <p:cNvSpPr>
            <a:spLocks noGrp="1"/>
          </p:cNvSpPr>
          <p:nvPr/>
        </p:nvSpPr>
        <p:spPr>
          <a:xfrm>
            <a:off x="628650" y="5543550"/>
            <a:ext cx="228600" cy="266700"/>
          </a:xfrm>
          <a:prstGeom prst="rect">
            <a:avLst/>
          </a:prstGeom>
          <a:noFill/>
          <a:ln w="0">
            <a:noFill/>
            <a:prstDash val="solid"/>
          </a:ln>
        </p:spPr>
        <p:txBody>
          <a:bodyPr anchor="t">
            <a:noAutofit/>
          </a:bodyPr>
          <a:lstStyle/>
          <a:p>
            <a:pPr algn="l">
              <a:buNone/>
              <a:defRPr sz="1425" b="1" i="0">
                <a:solidFill>
                  <a:srgbClr val="247A55"/>
                </a:solidFill>
                <a:latin typeface="Helvetica Neue"/>
                <a:ea typeface="Helvetica Neue"/>
                <a:cs typeface="Helvetica Neue"/>
              </a:defRPr>
            </a:pPr>
            <a:r>
              <a:rPr sz="1425" b="1" i="0">
                <a:solidFill>
                  <a:srgbClr val="247A55"/>
                </a:solidFill>
                <a:latin typeface="Helvetica Neue"/>
                <a:ea typeface="Helvetica Neue"/>
                <a:cs typeface="Helvetica Neue"/>
              </a:rPr>
              <a:t>•</a:t>
            </a:r>
          </a:p>
        </p:txBody>
      </p:sp>
      <p:sp>
        <p:nvSpPr>
          <p:cNvPr id="34" name="Rectangle 33">
            <a:extLst>
              <a:ext uri="{FF2B5EF4-FFF2-40B4-BE49-F238E27FC236}">
                <a16:creationId xmlns:a16="http://schemas.microsoft.com/office/drawing/2014/main" id="{A34F0DAF-D446-4006-9C80-45906D6C13DC}"/>
              </a:ext>
            </a:extLst>
          </p:cNvPr>
          <p:cNvSpPr>
            <a:spLocks noGrp="1"/>
          </p:cNvSpPr>
          <p:nvPr/>
        </p:nvSpPr>
        <p:spPr>
          <a:xfrm>
            <a:off x="914400" y="5543550"/>
            <a:ext cx="463867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Dusty + supernova cross-validation</a:t>
            </a:r>
          </a:p>
        </p:txBody>
      </p:sp>
      <p:sp>
        <p:nvSpPr>
          <p:cNvPr id="35" name="Rectangle 34">
            <a:extLst>
              <a:ext uri="{FF2B5EF4-FFF2-40B4-BE49-F238E27FC236}">
                <a16:creationId xmlns:a16="http://schemas.microsoft.com/office/drawing/2014/main" id="{8C1751AD-5859-48A6-8AFB-6297B048B79B}"/>
              </a:ext>
            </a:extLst>
          </p:cNvPr>
          <p:cNvSpPr>
            <a:spLocks noGrp="1"/>
          </p:cNvSpPr>
          <p:nvPr/>
        </p:nvSpPr>
        <p:spPr>
          <a:xfrm>
            <a:off x="6010275" y="3838575"/>
            <a:ext cx="5781675" cy="2171700"/>
          </a:xfrm>
          <a:prstGeom prst="rect">
            <a:avLst/>
          </a:prstGeom>
          <a:solidFill>
            <a:srgbClr val="F6F7F8"/>
          </a:solidFill>
          <a:ln w="14288">
            <a:solidFill>
              <a:srgbClr val="F06A3C"/>
            </a:solidFill>
            <a:prstDash val="solid"/>
          </a:ln>
        </p:spPr>
        <p:txBody>
          <a:bodyPr/>
          <a:lstStyle/>
          <a:p>
            <a:endParaRPr lang="en-US"/>
          </a:p>
        </p:txBody>
      </p:sp>
      <p:sp>
        <p:nvSpPr>
          <p:cNvPr id="36" name="Rectangle 35">
            <a:extLst>
              <a:ext uri="{FF2B5EF4-FFF2-40B4-BE49-F238E27FC236}">
                <a16:creationId xmlns:a16="http://schemas.microsoft.com/office/drawing/2014/main" id="{F41AF32C-E12C-4EC4-A52A-AD9A07ACC995}"/>
              </a:ext>
            </a:extLst>
          </p:cNvPr>
          <p:cNvSpPr>
            <a:spLocks noGrp="1"/>
          </p:cNvSpPr>
          <p:nvPr/>
        </p:nvSpPr>
        <p:spPr>
          <a:xfrm>
            <a:off x="6238875" y="4019550"/>
            <a:ext cx="5324475" cy="266700"/>
          </a:xfrm>
          <a:prstGeom prst="rect">
            <a:avLst/>
          </a:prstGeom>
          <a:noFill/>
          <a:ln w="0">
            <a:noFill/>
            <a:prstDash val="solid"/>
          </a:ln>
        </p:spPr>
        <p:txBody>
          <a:bodyPr anchor="t">
            <a:normAutofit fontScale="85185"/>
          </a:bodyPr>
          <a:lstStyle/>
          <a:p>
            <a:pPr algn="l">
              <a:buNone/>
              <a:defRPr sz="1350" b="1" i="0">
                <a:solidFill>
                  <a:srgbClr val="F06A3C"/>
                </a:solidFill>
                <a:latin typeface="Helvetica Neue"/>
                <a:ea typeface="Helvetica Neue"/>
                <a:cs typeface="Helvetica Neue"/>
              </a:defRPr>
            </a:pPr>
            <a:r>
              <a:rPr sz="1350" b="1" i="0">
                <a:solidFill>
                  <a:srgbClr val="F06A3C"/>
                </a:solidFill>
                <a:latin typeface="Helvetica Neue"/>
                <a:ea typeface="Helvetica Neue"/>
                <a:cs typeface="Helvetica Neue"/>
              </a:rPr>
              <a:t>THREATS</a:t>
            </a:r>
          </a:p>
        </p:txBody>
      </p:sp>
      <p:sp>
        <p:nvSpPr>
          <p:cNvPr id="37" name="Rectangle 36">
            <a:extLst>
              <a:ext uri="{FF2B5EF4-FFF2-40B4-BE49-F238E27FC236}">
                <a16:creationId xmlns:a16="http://schemas.microsoft.com/office/drawing/2014/main" id="{7006013A-5636-4132-8E7F-619967D5D321}"/>
              </a:ext>
            </a:extLst>
          </p:cNvPr>
          <p:cNvSpPr>
            <a:spLocks noGrp="1"/>
          </p:cNvSpPr>
          <p:nvPr/>
        </p:nvSpPr>
        <p:spPr>
          <a:xfrm>
            <a:off x="6238875" y="4429125"/>
            <a:ext cx="228600" cy="266700"/>
          </a:xfrm>
          <a:prstGeom prst="rect">
            <a:avLst/>
          </a:prstGeom>
          <a:noFill/>
          <a:ln w="0">
            <a:noFill/>
            <a:prstDash val="solid"/>
          </a:ln>
        </p:spPr>
        <p:txBody>
          <a:bodyPr anchor="t">
            <a:noAutofit/>
          </a:bodyPr>
          <a:lstStyle/>
          <a:p>
            <a:pPr algn="l">
              <a:buNone/>
              <a:defRPr sz="1425" b="1" i="0">
                <a:solidFill>
                  <a:srgbClr val="F06A3C"/>
                </a:solidFill>
                <a:latin typeface="Helvetica Neue"/>
                <a:ea typeface="Helvetica Neue"/>
                <a:cs typeface="Helvetica Neue"/>
              </a:defRPr>
            </a:pPr>
            <a:r>
              <a:rPr sz="1425" b="1" i="0">
                <a:solidFill>
                  <a:srgbClr val="F06A3C"/>
                </a:solidFill>
                <a:latin typeface="Helvetica Neue"/>
                <a:ea typeface="Helvetica Neue"/>
                <a:cs typeface="Helvetica Neue"/>
              </a:rPr>
              <a:t>•</a:t>
            </a:r>
          </a:p>
        </p:txBody>
      </p:sp>
      <p:sp>
        <p:nvSpPr>
          <p:cNvPr id="38" name="Rectangle 37">
            <a:extLst>
              <a:ext uri="{FF2B5EF4-FFF2-40B4-BE49-F238E27FC236}">
                <a16:creationId xmlns:a16="http://schemas.microsoft.com/office/drawing/2014/main" id="{2BC9DAB9-D46A-46D8-B826-73E711B22548}"/>
              </a:ext>
            </a:extLst>
          </p:cNvPr>
          <p:cNvSpPr>
            <a:spLocks noGrp="1"/>
          </p:cNvSpPr>
          <p:nvPr/>
        </p:nvSpPr>
        <p:spPr>
          <a:xfrm>
            <a:off x="6524625" y="4429125"/>
            <a:ext cx="503872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lang="en-US" sz="1425" b="0" i="0" dirty="0">
                <a:solidFill>
                  <a:srgbClr val="000000"/>
                </a:solidFill>
                <a:latin typeface="Helvetica Neue"/>
                <a:ea typeface="Helvetica Neue"/>
                <a:cs typeface="Helvetica Neue"/>
              </a:rPr>
              <a:t>Physics elements/complexity swamps mathematics</a:t>
            </a:r>
            <a:endParaRPr sz="1425" b="0" i="0" dirty="0">
              <a:solidFill>
                <a:srgbClr val="000000"/>
              </a:solidFill>
              <a:latin typeface="Helvetica Neue"/>
              <a:ea typeface="Helvetica Neue"/>
              <a:cs typeface="Helvetica Neue"/>
            </a:endParaRPr>
          </a:p>
        </p:txBody>
      </p:sp>
      <p:sp>
        <p:nvSpPr>
          <p:cNvPr id="39" name="Rectangle 38">
            <a:extLst>
              <a:ext uri="{FF2B5EF4-FFF2-40B4-BE49-F238E27FC236}">
                <a16:creationId xmlns:a16="http://schemas.microsoft.com/office/drawing/2014/main" id="{AB0878FB-54A6-4BCA-9098-C1712C7E4BAA}"/>
              </a:ext>
            </a:extLst>
          </p:cNvPr>
          <p:cNvSpPr>
            <a:spLocks noGrp="1"/>
          </p:cNvSpPr>
          <p:nvPr/>
        </p:nvSpPr>
        <p:spPr>
          <a:xfrm>
            <a:off x="6238875" y="4800600"/>
            <a:ext cx="228600" cy="266700"/>
          </a:xfrm>
          <a:prstGeom prst="rect">
            <a:avLst/>
          </a:prstGeom>
          <a:noFill/>
          <a:ln w="0">
            <a:noFill/>
            <a:prstDash val="solid"/>
          </a:ln>
        </p:spPr>
        <p:txBody>
          <a:bodyPr anchor="t">
            <a:noAutofit/>
          </a:bodyPr>
          <a:lstStyle/>
          <a:p>
            <a:pPr algn="l">
              <a:buNone/>
              <a:defRPr sz="1425" b="1" i="0">
                <a:solidFill>
                  <a:srgbClr val="F06A3C"/>
                </a:solidFill>
                <a:latin typeface="Helvetica Neue"/>
                <a:ea typeface="Helvetica Neue"/>
                <a:cs typeface="Helvetica Neue"/>
              </a:defRPr>
            </a:pPr>
            <a:r>
              <a:rPr sz="1425" b="1" i="0">
                <a:solidFill>
                  <a:srgbClr val="F06A3C"/>
                </a:solidFill>
                <a:latin typeface="Helvetica Neue"/>
                <a:ea typeface="Helvetica Neue"/>
                <a:cs typeface="Helvetica Neue"/>
              </a:rPr>
              <a:t>•</a:t>
            </a:r>
          </a:p>
        </p:txBody>
      </p:sp>
      <p:sp>
        <p:nvSpPr>
          <p:cNvPr id="40" name="Rectangle 39">
            <a:extLst>
              <a:ext uri="{FF2B5EF4-FFF2-40B4-BE49-F238E27FC236}">
                <a16:creationId xmlns:a16="http://schemas.microsoft.com/office/drawing/2014/main" id="{5F14EB11-DECD-4B4C-BF33-B91463A9EB4F}"/>
              </a:ext>
            </a:extLst>
          </p:cNvPr>
          <p:cNvSpPr>
            <a:spLocks noGrp="1"/>
          </p:cNvSpPr>
          <p:nvPr/>
        </p:nvSpPr>
        <p:spPr>
          <a:xfrm>
            <a:off x="6524625" y="4800600"/>
            <a:ext cx="503872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lang="en-US" sz="1425" dirty="0">
                <a:solidFill>
                  <a:srgbClr val="000000"/>
                </a:solidFill>
                <a:latin typeface="Helvetica Neue"/>
                <a:ea typeface="Helvetica Neue"/>
                <a:cs typeface="Helvetica Neue"/>
              </a:rPr>
              <a:t>Features </a:t>
            </a:r>
            <a:r>
              <a:rPr sz="1425" b="0" i="0" dirty="0">
                <a:solidFill>
                  <a:srgbClr val="000000"/>
                </a:solidFill>
                <a:latin typeface="Helvetica Neue"/>
                <a:ea typeface="Helvetica Neue"/>
                <a:cs typeface="Helvetica Neue"/>
              </a:rPr>
              <a:t>not compressible</a:t>
            </a:r>
          </a:p>
        </p:txBody>
      </p:sp>
      <p:sp>
        <p:nvSpPr>
          <p:cNvPr id="41" name="Rectangle 40">
            <a:extLst>
              <a:ext uri="{FF2B5EF4-FFF2-40B4-BE49-F238E27FC236}">
                <a16:creationId xmlns:a16="http://schemas.microsoft.com/office/drawing/2014/main" id="{55E841EC-7831-4471-9B56-B7D48A51C646}"/>
              </a:ext>
            </a:extLst>
          </p:cNvPr>
          <p:cNvSpPr>
            <a:spLocks noGrp="1"/>
          </p:cNvSpPr>
          <p:nvPr/>
        </p:nvSpPr>
        <p:spPr>
          <a:xfrm>
            <a:off x="6238875" y="5172075"/>
            <a:ext cx="228600" cy="266700"/>
          </a:xfrm>
          <a:prstGeom prst="rect">
            <a:avLst/>
          </a:prstGeom>
          <a:noFill/>
          <a:ln w="0">
            <a:noFill/>
            <a:prstDash val="solid"/>
          </a:ln>
        </p:spPr>
        <p:txBody>
          <a:bodyPr anchor="t">
            <a:noAutofit/>
          </a:bodyPr>
          <a:lstStyle/>
          <a:p>
            <a:pPr algn="l">
              <a:buNone/>
              <a:defRPr sz="1425" b="1" i="0">
                <a:solidFill>
                  <a:srgbClr val="F06A3C"/>
                </a:solidFill>
                <a:latin typeface="Helvetica Neue"/>
                <a:ea typeface="Helvetica Neue"/>
                <a:cs typeface="Helvetica Neue"/>
              </a:defRPr>
            </a:pPr>
            <a:r>
              <a:rPr sz="1425" b="1" i="0">
                <a:solidFill>
                  <a:srgbClr val="F06A3C"/>
                </a:solidFill>
                <a:latin typeface="Helvetica Neue"/>
                <a:ea typeface="Helvetica Neue"/>
                <a:cs typeface="Helvetica Neue"/>
              </a:rPr>
              <a:t>•</a:t>
            </a:r>
          </a:p>
        </p:txBody>
      </p:sp>
      <p:sp>
        <p:nvSpPr>
          <p:cNvPr id="42" name="Rectangle 41">
            <a:extLst>
              <a:ext uri="{FF2B5EF4-FFF2-40B4-BE49-F238E27FC236}">
                <a16:creationId xmlns:a16="http://schemas.microsoft.com/office/drawing/2014/main" id="{9D077757-312E-4A47-8203-D989E3AA9553}"/>
              </a:ext>
            </a:extLst>
          </p:cNvPr>
          <p:cNvSpPr>
            <a:spLocks noGrp="1"/>
          </p:cNvSpPr>
          <p:nvPr/>
        </p:nvSpPr>
        <p:spPr>
          <a:xfrm>
            <a:off x="6524625" y="5172075"/>
            <a:ext cx="503872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dirty="0">
                <a:solidFill>
                  <a:srgbClr val="000000"/>
                </a:solidFill>
                <a:latin typeface="Helvetica Neue"/>
                <a:ea typeface="Helvetica Neue"/>
                <a:cs typeface="Helvetica Neue"/>
              </a:rPr>
              <a:t>A-priori gains fail after embedding</a:t>
            </a:r>
          </a:p>
        </p:txBody>
      </p:sp>
      <p:sp>
        <p:nvSpPr>
          <p:cNvPr id="43" name="Rectangle 42">
            <a:extLst>
              <a:ext uri="{FF2B5EF4-FFF2-40B4-BE49-F238E27FC236}">
                <a16:creationId xmlns:a16="http://schemas.microsoft.com/office/drawing/2014/main" id="{212BAEBF-1FEC-48AF-A5A8-9FA6BCE5B8E1}"/>
              </a:ext>
            </a:extLst>
          </p:cNvPr>
          <p:cNvSpPr>
            <a:spLocks noGrp="1"/>
          </p:cNvSpPr>
          <p:nvPr/>
        </p:nvSpPr>
        <p:spPr>
          <a:xfrm>
            <a:off x="6238875" y="5543550"/>
            <a:ext cx="228600" cy="266700"/>
          </a:xfrm>
          <a:prstGeom prst="rect">
            <a:avLst/>
          </a:prstGeom>
          <a:noFill/>
          <a:ln w="0">
            <a:noFill/>
            <a:prstDash val="solid"/>
          </a:ln>
        </p:spPr>
        <p:txBody>
          <a:bodyPr anchor="t">
            <a:noAutofit/>
          </a:bodyPr>
          <a:lstStyle/>
          <a:p>
            <a:pPr algn="l">
              <a:buNone/>
              <a:defRPr sz="1425" b="1" i="0">
                <a:solidFill>
                  <a:srgbClr val="F06A3C"/>
                </a:solidFill>
                <a:latin typeface="Helvetica Neue"/>
                <a:ea typeface="Helvetica Neue"/>
                <a:cs typeface="Helvetica Neue"/>
              </a:defRPr>
            </a:pPr>
            <a:r>
              <a:rPr sz="1425" b="1" i="0">
                <a:solidFill>
                  <a:srgbClr val="F06A3C"/>
                </a:solidFill>
                <a:latin typeface="Helvetica Neue"/>
                <a:ea typeface="Helvetica Neue"/>
                <a:cs typeface="Helvetica Neue"/>
              </a:rPr>
              <a:t>•</a:t>
            </a:r>
          </a:p>
        </p:txBody>
      </p:sp>
      <p:sp>
        <p:nvSpPr>
          <p:cNvPr id="44" name="Rectangle 43">
            <a:extLst>
              <a:ext uri="{FF2B5EF4-FFF2-40B4-BE49-F238E27FC236}">
                <a16:creationId xmlns:a16="http://schemas.microsoft.com/office/drawing/2014/main" id="{DDF3CA55-1A17-4C08-B615-8ED57BE70FB9}"/>
              </a:ext>
            </a:extLst>
          </p:cNvPr>
          <p:cNvSpPr>
            <a:spLocks noGrp="1"/>
          </p:cNvSpPr>
          <p:nvPr/>
        </p:nvSpPr>
        <p:spPr>
          <a:xfrm>
            <a:off x="6524625" y="5543550"/>
            <a:ext cx="5038725" cy="333375"/>
          </a:xfrm>
          <a:prstGeom prst="rect">
            <a:avLst/>
          </a:prstGeom>
          <a:noFill/>
          <a:ln w="0">
            <a:noFill/>
            <a:prstDash val="solid"/>
          </a:ln>
        </p:spPr>
        <p:txBody>
          <a:bodyPr anchor="t">
            <a:normAutofit/>
          </a:bodyPr>
          <a:lstStyle/>
          <a:p>
            <a:pPr algn="l">
              <a:buNone/>
              <a:defRPr sz="1425" b="0" i="0">
                <a:solidFill>
                  <a:srgbClr val="000000"/>
                </a:solidFill>
                <a:latin typeface="Helvetica Neue"/>
                <a:ea typeface="Helvetica Neue"/>
                <a:cs typeface="Helvetica Neue"/>
              </a:defRPr>
            </a:pPr>
            <a:r>
              <a:rPr sz="1425" b="0" i="0">
                <a:solidFill>
                  <a:srgbClr val="000000"/>
                </a:solidFill>
                <a:latin typeface="Helvetica Neue"/>
                <a:ea typeface="Helvetica Neue"/>
                <a:cs typeface="Helvetica Neue"/>
              </a:rPr>
              <a:t>Application scope outruns the pilot</a:t>
            </a:r>
          </a:p>
        </p:txBody>
      </p:sp>
      <p:sp>
        <p:nvSpPr>
          <p:cNvPr id="3" name="Rectangle 2">
            <a:extLst>
              <a:ext uri="{FF2B5EF4-FFF2-40B4-BE49-F238E27FC236}">
                <a16:creationId xmlns:a16="http://schemas.microsoft.com/office/drawing/2014/main" id="{2F1C5003-A478-9C19-33C8-663600F12B15}"/>
              </a:ext>
            </a:extLst>
          </p:cNvPr>
          <p:cNvSpPr/>
          <p:nvPr/>
        </p:nvSpPr>
        <p:spPr>
          <a:xfrm>
            <a:off x="6238875" y="4429125"/>
            <a:ext cx="5324475" cy="1114425"/>
          </a:xfrm>
          <a:prstGeom prst="rect">
            <a:avLst/>
          </a:prstGeom>
          <a:solidFill>
            <a:srgbClr val="F2AA84">
              <a:alpha val="18039"/>
            </a:srgb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66265089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250</TotalTime>
  <Words>4739</Words>
  <Application>Microsoft Macintosh PowerPoint</Application>
  <DocSecurity>0</DocSecurity>
  <PresentationFormat>Widescreen</PresentationFormat>
  <Paragraphs>550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Calibri</vt:lpstr>
      <vt:lpstr>Helvetica Neue</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Gilbert, Anna</cp:lastModifiedBy>
  <cp:revision>30</cp:revision>
  <dcterms:created xsi:type="dcterms:W3CDTF">2026-08-31T17:18:56Z</dcterms:created>
  <dcterms:modified xsi:type="dcterms:W3CDTF">2026-09-04T17:01:45Z</dcterms:modified>
</cp:coreProperties>
</file>